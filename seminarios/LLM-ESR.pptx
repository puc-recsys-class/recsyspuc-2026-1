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8288000" cy="10287000"/>
  <p:notesSz cx="6858000" cy="9144000"/>
  <p:embeddedFontLst>
    <p:embeddedFont>
      <p:font typeface="TT Hoves Bold" charset="1" panose="02000003020000060003"/>
      <p:regular r:id="rId40"/>
    </p:embeddedFont>
    <p:embeddedFont>
      <p:font typeface="Inter Italics" charset="1" panose="020B0502030000000004"/>
      <p:regular r:id="rId41"/>
    </p:embeddedFont>
    <p:embeddedFont>
      <p:font typeface="Inter Bold" charset="1" panose="020B0802030000000004"/>
      <p:regular r:id="rId42"/>
    </p:embeddedFont>
    <p:embeddedFont>
      <p:font typeface="Inter" charset="1" panose="020B0502030000000004"/>
      <p:regular r:id="rId47"/>
    </p:embeddedFont>
    <p:embeddedFont>
      <p:font typeface="Open Sauce" charset="1" panose="00000500000000000000"/>
      <p:regular r:id="rId48"/>
    </p:embeddedFont>
    <p:embeddedFont>
      <p:font typeface="Archivo Black" charset="1" panose="020B0A03020202020B04"/>
      <p:regular r:id="rId49"/>
    </p:embeddedFont>
    <p:embeddedFont>
      <p:font typeface="Open Sauce Bold" charset="1" panose="00000800000000000000"/>
      <p:regular r:id="rId51"/>
    </p:embeddedFont>
    <p:embeddedFont>
      <p:font typeface="Inter Medium" charset="1" panose="02000503000000020004"/>
      <p:regular r:id="rId52"/>
    </p:embeddedFont>
    <p:embeddedFont>
      <p:font typeface="Open Sauce Bold Italics" charset="1" panose="00000800000000000000"/>
      <p:regular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notesMasters/notesMaster1.xml" Type="http://schemas.openxmlformats.org/officeDocument/2006/relationships/notesMaster"/><Relationship Id="rId44" Target="theme/theme2.xml" Type="http://schemas.openxmlformats.org/officeDocument/2006/relationships/theme"/><Relationship Id="rId45" Target="notesSlides/notesSlide1.xml" Type="http://schemas.openxmlformats.org/officeDocument/2006/relationships/notesSlide"/><Relationship Id="rId46" Target="notesSlides/notesSlide2.xml" Type="http://schemas.openxmlformats.org/officeDocument/2006/relationships/notesSlide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notesSlides/notesSlide3.xml" Type="http://schemas.openxmlformats.org/officeDocument/2006/relationships/notesSlide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notesSlides/notesSlide4.xml" Type="http://schemas.openxmlformats.org/officeDocument/2006/relationships/notesSlide"/><Relationship Id="rId54" Target="fonts/font54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Imágenes sacadas de mercado libre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Imagen sacada de: https://centraldovarejo.com.br/long-tail-o-poder-da-cauda-longa-no-varejo-e-no-e-commerce/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Imagen sacada de: https://centraldovarejo.com.br/long-tail-o-poder-da-cauda-longa-no-varejo-e-no-e-commerce/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“Para cerrar la solución, veamos cómo se entrena y cómo se usa LLM-ESR en inferencia.</a:t>
            </a:r>
          </a:p>
          <a:p>
            <a:r>
              <a:rPr lang="en-US"/>
              <a:t/>
            </a:r>
          </a:p>
          <a:p>
            <a:r>
              <a:rPr lang="en-US"/>
              <a:t>Durante entrenamiento, el modelo combina dos pérdidas. La primera es la ranking loss, que aprende a asignar mayor score al ítem correcto que a un ítem negativo. Esta es la pérdida principal de recomendación.</a:t>
            </a:r>
          </a:p>
          <a:p>
            <a:r>
              <a:rPr lang="en-US"/>
              <a:t/>
            </a:r>
          </a:p>
          <a:p>
            <a:r>
              <a:rPr lang="en-US"/>
              <a:t>La segunda es la self-distillation loss, que mejora la representación de usuarios long-tail acercándola a la representación de usuarios semánticamente similares.</a:t>
            </a:r>
          </a:p>
          <a:p>
            <a:r>
              <a:rPr lang="en-US"/>
              <a:t/>
            </a:r>
          </a:p>
          <a:p>
            <a:r>
              <a:rPr lang="en-US"/>
              <a:t>La pérdida total es (L = L_{Rank} + \alpha L_{SD}), donde (\alpha) controla cuánto peso tiene la distilación.</a:t>
            </a:r>
          </a:p>
          <a:p>
            <a:r>
              <a:rPr lang="en-US"/>
              <a:t/>
            </a:r>
          </a:p>
          <a:p>
            <a:r>
              <a:rPr lang="en-US"/>
              <a:t>Además, los embeddings semánticos generados por el LLM se mantienen congelados. Lo que sí se entrena son los componentes del recomendador, como el adapter, los embeddings colaborativos, el cross-attention y el encoder secuencial.</a:t>
            </a:r>
          </a:p>
          <a:p>
            <a:r>
              <a:rPr lang="en-US"/>
              <a:t/>
            </a:r>
          </a:p>
          <a:p>
            <a:r>
              <a:rPr lang="en-US"/>
              <a:t>En inferencia, el sistema solo usa el dual-view modeling para calcular el score final. No se usa self-distillation y tampoco se llama al LLM online.</a:t>
            </a:r>
          </a:p>
          <a:p>
            <a:r>
              <a:rPr lang="en-US"/>
              <a:t/>
            </a:r>
          </a:p>
          <a:p>
            <a:r>
              <a:rPr lang="en-US"/>
              <a:t>Por eso, la ventaja práctica es que LLM-ESR aprovecha la semántica de los LLMs, pero no aumenta la carga de inferencia.”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7.png" Type="http://schemas.openxmlformats.org/officeDocument/2006/relationships/image"/><Relationship Id="rId4" Target="../media/image8.jpeg" Type="http://schemas.openxmlformats.org/officeDocument/2006/relationships/image"/><Relationship Id="rId5" Target="../media/image9.jpe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pn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pn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33.png" Type="http://schemas.openxmlformats.org/officeDocument/2006/relationships/image"/><Relationship Id="rId15" Target="../media/image34.pn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jpe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jpeg" Type="http://schemas.openxmlformats.org/officeDocument/2006/relationships/image"/><Relationship Id="rId3" Target="../media/image26.png" Type="http://schemas.openxmlformats.org/officeDocument/2006/relationships/image"/><Relationship Id="rId4" Target="../media/image32.pn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jpeg" Type="http://schemas.openxmlformats.org/officeDocument/2006/relationships/image"/><Relationship Id="rId3" Target="../media/image46.jpeg" Type="http://schemas.openxmlformats.org/officeDocument/2006/relationships/image"/><Relationship Id="rId4" Target="../media/image26.png" Type="http://schemas.openxmlformats.org/officeDocument/2006/relationships/image"/><Relationship Id="rId5" Target="../media/image32.pn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jpeg" Type="http://schemas.openxmlformats.org/officeDocument/2006/relationships/image"/><Relationship Id="rId3" Target="../media/image46.jpeg" Type="http://schemas.openxmlformats.org/officeDocument/2006/relationships/image"/><Relationship Id="rId4" Target="../media/image26.png" Type="http://schemas.openxmlformats.org/officeDocument/2006/relationships/image"/><Relationship Id="rId5" Target="../media/image32.pn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jpeg" Type="http://schemas.openxmlformats.org/officeDocument/2006/relationships/image"/><Relationship Id="rId3" Target="../media/image46.jpeg" Type="http://schemas.openxmlformats.org/officeDocument/2006/relationships/image"/><Relationship Id="rId4" Target="../media/image26.png" Type="http://schemas.openxmlformats.org/officeDocument/2006/relationships/image"/><Relationship Id="rId5" Target="../media/image32.pn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45.jpeg" Type="http://schemas.openxmlformats.org/officeDocument/2006/relationships/image"/><Relationship Id="rId5" Target="../media/image46.jpeg" Type="http://schemas.openxmlformats.org/officeDocument/2006/relationships/image"/><Relationship Id="rId6" Target="../media/image26.png" Type="http://schemas.openxmlformats.org/officeDocument/2006/relationships/image"/><Relationship Id="rId7" Target="../media/image32.pn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jpeg" Type="http://schemas.openxmlformats.org/officeDocument/2006/relationships/image"/><Relationship Id="rId3" Target="../media/image46.jpeg" Type="http://schemas.openxmlformats.org/officeDocument/2006/relationships/image"/><Relationship Id="rId4" Target="../media/image26.png" Type="http://schemas.openxmlformats.org/officeDocument/2006/relationships/image"/><Relationship Id="rId5" Target="../media/image32.pn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jpeg" Type="http://schemas.openxmlformats.org/officeDocument/2006/relationships/image"/><Relationship Id="rId3" Target="../media/image46.jpeg" Type="http://schemas.openxmlformats.org/officeDocument/2006/relationships/image"/><Relationship Id="rId4" Target="../media/image26.png" Type="http://schemas.openxmlformats.org/officeDocument/2006/relationships/image"/><Relationship Id="rId5" Target="../media/image32.pn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5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1.pn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svg" Type="http://schemas.openxmlformats.org/officeDocument/2006/relationships/image"/><Relationship Id="rId4" Target="../media/image54.pn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sv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sv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sv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sv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svg" Type="http://schemas.openxmlformats.org/officeDocument/2006/relationships/image"/><Relationship Id="rId4" Target="../media/image57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svg" Type="http://schemas.openxmlformats.org/officeDocument/2006/relationships/image"/><Relationship Id="rId4" Target="../media/image58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svg" Type="http://schemas.openxmlformats.org/officeDocument/2006/relationships/image"/><Relationship Id="rId4" Target="../media/image51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4990" y="6069143"/>
            <a:ext cx="8484608" cy="1399214"/>
            <a:chOff x="0" y="0"/>
            <a:chExt cx="2234629" cy="3685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4629" cy="368517"/>
            </a:xfrm>
            <a:custGeom>
              <a:avLst/>
              <a:gdLst/>
              <a:ahLst/>
              <a:cxnLst/>
              <a:rect r="r" b="b" t="t" l="l"/>
              <a:pathLst>
                <a:path h="368517" w="2234629">
                  <a:moveTo>
                    <a:pt x="9125" y="0"/>
                  </a:moveTo>
                  <a:lnTo>
                    <a:pt x="2225504" y="0"/>
                  </a:lnTo>
                  <a:cubicBezTo>
                    <a:pt x="2230544" y="0"/>
                    <a:pt x="2234629" y="4085"/>
                    <a:pt x="2234629" y="9125"/>
                  </a:cubicBezTo>
                  <a:lnTo>
                    <a:pt x="2234629" y="359393"/>
                  </a:lnTo>
                  <a:cubicBezTo>
                    <a:pt x="2234629" y="364432"/>
                    <a:pt x="2230544" y="368517"/>
                    <a:pt x="2225504" y="368517"/>
                  </a:cubicBezTo>
                  <a:lnTo>
                    <a:pt x="9125" y="368517"/>
                  </a:lnTo>
                  <a:cubicBezTo>
                    <a:pt x="4085" y="368517"/>
                    <a:pt x="0" y="364432"/>
                    <a:pt x="0" y="359393"/>
                  </a:cubicBezTo>
                  <a:lnTo>
                    <a:pt x="0" y="9125"/>
                  </a:lnTo>
                  <a:cubicBezTo>
                    <a:pt x="0" y="4085"/>
                    <a:pt x="4085" y="0"/>
                    <a:pt x="9125" y="0"/>
                  </a:cubicBezTo>
                  <a:close/>
                </a:path>
              </a:pathLst>
            </a:custGeom>
            <a:solidFill>
              <a:srgbClr val="004717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234629" cy="482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572580" cy="57258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17">
                <a:alpha val="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2700000">
            <a:off x="14504013" y="6425313"/>
            <a:ext cx="3222004" cy="3380162"/>
          </a:xfrm>
          <a:custGeom>
            <a:avLst/>
            <a:gdLst/>
            <a:ahLst/>
            <a:cxnLst/>
            <a:rect r="r" b="b" t="t" l="l"/>
            <a:pathLst>
              <a:path h="3380162" w="3222004">
                <a:moveTo>
                  <a:pt x="0" y="0"/>
                </a:moveTo>
                <a:lnTo>
                  <a:pt x="3222004" y="0"/>
                </a:lnTo>
                <a:lnTo>
                  <a:pt x="3222004" y="3380162"/>
                </a:lnTo>
                <a:lnTo>
                  <a:pt x="0" y="3380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1753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74501" y="4408320"/>
            <a:ext cx="8625096" cy="198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44"/>
              </a:lnSpc>
            </a:pPr>
            <a:r>
              <a:rPr lang="en-US" sz="15147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LLM-ESR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41371" y="6206775"/>
            <a:ext cx="7250977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3000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L</a:t>
            </a:r>
            <a:r>
              <a:rPr lang="en-US" sz="3000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arge Language Models Enhancement for Long-tailed Sequential Recommendation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77134" y="1074519"/>
            <a:ext cx="3682166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31"/>
              </a:lnSpc>
            </a:pPr>
            <a:r>
              <a:rPr lang="en-US" b="true" sz="2100" spc="21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2100" spc="21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</a:t>
            </a:r>
            <a:r>
              <a:rPr lang="en-US" b="true" sz="2100" spc="21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MÁS CAILLAB</a:t>
            </a:r>
            <a:r>
              <a:rPr lang="en-US" b="true" sz="2100" spc="21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100" spc="21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</a:p>
          <a:p>
            <a:pPr algn="r" marL="0" indent="0" lvl="0">
              <a:lnSpc>
                <a:spcPts val="2331"/>
              </a:lnSpc>
            </a:pPr>
            <a:r>
              <a:rPr lang="en-US" b="true" sz="2100" spc="21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JOAQUÍN RIVAS</a:t>
            </a:r>
          </a:p>
          <a:p>
            <a:pPr algn="r" marL="0" indent="0" lvl="0">
              <a:lnSpc>
                <a:spcPts val="2331"/>
              </a:lnSpc>
            </a:pPr>
            <a:r>
              <a:rPr lang="en-US" b="true" sz="2100" spc="21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BLAN</a:t>
            </a:r>
            <a:r>
              <a:rPr lang="en-US" b="true" sz="2100" spc="21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2100" spc="21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100" spc="21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100" spc="21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ORTÚZAR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77784" y="303628"/>
            <a:ext cx="6813680" cy="9447043"/>
          </a:xfrm>
          <a:custGeom>
            <a:avLst/>
            <a:gdLst/>
            <a:ahLst/>
            <a:cxnLst/>
            <a:rect r="r" b="b" t="t" l="l"/>
            <a:pathLst>
              <a:path h="9447043" w="6813680">
                <a:moveTo>
                  <a:pt x="0" y="0"/>
                </a:moveTo>
                <a:lnTo>
                  <a:pt x="6813680" y="0"/>
                </a:lnTo>
                <a:lnTo>
                  <a:pt x="6813680" y="9447043"/>
                </a:lnTo>
                <a:lnTo>
                  <a:pt x="0" y="94470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46480" y="9258300"/>
            <a:ext cx="4386119" cy="523743"/>
            <a:chOff x="0" y="0"/>
            <a:chExt cx="1155192" cy="1379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55192" cy="137941"/>
            </a:xfrm>
            <a:custGeom>
              <a:avLst/>
              <a:gdLst/>
              <a:ahLst/>
              <a:cxnLst/>
              <a:rect r="r" b="b" t="t" l="l"/>
              <a:pathLst>
                <a:path h="137941" w="1155192">
                  <a:moveTo>
                    <a:pt x="0" y="0"/>
                  </a:moveTo>
                  <a:lnTo>
                    <a:pt x="1155192" y="0"/>
                  </a:lnTo>
                  <a:lnTo>
                    <a:pt x="1155192" y="137941"/>
                  </a:lnTo>
                  <a:lnTo>
                    <a:pt x="0" y="137941"/>
                  </a:lnTo>
                  <a:close/>
                </a:path>
              </a:pathLst>
            </a:custGeom>
            <a:ln w="85725" cap="sq">
              <a:solidFill>
                <a:srgbClr val="00471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155192" cy="185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320557" y="1918104"/>
            <a:ext cx="4238482" cy="616016"/>
            <a:chOff x="0" y="0"/>
            <a:chExt cx="1116308" cy="1622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16308" cy="162243"/>
            </a:xfrm>
            <a:custGeom>
              <a:avLst/>
              <a:gdLst/>
              <a:ahLst/>
              <a:cxnLst/>
              <a:rect r="r" b="b" t="t" l="l"/>
              <a:pathLst>
                <a:path h="162243" w="1116308">
                  <a:moveTo>
                    <a:pt x="0" y="0"/>
                  </a:moveTo>
                  <a:lnTo>
                    <a:pt x="1116308" y="0"/>
                  </a:lnTo>
                  <a:lnTo>
                    <a:pt x="1116308" y="162243"/>
                  </a:lnTo>
                  <a:lnTo>
                    <a:pt x="0" y="162243"/>
                  </a:lnTo>
                  <a:close/>
                </a:path>
              </a:pathLst>
            </a:custGeom>
            <a:ln w="85725" cap="sq">
              <a:solidFill>
                <a:srgbClr val="004717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16308" cy="209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86363" y="3641457"/>
            <a:ext cx="7296094" cy="2280029"/>
          </a:xfrm>
          <a:custGeom>
            <a:avLst/>
            <a:gdLst/>
            <a:ahLst/>
            <a:cxnLst/>
            <a:rect r="r" b="b" t="t" l="l"/>
            <a:pathLst>
              <a:path h="2280029" w="7296094">
                <a:moveTo>
                  <a:pt x="0" y="0"/>
                </a:moveTo>
                <a:lnTo>
                  <a:pt x="7296094" y="0"/>
                </a:lnTo>
                <a:lnTo>
                  <a:pt x="7296094" y="2280029"/>
                </a:lnTo>
                <a:lnTo>
                  <a:pt x="0" y="22800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91462" y="5921486"/>
            <a:ext cx="7290995" cy="1146234"/>
          </a:xfrm>
          <a:custGeom>
            <a:avLst/>
            <a:gdLst/>
            <a:ahLst/>
            <a:cxnLst/>
            <a:rect r="r" b="b" t="t" l="l"/>
            <a:pathLst>
              <a:path h="1146234" w="7290995">
                <a:moveTo>
                  <a:pt x="0" y="0"/>
                </a:moveTo>
                <a:lnTo>
                  <a:pt x="7290995" y="0"/>
                </a:lnTo>
                <a:lnTo>
                  <a:pt x="7290995" y="1146234"/>
                </a:lnTo>
                <a:lnTo>
                  <a:pt x="0" y="11462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39237" y="8849106"/>
            <a:ext cx="2724315" cy="1220493"/>
          </a:xfrm>
          <a:custGeom>
            <a:avLst/>
            <a:gdLst/>
            <a:ahLst/>
            <a:cxnLst/>
            <a:rect r="r" b="b" t="t" l="l"/>
            <a:pathLst>
              <a:path h="1220493" w="2724315">
                <a:moveTo>
                  <a:pt x="0" y="0"/>
                </a:moveTo>
                <a:lnTo>
                  <a:pt x="2724314" y="0"/>
                </a:lnTo>
                <a:lnTo>
                  <a:pt x="2724314" y="1220493"/>
                </a:lnTo>
                <a:lnTo>
                  <a:pt x="0" y="12204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25551" y="9232626"/>
            <a:ext cx="5486448" cy="61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31"/>
              </a:lnSpc>
            </a:pPr>
            <a:r>
              <a:rPr lang="en-US" sz="2331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NeurIPS es una de las conferencias más prestigiosas del mundo en IA y ML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152525"/>
            <a:ext cx="9249084" cy="152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6000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AUTORES Y RECONOCIMIENTOS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29157" y="2971744"/>
            <a:ext cx="8647518" cy="7028677"/>
            <a:chOff x="0" y="0"/>
            <a:chExt cx="2277536" cy="18511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7536" cy="1851174"/>
            </a:xfrm>
            <a:custGeom>
              <a:avLst/>
              <a:gdLst/>
              <a:ahLst/>
              <a:cxnLst/>
              <a:rect r="r" b="b" t="t" l="l"/>
              <a:pathLst>
                <a:path h="1851174" w="2277536">
                  <a:moveTo>
                    <a:pt x="31335" y="0"/>
                  </a:moveTo>
                  <a:lnTo>
                    <a:pt x="2246201" y="0"/>
                  </a:lnTo>
                  <a:cubicBezTo>
                    <a:pt x="2263507" y="0"/>
                    <a:pt x="2277536" y="14029"/>
                    <a:pt x="2277536" y="31335"/>
                  </a:cubicBezTo>
                  <a:lnTo>
                    <a:pt x="2277536" y="1819840"/>
                  </a:lnTo>
                  <a:cubicBezTo>
                    <a:pt x="2277536" y="1828150"/>
                    <a:pt x="2274234" y="1836120"/>
                    <a:pt x="2268358" y="1841996"/>
                  </a:cubicBezTo>
                  <a:cubicBezTo>
                    <a:pt x="2262481" y="1847873"/>
                    <a:pt x="2254511" y="1851174"/>
                    <a:pt x="2246201" y="1851174"/>
                  </a:cubicBezTo>
                  <a:lnTo>
                    <a:pt x="31335" y="1851174"/>
                  </a:lnTo>
                  <a:cubicBezTo>
                    <a:pt x="14029" y="1851174"/>
                    <a:pt x="0" y="1837145"/>
                    <a:pt x="0" y="1819840"/>
                  </a:cubicBezTo>
                  <a:lnTo>
                    <a:pt x="0" y="31335"/>
                  </a:lnTo>
                  <a:cubicBezTo>
                    <a:pt x="0" y="23024"/>
                    <a:pt x="3301" y="15054"/>
                    <a:pt x="9178" y="9178"/>
                  </a:cubicBezTo>
                  <a:cubicBezTo>
                    <a:pt x="15054" y="3301"/>
                    <a:pt x="23024" y="0"/>
                    <a:pt x="31335" y="0"/>
                  </a:cubicBezTo>
                  <a:close/>
                </a:path>
              </a:pathLst>
            </a:custGeom>
            <a:solidFill>
              <a:srgbClr val="004717">
                <a:alpha val="19608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77536" cy="1889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3469" y="2971744"/>
            <a:ext cx="8647518" cy="7028677"/>
            <a:chOff x="0" y="0"/>
            <a:chExt cx="2277536" cy="18511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77536" cy="1851174"/>
            </a:xfrm>
            <a:custGeom>
              <a:avLst/>
              <a:gdLst/>
              <a:ahLst/>
              <a:cxnLst/>
              <a:rect r="r" b="b" t="t" l="l"/>
              <a:pathLst>
                <a:path h="1851174" w="2277536">
                  <a:moveTo>
                    <a:pt x="31335" y="0"/>
                  </a:moveTo>
                  <a:lnTo>
                    <a:pt x="2246201" y="0"/>
                  </a:lnTo>
                  <a:cubicBezTo>
                    <a:pt x="2263507" y="0"/>
                    <a:pt x="2277536" y="14029"/>
                    <a:pt x="2277536" y="31335"/>
                  </a:cubicBezTo>
                  <a:lnTo>
                    <a:pt x="2277536" y="1819840"/>
                  </a:lnTo>
                  <a:cubicBezTo>
                    <a:pt x="2277536" y="1828150"/>
                    <a:pt x="2274234" y="1836120"/>
                    <a:pt x="2268358" y="1841996"/>
                  </a:cubicBezTo>
                  <a:cubicBezTo>
                    <a:pt x="2262481" y="1847873"/>
                    <a:pt x="2254511" y="1851174"/>
                    <a:pt x="2246201" y="1851174"/>
                  </a:cubicBezTo>
                  <a:lnTo>
                    <a:pt x="31335" y="1851174"/>
                  </a:lnTo>
                  <a:cubicBezTo>
                    <a:pt x="14029" y="1851174"/>
                    <a:pt x="0" y="1837145"/>
                    <a:pt x="0" y="1819840"/>
                  </a:cubicBezTo>
                  <a:lnTo>
                    <a:pt x="0" y="31335"/>
                  </a:lnTo>
                  <a:cubicBezTo>
                    <a:pt x="0" y="23024"/>
                    <a:pt x="3301" y="15054"/>
                    <a:pt x="9178" y="9178"/>
                  </a:cubicBezTo>
                  <a:cubicBezTo>
                    <a:pt x="15054" y="3301"/>
                    <a:pt x="23024" y="0"/>
                    <a:pt x="31335" y="0"/>
                  </a:cubicBezTo>
                  <a:close/>
                </a:path>
              </a:pathLst>
            </a:custGeom>
            <a:solidFill>
              <a:srgbClr val="004717">
                <a:alpha val="19608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77536" cy="1889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70736" y="4192859"/>
            <a:ext cx="7750272" cy="5396127"/>
          </a:xfrm>
          <a:custGeom>
            <a:avLst/>
            <a:gdLst/>
            <a:ahLst/>
            <a:cxnLst/>
            <a:rect r="r" b="b" t="t" l="l"/>
            <a:pathLst>
              <a:path h="5396127" w="7750272">
                <a:moveTo>
                  <a:pt x="0" y="0"/>
                </a:moveTo>
                <a:lnTo>
                  <a:pt x="7750272" y="0"/>
                </a:lnTo>
                <a:lnTo>
                  <a:pt x="7750272" y="5396127"/>
                </a:lnTo>
                <a:lnTo>
                  <a:pt x="0" y="53961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993625" y="4192859"/>
            <a:ext cx="7750272" cy="5413894"/>
            <a:chOff x="0" y="0"/>
            <a:chExt cx="10333696" cy="72185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33696" cy="7218525"/>
            </a:xfrm>
            <a:custGeom>
              <a:avLst/>
              <a:gdLst/>
              <a:ahLst/>
              <a:cxnLst/>
              <a:rect r="r" b="b" t="t" l="l"/>
              <a:pathLst>
                <a:path h="7218525" w="10333696">
                  <a:moveTo>
                    <a:pt x="0" y="0"/>
                  </a:moveTo>
                  <a:lnTo>
                    <a:pt x="10333696" y="0"/>
                  </a:lnTo>
                  <a:lnTo>
                    <a:pt x="10333696" y="7218525"/>
                  </a:lnTo>
                  <a:lnTo>
                    <a:pt x="0" y="7218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07" t="0" r="-41713" b="-26577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0">
              <a:off x="5872025" y="2639121"/>
              <a:ext cx="4114800" cy="317683"/>
              <a:chOff x="0" y="0"/>
              <a:chExt cx="812800" cy="6275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62752"/>
              </a:xfrm>
              <a:custGeom>
                <a:avLst/>
                <a:gdLst/>
                <a:ahLst/>
                <a:cxnLst/>
                <a:rect r="r" b="b" t="t" l="l"/>
                <a:pathLst>
                  <a:path h="6275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2752"/>
                    </a:lnTo>
                    <a:lnTo>
                      <a:pt x="0" y="6275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812800" cy="1008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4" id="14"/>
          <p:cNvSpPr txBox="true"/>
          <p:nvPr/>
        </p:nvSpPr>
        <p:spPr>
          <a:xfrm rot="0">
            <a:off x="2961795" y="1152525"/>
            <a:ext cx="12364411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¿Productos similares?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29157" y="2971744"/>
            <a:ext cx="8647518" cy="7028677"/>
            <a:chOff x="0" y="0"/>
            <a:chExt cx="2277536" cy="18511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7536" cy="1851174"/>
            </a:xfrm>
            <a:custGeom>
              <a:avLst/>
              <a:gdLst/>
              <a:ahLst/>
              <a:cxnLst/>
              <a:rect r="r" b="b" t="t" l="l"/>
              <a:pathLst>
                <a:path h="1851174" w="2277536">
                  <a:moveTo>
                    <a:pt x="31335" y="0"/>
                  </a:moveTo>
                  <a:lnTo>
                    <a:pt x="2246201" y="0"/>
                  </a:lnTo>
                  <a:cubicBezTo>
                    <a:pt x="2263507" y="0"/>
                    <a:pt x="2277536" y="14029"/>
                    <a:pt x="2277536" y="31335"/>
                  </a:cubicBezTo>
                  <a:lnTo>
                    <a:pt x="2277536" y="1819840"/>
                  </a:lnTo>
                  <a:cubicBezTo>
                    <a:pt x="2277536" y="1828150"/>
                    <a:pt x="2274234" y="1836120"/>
                    <a:pt x="2268358" y="1841996"/>
                  </a:cubicBezTo>
                  <a:cubicBezTo>
                    <a:pt x="2262481" y="1847873"/>
                    <a:pt x="2254511" y="1851174"/>
                    <a:pt x="2246201" y="1851174"/>
                  </a:cubicBezTo>
                  <a:lnTo>
                    <a:pt x="31335" y="1851174"/>
                  </a:lnTo>
                  <a:cubicBezTo>
                    <a:pt x="14029" y="1851174"/>
                    <a:pt x="0" y="1837145"/>
                    <a:pt x="0" y="1819840"/>
                  </a:cubicBezTo>
                  <a:lnTo>
                    <a:pt x="0" y="31335"/>
                  </a:lnTo>
                  <a:cubicBezTo>
                    <a:pt x="0" y="23024"/>
                    <a:pt x="3301" y="15054"/>
                    <a:pt x="9178" y="9178"/>
                  </a:cubicBezTo>
                  <a:cubicBezTo>
                    <a:pt x="15054" y="3301"/>
                    <a:pt x="23024" y="0"/>
                    <a:pt x="31335" y="0"/>
                  </a:cubicBezTo>
                  <a:close/>
                </a:path>
              </a:pathLst>
            </a:custGeom>
            <a:solidFill>
              <a:srgbClr val="004717">
                <a:alpha val="19608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77536" cy="1889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3469" y="2971744"/>
            <a:ext cx="8647518" cy="7028677"/>
            <a:chOff x="0" y="0"/>
            <a:chExt cx="2277536" cy="18511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77536" cy="1851174"/>
            </a:xfrm>
            <a:custGeom>
              <a:avLst/>
              <a:gdLst/>
              <a:ahLst/>
              <a:cxnLst/>
              <a:rect r="r" b="b" t="t" l="l"/>
              <a:pathLst>
                <a:path h="1851174" w="2277536">
                  <a:moveTo>
                    <a:pt x="31335" y="0"/>
                  </a:moveTo>
                  <a:lnTo>
                    <a:pt x="2246201" y="0"/>
                  </a:lnTo>
                  <a:cubicBezTo>
                    <a:pt x="2263507" y="0"/>
                    <a:pt x="2277536" y="14029"/>
                    <a:pt x="2277536" y="31335"/>
                  </a:cubicBezTo>
                  <a:lnTo>
                    <a:pt x="2277536" y="1819840"/>
                  </a:lnTo>
                  <a:cubicBezTo>
                    <a:pt x="2277536" y="1828150"/>
                    <a:pt x="2274234" y="1836120"/>
                    <a:pt x="2268358" y="1841996"/>
                  </a:cubicBezTo>
                  <a:cubicBezTo>
                    <a:pt x="2262481" y="1847873"/>
                    <a:pt x="2254511" y="1851174"/>
                    <a:pt x="2246201" y="1851174"/>
                  </a:cubicBezTo>
                  <a:lnTo>
                    <a:pt x="31335" y="1851174"/>
                  </a:lnTo>
                  <a:cubicBezTo>
                    <a:pt x="14029" y="1851174"/>
                    <a:pt x="0" y="1837145"/>
                    <a:pt x="0" y="1819840"/>
                  </a:cubicBezTo>
                  <a:lnTo>
                    <a:pt x="0" y="31335"/>
                  </a:lnTo>
                  <a:cubicBezTo>
                    <a:pt x="0" y="23024"/>
                    <a:pt x="3301" y="15054"/>
                    <a:pt x="9178" y="9178"/>
                  </a:cubicBezTo>
                  <a:cubicBezTo>
                    <a:pt x="15054" y="3301"/>
                    <a:pt x="23024" y="0"/>
                    <a:pt x="31335" y="0"/>
                  </a:cubicBezTo>
                  <a:close/>
                </a:path>
              </a:pathLst>
            </a:custGeom>
            <a:solidFill>
              <a:srgbClr val="004717">
                <a:alpha val="19608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77536" cy="1889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70736" y="4192859"/>
            <a:ext cx="7750272" cy="5396127"/>
          </a:xfrm>
          <a:custGeom>
            <a:avLst/>
            <a:gdLst/>
            <a:ahLst/>
            <a:cxnLst/>
            <a:rect r="r" b="b" t="t" l="l"/>
            <a:pathLst>
              <a:path h="5396127" w="7750272">
                <a:moveTo>
                  <a:pt x="0" y="0"/>
                </a:moveTo>
                <a:lnTo>
                  <a:pt x="7750272" y="0"/>
                </a:lnTo>
                <a:lnTo>
                  <a:pt x="7750272" y="5396127"/>
                </a:lnTo>
                <a:lnTo>
                  <a:pt x="0" y="5396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08514" y="3202352"/>
            <a:ext cx="4835384" cy="864540"/>
          </a:xfrm>
          <a:custGeom>
            <a:avLst/>
            <a:gdLst/>
            <a:ahLst/>
            <a:cxnLst/>
            <a:rect r="r" b="b" t="t" l="l"/>
            <a:pathLst>
              <a:path h="864540" w="4835384">
                <a:moveTo>
                  <a:pt x="0" y="0"/>
                </a:moveTo>
                <a:lnTo>
                  <a:pt x="4835383" y="0"/>
                </a:lnTo>
                <a:lnTo>
                  <a:pt x="4835383" y="864540"/>
                </a:lnTo>
                <a:lnTo>
                  <a:pt x="0" y="8645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7330" t="-283249" r="-294398" b="-1914491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993625" y="4192859"/>
            <a:ext cx="7750272" cy="5413894"/>
            <a:chOff x="0" y="0"/>
            <a:chExt cx="10333696" cy="72185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33696" cy="7218525"/>
            </a:xfrm>
            <a:custGeom>
              <a:avLst/>
              <a:gdLst/>
              <a:ahLst/>
              <a:cxnLst/>
              <a:rect r="r" b="b" t="t" l="l"/>
              <a:pathLst>
                <a:path h="7218525" w="10333696">
                  <a:moveTo>
                    <a:pt x="0" y="0"/>
                  </a:moveTo>
                  <a:lnTo>
                    <a:pt x="10333696" y="0"/>
                  </a:lnTo>
                  <a:lnTo>
                    <a:pt x="10333696" y="7218525"/>
                  </a:lnTo>
                  <a:lnTo>
                    <a:pt x="0" y="7218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07" t="0" r="-41713" b="-26577"/>
              </a:stretch>
            </a:blipFill>
          </p:spPr>
        </p:sp>
        <p:grpSp>
          <p:nvGrpSpPr>
            <p:cNvPr name="Group 12" id="12"/>
            <p:cNvGrpSpPr/>
            <p:nvPr/>
          </p:nvGrpSpPr>
          <p:grpSpPr>
            <a:xfrm rot="0">
              <a:off x="5872025" y="2639121"/>
              <a:ext cx="4114800" cy="317683"/>
              <a:chOff x="0" y="0"/>
              <a:chExt cx="812800" cy="6275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62752"/>
              </a:xfrm>
              <a:custGeom>
                <a:avLst/>
                <a:gdLst/>
                <a:ahLst/>
                <a:cxnLst/>
                <a:rect r="r" b="b" t="t" l="l"/>
                <a:pathLst>
                  <a:path h="6275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2752"/>
                    </a:lnTo>
                    <a:lnTo>
                      <a:pt x="0" y="6275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812800" cy="1008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5400000">
            <a:off x="5961628" y="4493855"/>
            <a:ext cx="80976" cy="1777150"/>
            <a:chOff x="0" y="0"/>
            <a:chExt cx="21327" cy="4680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27" cy="468056"/>
            </a:xfrm>
            <a:custGeom>
              <a:avLst/>
              <a:gdLst/>
              <a:ahLst/>
              <a:cxnLst/>
              <a:rect r="r" b="b" t="t" l="l"/>
              <a:pathLst>
                <a:path h="468056" w="21327">
                  <a:moveTo>
                    <a:pt x="0" y="0"/>
                  </a:moveTo>
                  <a:lnTo>
                    <a:pt x="21327" y="0"/>
                  </a:lnTo>
                  <a:lnTo>
                    <a:pt x="21327" y="468056"/>
                  </a:lnTo>
                  <a:lnTo>
                    <a:pt x="0" y="468056"/>
                  </a:lnTo>
                  <a:close/>
                </a:path>
              </a:pathLst>
            </a:custGeom>
            <a:solidFill>
              <a:srgbClr val="C2282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327" cy="506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15285718" y="4412879"/>
            <a:ext cx="80976" cy="1777150"/>
            <a:chOff x="0" y="0"/>
            <a:chExt cx="21327" cy="4680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27" cy="468056"/>
            </a:xfrm>
            <a:custGeom>
              <a:avLst/>
              <a:gdLst/>
              <a:ahLst/>
              <a:cxnLst/>
              <a:rect r="r" b="b" t="t" l="l"/>
              <a:pathLst>
                <a:path h="468056" w="21327">
                  <a:moveTo>
                    <a:pt x="0" y="0"/>
                  </a:moveTo>
                  <a:lnTo>
                    <a:pt x="21327" y="0"/>
                  </a:lnTo>
                  <a:lnTo>
                    <a:pt x="21327" y="468056"/>
                  </a:lnTo>
                  <a:lnTo>
                    <a:pt x="0" y="468056"/>
                  </a:lnTo>
                  <a:close/>
                </a:path>
              </a:pathLst>
            </a:custGeom>
            <a:solidFill>
              <a:srgbClr val="C2282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1327" cy="506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685625" y="3202352"/>
            <a:ext cx="4835384" cy="864540"/>
            <a:chOff x="0" y="0"/>
            <a:chExt cx="6447178" cy="1152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47178" cy="1152720"/>
            </a:xfrm>
            <a:custGeom>
              <a:avLst/>
              <a:gdLst/>
              <a:ahLst/>
              <a:cxnLst/>
              <a:rect r="r" b="b" t="t" l="l"/>
              <a:pathLst>
                <a:path h="1152720" w="6447178">
                  <a:moveTo>
                    <a:pt x="0" y="0"/>
                  </a:moveTo>
                  <a:lnTo>
                    <a:pt x="6447178" y="0"/>
                  </a:lnTo>
                  <a:lnTo>
                    <a:pt x="6447178" y="1152720"/>
                  </a:lnTo>
                  <a:lnTo>
                    <a:pt x="0" y="1152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9177" t="-341667" r="-311747" b="-203439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74601" y="187113"/>
              <a:ext cx="5897977" cy="778493"/>
            </a:xfrm>
            <a:custGeom>
              <a:avLst/>
              <a:gdLst/>
              <a:ahLst/>
              <a:cxnLst/>
              <a:rect r="r" b="b" t="t" l="l"/>
              <a:pathLst>
                <a:path h="778493" w="5897977">
                  <a:moveTo>
                    <a:pt x="0" y="0"/>
                  </a:moveTo>
                  <a:lnTo>
                    <a:pt x="5897977" y="0"/>
                  </a:lnTo>
                  <a:lnTo>
                    <a:pt x="5897977" y="778494"/>
                  </a:lnTo>
                  <a:lnTo>
                    <a:pt x="0" y="778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0423" r="0" b="-2716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2961795" y="870485"/>
            <a:ext cx="12725934" cy="152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Casi e</a:t>
            </a:r>
            <a:r>
              <a:rPr lang="en-US" b="true" sz="60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l mismo producto, pero para el algoritmo uno no existe</a:t>
            </a:r>
          </a:p>
        </p:txBody>
      </p:sp>
      <p:grpSp>
        <p:nvGrpSpPr>
          <p:cNvPr name="Group 25" id="25"/>
          <p:cNvGrpSpPr/>
          <p:nvPr/>
        </p:nvGrpSpPr>
        <p:grpSpPr>
          <a:xfrm rot="5400000">
            <a:off x="5961628" y="4574831"/>
            <a:ext cx="80976" cy="1777150"/>
            <a:chOff x="0" y="0"/>
            <a:chExt cx="21327" cy="4680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327" cy="468056"/>
            </a:xfrm>
            <a:custGeom>
              <a:avLst/>
              <a:gdLst/>
              <a:ahLst/>
              <a:cxnLst/>
              <a:rect r="r" b="b" t="t" l="l"/>
              <a:pathLst>
                <a:path h="468056" w="21327">
                  <a:moveTo>
                    <a:pt x="0" y="0"/>
                  </a:moveTo>
                  <a:lnTo>
                    <a:pt x="21327" y="0"/>
                  </a:lnTo>
                  <a:lnTo>
                    <a:pt x="21327" y="468056"/>
                  </a:lnTo>
                  <a:lnTo>
                    <a:pt x="0" y="468056"/>
                  </a:lnTo>
                  <a:close/>
                </a:path>
              </a:pathLst>
            </a:custGeom>
            <a:solidFill>
              <a:srgbClr val="C2282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1327" cy="506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7963" y="667312"/>
            <a:ext cx="2151337" cy="722776"/>
            <a:chOff x="0" y="0"/>
            <a:chExt cx="2868449" cy="96370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66840" y="66840"/>
              <a:ext cx="830021" cy="830021"/>
            </a:xfrm>
            <a:custGeom>
              <a:avLst/>
              <a:gdLst/>
              <a:ahLst/>
              <a:cxnLst/>
              <a:rect r="r" b="b" t="t" l="l"/>
              <a:pathLst>
                <a:path h="830021" w="830021">
                  <a:moveTo>
                    <a:pt x="0" y="0"/>
                  </a:moveTo>
                  <a:lnTo>
                    <a:pt x="830021" y="0"/>
                  </a:lnTo>
                  <a:lnTo>
                    <a:pt x="830021" y="830021"/>
                  </a:lnTo>
                  <a:lnTo>
                    <a:pt x="0" y="830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698947" y="320314"/>
              <a:ext cx="2169501" cy="3516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CONTEXTO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560227"/>
            <a:ext cx="14678979" cy="53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4000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SISTEMA DE RECOMENDACIÓN SECUENCIAL (SRS)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9621" y="2224439"/>
            <a:ext cx="15879679" cy="1612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99"/>
              </a:lnSpc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Algoritmo que predice el próximo ítem de un usuario a partir de su historial ordenado en el tiempo.</a:t>
            </a:r>
          </a:p>
          <a:p>
            <a:pPr algn="just">
              <a:lnSpc>
                <a:spcPts val="4399"/>
              </a:lnSpc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problema real es que la distribución de interacciones es fuertemente long-tail tanto para items como para usuarios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532516"/>
            <a:ext cx="14678979" cy="53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4000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PROBLEMA LONG-TAIL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04938" y="4885759"/>
            <a:ext cx="8154362" cy="4552067"/>
            <a:chOff x="0" y="0"/>
            <a:chExt cx="10872483" cy="60694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12852" y="82959"/>
              <a:ext cx="10012099" cy="5367643"/>
            </a:xfrm>
            <a:custGeom>
              <a:avLst/>
              <a:gdLst/>
              <a:ahLst/>
              <a:cxnLst/>
              <a:rect r="r" b="b" t="t" l="l"/>
              <a:pathLst>
                <a:path h="5367643" w="10012099">
                  <a:moveTo>
                    <a:pt x="0" y="0"/>
                  </a:moveTo>
                  <a:lnTo>
                    <a:pt x="10012099" y="0"/>
                  </a:lnTo>
                  <a:lnTo>
                    <a:pt x="10012099" y="5367643"/>
                  </a:lnTo>
                  <a:lnTo>
                    <a:pt x="0" y="5367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51" t="-4106" r="-86" b="-37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4622665" y="5728070"/>
              <a:ext cx="2248715" cy="3413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67"/>
                </a:lnSpc>
              </a:pPr>
              <a:r>
                <a:rPr lang="en-US" sz="1867" spc="-112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POPULARIDAD</a:t>
              </a: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512852" y="5450602"/>
              <a:ext cx="10359631" cy="0"/>
            </a:xfrm>
            <a:prstGeom prst="line">
              <a:avLst/>
            </a:prstGeom>
            <a:ln cap="flat" w="762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5" id="15"/>
            <p:cNvSpPr/>
            <p:nvPr/>
          </p:nvSpPr>
          <p:spPr>
            <a:xfrm flipH="true" flipV="true">
              <a:off x="512598" y="2"/>
              <a:ext cx="254" cy="5450600"/>
            </a:xfrm>
            <a:prstGeom prst="line">
              <a:avLst/>
            </a:prstGeom>
            <a:ln cap="flat" w="762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Freeform 16" id="16"/>
            <p:cNvSpPr/>
            <p:nvPr/>
          </p:nvSpPr>
          <p:spPr>
            <a:xfrm flipH="false" flipV="true" rot="6029061">
              <a:off x="7851586" y="4206572"/>
              <a:ext cx="1426497" cy="469447"/>
            </a:xfrm>
            <a:custGeom>
              <a:avLst/>
              <a:gdLst/>
              <a:ahLst/>
              <a:cxnLst/>
              <a:rect r="r" b="b" t="t" l="l"/>
              <a:pathLst>
                <a:path h="469447" w="1426497">
                  <a:moveTo>
                    <a:pt x="0" y="469447"/>
                  </a:moveTo>
                  <a:lnTo>
                    <a:pt x="1426498" y="469447"/>
                  </a:lnTo>
                  <a:lnTo>
                    <a:pt x="1426498" y="0"/>
                  </a:lnTo>
                  <a:lnTo>
                    <a:pt x="0" y="0"/>
                  </a:lnTo>
                  <a:lnTo>
                    <a:pt x="0" y="469447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-5400000">
              <a:off x="-1401742" y="2944470"/>
              <a:ext cx="3221037" cy="3413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67"/>
                </a:lnSpc>
              </a:pPr>
              <a:r>
                <a:rPr lang="en-US" sz="1867" spc="-112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USUARIOS / ITEMS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684974" y="3357776"/>
              <a:ext cx="1879861" cy="3394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67"/>
                </a:lnSpc>
              </a:pPr>
              <a:r>
                <a:rPr lang="en-US" sz="1867" spc="-112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LONG-TAIL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true" rot="7972998">
              <a:off x="1334831" y="1849699"/>
              <a:ext cx="1426497" cy="469447"/>
            </a:xfrm>
            <a:custGeom>
              <a:avLst/>
              <a:gdLst/>
              <a:ahLst/>
              <a:cxnLst/>
              <a:rect r="r" b="b" t="t" l="l"/>
              <a:pathLst>
                <a:path h="469447" w="1426497">
                  <a:moveTo>
                    <a:pt x="0" y="469447"/>
                  </a:moveTo>
                  <a:lnTo>
                    <a:pt x="1426497" y="469447"/>
                  </a:lnTo>
                  <a:lnTo>
                    <a:pt x="1426497" y="0"/>
                  </a:lnTo>
                  <a:lnTo>
                    <a:pt x="0" y="0"/>
                  </a:lnTo>
                  <a:lnTo>
                    <a:pt x="0" y="469447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1390717" y="939207"/>
              <a:ext cx="2347730" cy="3394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67"/>
                </a:lnSpc>
              </a:pPr>
              <a:r>
                <a:rPr lang="en-US" sz="1867" spc="-112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SHORT-HEAD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28700" y="5234827"/>
            <a:ext cx="7762705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Los usuarios con pocas interacciones reciben malas recomendaciones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6976780"/>
            <a:ext cx="7762705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Los vendedores de productos poco populares apenas consigue visibilidad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96593" y="6348691"/>
            <a:ext cx="4414369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Mala experiencia de usuario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96593" y="8140735"/>
            <a:ext cx="4414369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Pérdida de negocio</a:t>
            </a:r>
          </a:p>
        </p:txBody>
      </p:sp>
      <p:sp>
        <p:nvSpPr>
          <p:cNvPr name="Freeform 25" id="25"/>
          <p:cNvSpPr/>
          <p:nvPr/>
        </p:nvSpPr>
        <p:spPr>
          <a:xfrm>
            <a:off x="1379621" y="6252645"/>
            <a:ext cx="389415" cy="373223"/>
          </a:xfrm>
          <a:custGeom>
            <a:avLst/>
            <a:gdLst/>
            <a:ahLst/>
            <a:cxnLst/>
            <a:rect r="r" b="b" t="t" l="l"/>
            <a:pathLst>
              <a:path h="373223" w="389415">
                <a:moveTo>
                  <a:pt x="0" y="0"/>
                </a:moveTo>
                <a:lnTo>
                  <a:pt x="0" y="186612"/>
                </a:lnTo>
                <a:cubicBezTo>
                  <a:pt x="0" y="289674"/>
                  <a:pt x="83548" y="373223"/>
                  <a:pt x="186611" y="373223"/>
                </a:cubicBezTo>
                <a:lnTo>
                  <a:pt x="389414" y="373223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6" id="26"/>
          <p:cNvSpPr/>
          <p:nvPr/>
        </p:nvSpPr>
        <p:spPr>
          <a:xfrm>
            <a:off x="1398671" y="8039848"/>
            <a:ext cx="389415" cy="373223"/>
          </a:xfrm>
          <a:custGeom>
            <a:avLst/>
            <a:gdLst/>
            <a:ahLst/>
            <a:cxnLst/>
            <a:rect r="r" b="b" t="t" l="l"/>
            <a:pathLst>
              <a:path h="373223" w="389415">
                <a:moveTo>
                  <a:pt x="0" y="0"/>
                </a:moveTo>
                <a:lnTo>
                  <a:pt x="0" y="186612"/>
                </a:lnTo>
                <a:cubicBezTo>
                  <a:pt x="0" y="289674"/>
                  <a:pt x="83548" y="373223"/>
                  <a:pt x="186611" y="373223"/>
                </a:cubicBezTo>
                <a:lnTo>
                  <a:pt x="389414" y="373223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31146" y="2024993"/>
            <a:ext cx="6028154" cy="3589466"/>
          </a:xfrm>
          <a:custGeom>
            <a:avLst/>
            <a:gdLst/>
            <a:ahLst/>
            <a:cxnLst/>
            <a:rect r="r" b="b" t="t" l="l"/>
            <a:pathLst>
              <a:path h="3589466" w="6028154">
                <a:moveTo>
                  <a:pt x="0" y="0"/>
                </a:moveTo>
                <a:lnTo>
                  <a:pt x="6028154" y="0"/>
                </a:lnTo>
                <a:lnTo>
                  <a:pt x="6028154" y="3589466"/>
                </a:lnTo>
                <a:lnTo>
                  <a:pt x="0" y="3589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9313" b="-2175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28733"/>
            <a:ext cx="14678979" cy="58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b="true" sz="4500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PROBLEMA LONG-TAIL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21892" y="2491681"/>
            <a:ext cx="560682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</a:t>
            </a:r>
            <a:r>
              <a:rPr lang="en-US" b="true" sz="3499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ong</a:t>
            </a:r>
            <a:r>
              <a:rPr lang="en-US" b="true" sz="3499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  <a:r>
              <a:rPr lang="en-US" b="true" sz="3499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3499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ail u</a:t>
            </a:r>
            <a:r>
              <a:rPr lang="en-US" b="true" sz="3499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3499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1295" y="3517207"/>
            <a:ext cx="7762705" cy="191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&gt;80% de los usua</a:t>
            </a:r>
            <a:r>
              <a:rPr lang="en-US" b="true" sz="24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rios interactuaron con menos de 10 items</a:t>
            </a:r>
            <a:r>
              <a:rPr lang="en-US" sz="24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y SASRec rinde nota</a:t>
            </a:r>
            <a:r>
              <a:rPr lang="en-US" sz="24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blemen</a:t>
            </a:r>
            <a:r>
              <a:rPr lang="en-US" sz="24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4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peor con ellos</a:t>
            </a:r>
            <a:r>
              <a:rPr lang="en-US" sz="24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lang="en-US" sz="24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s</a:t>
            </a:r>
            <a:r>
              <a:rPr lang="en-US" sz="24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ea, la </a:t>
            </a:r>
            <a:r>
              <a:rPr lang="en-US" sz="24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may</a:t>
            </a:r>
            <a:r>
              <a:rPr lang="en-US" sz="24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</a:t>
            </a:r>
            <a:r>
              <a:rPr lang="en-US" sz="24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ía</a:t>
            </a:r>
            <a:r>
              <a:rPr lang="en-US" sz="24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 los usuarios recibe un se</a:t>
            </a:r>
            <a:r>
              <a:rPr lang="en-US" sz="24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rv</a:t>
            </a:r>
            <a:r>
              <a:rPr lang="en-US" sz="24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icio subóptimo.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21892" y="8495915"/>
            <a:ext cx="6630966" cy="1524771"/>
            <a:chOff x="0" y="0"/>
            <a:chExt cx="8841288" cy="2033028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8841288" cy="2033028"/>
              <a:chOff x="0" y="0"/>
              <a:chExt cx="1943460" cy="44689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43460" cy="446893"/>
              </a:xfrm>
              <a:custGeom>
                <a:avLst/>
                <a:gdLst/>
                <a:ahLst/>
                <a:cxnLst/>
                <a:rect r="r" b="b" t="t" l="l"/>
                <a:pathLst>
                  <a:path h="446893" w="1943460">
                    <a:moveTo>
                      <a:pt x="39696" y="0"/>
                    </a:moveTo>
                    <a:lnTo>
                      <a:pt x="1903764" y="0"/>
                    </a:lnTo>
                    <a:cubicBezTo>
                      <a:pt x="1914292" y="0"/>
                      <a:pt x="1924389" y="4182"/>
                      <a:pt x="1931833" y="11627"/>
                    </a:cubicBezTo>
                    <a:cubicBezTo>
                      <a:pt x="1939278" y="19071"/>
                      <a:pt x="1943460" y="29168"/>
                      <a:pt x="1943460" y="39696"/>
                    </a:cubicBezTo>
                    <a:lnTo>
                      <a:pt x="1943460" y="407196"/>
                    </a:lnTo>
                    <a:cubicBezTo>
                      <a:pt x="1943460" y="429120"/>
                      <a:pt x="1925687" y="446893"/>
                      <a:pt x="1903764" y="446893"/>
                    </a:cubicBezTo>
                    <a:lnTo>
                      <a:pt x="39696" y="446893"/>
                    </a:lnTo>
                    <a:cubicBezTo>
                      <a:pt x="29168" y="446893"/>
                      <a:pt x="19071" y="442711"/>
                      <a:pt x="11627" y="435266"/>
                    </a:cubicBezTo>
                    <a:cubicBezTo>
                      <a:pt x="4182" y="427822"/>
                      <a:pt x="0" y="417725"/>
                      <a:pt x="0" y="407196"/>
                    </a:cubicBezTo>
                    <a:lnTo>
                      <a:pt x="0" y="39696"/>
                    </a:lnTo>
                    <a:cubicBezTo>
                      <a:pt x="0" y="29168"/>
                      <a:pt x="4182" y="19071"/>
                      <a:pt x="11627" y="11627"/>
                    </a:cubicBezTo>
                    <a:cubicBezTo>
                      <a:pt x="19071" y="4182"/>
                      <a:pt x="29168" y="0"/>
                      <a:pt x="39696" y="0"/>
                    </a:cubicBezTo>
                    <a:close/>
                  </a:path>
                </a:pathLst>
              </a:custGeom>
              <a:solidFill>
                <a:srgbClr val="8C7753">
                  <a:alpha val="25882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28575"/>
                <a:ext cx="1943460" cy="418318"/>
              </a:xfrm>
              <a:prstGeom prst="rect">
                <a:avLst/>
              </a:prstGeom>
            </p:spPr>
            <p:txBody>
              <a:bodyPr anchor="ctr" rtlCol="false" tIns="45650" lIns="45650" bIns="45650" rIns="45650"/>
              <a:lstStyle/>
              <a:p>
                <a:pPr algn="ctr">
                  <a:lnSpc>
                    <a:spcPts val="1871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265307" y="782350"/>
              <a:ext cx="8310675" cy="964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35"/>
                </a:lnSpc>
                <a:spcBef>
                  <a:spcPct val="0"/>
                </a:spcBef>
              </a:pPr>
              <a:r>
                <a:rPr lang="en-US" sz="189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Hit Rate at 10 → de cada 100 usuarios, ¿a cuántos les aparece el ítem correcto entre los 10 recomendados?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354283" y="122212"/>
              <a:ext cx="1693321" cy="595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4"/>
                </a:lnSpc>
                <a:spcBef>
                  <a:spcPct val="0"/>
                </a:spcBef>
              </a:pPr>
              <a:r>
                <a:rPr lang="en-US" b="true" sz="2695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HR@10 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182174" y="150656"/>
              <a:ext cx="492842" cy="470440"/>
            </a:xfrm>
            <a:custGeom>
              <a:avLst/>
              <a:gdLst/>
              <a:ahLst/>
              <a:cxnLst/>
              <a:rect r="r" b="b" t="t" l="l"/>
              <a:pathLst>
                <a:path h="470440" w="492842">
                  <a:moveTo>
                    <a:pt x="0" y="0"/>
                  </a:moveTo>
                  <a:lnTo>
                    <a:pt x="492842" y="0"/>
                  </a:lnTo>
                  <a:lnTo>
                    <a:pt x="492842" y="470440"/>
                  </a:lnTo>
                  <a:lnTo>
                    <a:pt x="0" y="470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1231146" y="5961734"/>
            <a:ext cx="6028154" cy="3589466"/>
          </a:xfrm>
          <a:custGeom>
            <a:avLst/>
            <a:gdLst/>
            <a:ahLst/>
            <a:cxnLst/>
            <a:rect r="r" b="b" t="t" l="l"/>
            <a:pathLst>
              <a:path h="3589466" w="6028154">
                <a:moveTo>
                  <a:pt x="0" y="0"/>
                </a:moveTo>
                <a:lnTo>
                  <a:pt x="6028154" y="0"/>
                </a:lnTo>
                <a:lnTo>
                  <a:pt x="6028154" y="3589466"/>
                </a:lnTo>
                <a:lnTo>
                  <a:pt x="0" y="3589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0769" t="0" r="0" b="-22646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21892" y="5838449"/>
            <a:ext cx="560682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</a:t>
            </a:r>
            <a:r>
              <a:rPr lang="en-US" b="true" sz="3499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ong</a:t>
            </a:r>
            <a:r>
              <a:rPr lang="en-US" b="true" sz="3499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  <a:r>
              <a:rPr lang="en-US" b="true" sz="3499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3499" strike="noStrike" u="non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ail item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1295" y="6811587"/>
            <a:ext cx="7762705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240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~71.4% de los items tienen ≤30 interacciones,</a:t>
            </a:r>
            <a:r>
              <a:rPr lang="en-US" sz="24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y el modelo rinde mucho mejor en los populares.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107963" y="667312"/>
            <a:ext cx="2151337" cy="722776"/>
            <a:chOff x="0" y="0"/>
            <a:chExt cx="2868449" cy="96370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698947" y="320314"/>
              <a:ext cx="2169501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PROBLEMA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63520" y="63520"/>
              <a:ext cx="836661" cy="836661"/>
            </a:xfrm>
            <a:custGeom>
              <a:avLst/>
              <a:gdLst/>
              <a:ahLst/>
              <a:cxnLst/>
              <a:rect r="r" b="b" t="t" l="l"/>
              <a:pathLst>
                <a:path h="836661" w="836661">
                  <a:moveTo>
                    <a:pt x="0" y="0"/>
                  </a:moveTo>
                  <a:lnTo>
                    <a:pt x="836661" y="0"/>
                  </a:lnTo>
                  <a:lnTo>
                    <a:pt x="836661" y="836661"/>
                  </a:lnTo>
                  <a:lnTo>
                    <a:pt x="0" y="836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23950"/>
            <a:ext cx="10899300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b="true" sz="4500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FORMALMENTE...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890231"/>
            <a:ext cx="6055903" cy="3556818"/>
            <a:chOff x="0" y="0"/>
            <a:chExt cx="8074537" cy="47424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477834" y="1490464"/>
              <a:ext cx="5596704" cy="920413"/>
            </a:xfrm>
            <a:custGeom>
              <a:avLst/>
              <a:gdLst/>
              <a:ahLst/>
              <a:cxnLst/>
              <a:rect r="r" b="b" t="t" l="l"/>
              <a:pathLst>
                <a:path h="920413" w="5596704">
                  <a:moveTo>
                    <a:pt x="0" y="0"/>
                  </a:moveTo>
                  <a:lnTo>
                    <a:pt x="5596703" y="0"/>
                  </a:lnTo>
                  <a:lnTo>
                    <a:pt x="5596703" y="920412"/>
                  </a:lnTo>
                  <a:lnTo>
                    <a:pt x="0" y="920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77834" y="3517587"/>
              <a:ext cx="5596704" cy="993095"/>
            </a:xfrm>
            <a:custGeom>
              <a:avLst/>
              <a:gdLst/>
              <a:ahLst/>
              <a:cxnLst/>
              <a:rect r="r" b="b" t="t" l="l"/>
              <a:pathLst>
                <a:path h="993095" w="5596704">
                  <a:moveTo>
                    <a:pt x="0" y="0"/>
                  </a:moveTo>
                  <a:lnTo>
                    <a:pt x="5596703" y="0"/>
                  </a:lnTo>
                  <a:lnTo>
                    <a:pt x="5596703" y="993096"/>
                  </a:lnTo>
                  <a:lnTo>
                    <a:pt x="0" y="993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152" r="0" b="-2152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52545" y="1160065"/>
              <a:ext cx="1581210" cy="1581210"/>
            </a:xfrm>
            <a:custGeom>
              <a:avLst/>
              <a:gdLst/>
              <a:ahLst/>
              <a:cxnLst/>
              <a:rect r="r" b="b" t="t" l="l"/>
              <a:pathLst>
                <a:path h="1581210" w="1581210">
                  <a:moveTo>
                    <a:pt x="0" y="0"/>
                  </a:moveTo>
                  <a:lnTo>
                    <a:pt x="1581211" y="0"/>
                  </a:lnTo>
                  <a:lnTo>
                    <a:pt x="1581211" y="1581210"/>
                  </a:lnTo>
                  <a:lnTo>
                    <a:pt x="0" y="1581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52545" y="3161214"/>
              <a:ext cx="1581210" cy="1581210"/>
            </a:xfrm>
            <a:custGeom>
              <a:avLst/>
              <a:gdLst/>
              <a:ahLst/>
              <a:cxnLst/>
              <a:rect r="r" b="b" t="t" l="l"/>
              <a:pathLst>
                <a:path h="1581210" w="1581210">
                  <a:moveTo>
                    <a:pt x="0" y="0"/>
                  </a:moveTo>
                  <a:lnTo>
                    <a:pt x="1581211" y="0"/>
                  </a:lnTo>
                  <a:lnTo>
                    <a:pt x="1581211" y="1581210"/>
                  </a:lnTo>
                  <a:lnTo>
                    <a:pt x="0" y="1581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57150"/>
              <a:ext cx="4955667" cy="628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41"/>
                </a:lnSpc>
              </a:pPr>
              <a:r>
                <a:rPr lang="en-US" sz="3410" b="true">
                  <a:solidFill>
                    <a:srgbClr val="00471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Usuarios e items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43682" y="7987739"/>
            <a:ext cx="2258804" cy="1831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Todos los usuarios/ítems menos la cabeza → </a:t>
            </a:r>
            <a:r>
              <a:rPr lang="en-US" sz="21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el 80%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097194"/>
            <a:ext cx="5668931" cy="4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3410" b="true">
                <a:solidFill>
                  <a:srgbClr val="004717"/>
                </a:solidFill>
                <a:latin typeface="Inter Medium"/>
                <a:ea typeface="Inter Medium"/>
                <a:cs typeface="Inter Medium"/>
                <a:sym typeface="Inter Medium"/>
              </a:rPr>
              <a:t>Segmentación por grupos</a:t>
            </a:r>
          </a:p>
        </p:txBody>
      </p:sp>
      <p:sp>
        <p:nvSpPr>
          <p:cNvPr name="Freeform 11" id="11"/>
          <p:cNvSpPr/>
          <p:nvPr/>
        </p:nvSpPr>
        <p:spPr>
          <a:xfrm flipH="true" flipV="true" rot="-4875818">
            <a:off x="3328229" y="6007450"/>
            <a:ext cx="1069873" cy="352085"/>
          </a:xfrm>
          <a:custGeom>
            <a:avLst/>
            <a:gdLst/>
            <a:ahLst/>
            <a:cxnLst/>
            <a:rect r="r" b="b" t="t" l="l"/>
            <a:pathLst>
              <a:path h="352085" w="1069873">
                <a:moveTo>
                  <a:pt x="1069873" y="352085"/>
                </a:moveTo>
                <a:lnTo>
                  <a:pt x="0" y="352085"/>
                </a:lnTo>
                <a:lnTo>
                  <a:pt x="0" y="0"/>
                </a:lnTo>
                <a:lnTo>
                  <a:pt x="1069873" y="0"/>
                </a:lnTo>
                <a:lnTo>
                  <a:pt x="1069873" y="35208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446303" y="8102039"/>
            <a:ext cx="3703178" cy="625889"/>
          </a:xfrm>
          <a:custGeom>
            <a:avLst/>
            <a:gdLst/>
            <a:ahLst/>
            <a:cxnLst/>
            <a:rect r="r" b="b" t="t" l="l"/>
            <a:pathLst>
              <a:path h="625889" w="3703178">
                <a:moveTo>
                  <a:pt x="0" y="0"/>
                </a:moveTo>
                <a:lnTo>
                  <a:pt x="3703178" y="0"/>
                </a:lnTo>
                <a:lnTo>
                  <a:pt x="3703178" y="625889"/>
                </a:lnTo>
                <a:lnTo>
                  <a:pt x="0" y="6258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446303" y="9150747"/>
            <a:ext cx="3638300" cy="668840"/>
          </a:xfrm>
          <a:custGeom>
            <a:avLst/>
            <a:gdLst/>
            <a:ahLst/>
            <a:cxnLst/>
            <a:rect r="r" b="b" t="t" l="l"/>
            <a:pathLst>
              <a:path h="668840" w="3638300">
                <a:moveTo>
                  <a:pt x="0" y="0"/>
                </a:moveTo>
                <a:lnTo>
                  <a:pt x="3638300" y="0"/>
                </a:lnTo>
                <a:lnTo>
                  <a:pt x="3638300" y="668840"/>
                </a:lnTo>
                <a:lnTo>
                  <a:pt x="0" y="6688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3109" r="0" b="-3109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5107963" y="667312"/>
            <a:ext cx="2151337" cy="722776"/>
            <a:chOff x="0" y="0"/>
            <a:chExt cx="2868449" cy="96370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698947" y="320314"/>
              <a:ext cx="2169501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PROBLEMA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63520" y="63520"/>
              <a:ext cx="836661" cy="836661"/>
            </a:xfrm>
            <a:custGeom>
              <a:avLst/>
              <a:gdLst/>
              <a:ahLst/>
              <a:cxnLst/>
              <a:rect r="r" b="b" t="t" l="l"/>
              <a:pathLst>
                <a:path h="836661" w="836661">
                  <a:moveTo>
                    <a:pt x="0" y="0"/>
                  </a:moveTo>
                  <a:lnTo>
                    <a:pt x="836661" y="0"/>
                  </a:lnTo>
                  <a:lnTo>
                    <a:pt x="836661" y="836661"/>
                  </a:lnTo>
                  <a:lnTo>
                    <a:pt x="0" y="836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90231"/>
            <a:ext cx="6055903" cy="3556818"/>
            <a:chOff x="0" y="0"/>
            <a:chExt cx="8074537" cy="47424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477834" y="1490464"/>
              <a:ext cx="5596704" cy="920413"/>
            </a:xfrm>
            <a:custGeom>
              <a:avLst/>
              <a:gdLst/>
              <a:ahLst/>
              <a:cxnLst/>
              <a:rect r="r" b="b" t="t" l="l"/>
              <a:pathLst>
                <a:path h="920413" w="5596704">
                  <a:moveTo>
                    <a:pt x="0" y="0"/>
                  </a:moveTo>
                  <a:lnTo>
                    <a:pt x="5596703" y="0"/>
                  </a:lnTo>
                  <a:lnTo>
                    <a:pt x="5596703" y="920412"/>
                  </a:lnTo>
                  <a:lnTo>
                    <a:pt x="0" y="920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477834" y="3517587"/>
              <a:ext cx="5596704" cy="993095"/>
            </a:xfrm>
            <a:custGeom>
              <a:avLst/>
              <a:gdLst/>
              <a:ahLst/>
              <a:cxnLst/>
              <a:rect r="r" b="b" t="t" l="l"/>
              <a:pathLst>
                <a:path h="993095" w="5596704">
                  <a:moveTo>
                    <a:pt x="0" y="0"/>
                  </a:moveTo>
                  <a:lnTo>
                    <a:pt x="5596703" y="0"/>
                  </a:lnTo>
                  <a:lnTo>
                    <a:pt x="5596703" y="993096"/>
                  </a:lnTo>
                  <a:lnTo>
                    <a:pt x="0" y="993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152" r="0" b="-2152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52545" y="1160065"/>
              <a:ext cx="1581210" cy="1581210"/>
            </a:xfrm>
            <a:custGeom>
              <a:avLst/>
              <a:gdLst/>
              <a:ahLst/>
              <a:cxnLst/>
              <a:rect r="r" b="b" t="t" l="l"/>
              <a:pathLst>
                <a:path h="1581210" w="1581210">
                  <a:moveTo>
                    <a:pt x="0" y="0"/>
                  </a:moveTo>
                  <a:lnTo>
                    <a:pt x="1581211" y="0"/>
                  </a:lnTo>
                  <a:lnTo>
                    <a:pt x="1581211" y="1581210"/>
                  </a:lnTo>
                  <a:lnTo>
                    <a:pt x="0" y="1581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52545" y="3161214"/>
              <a:ext cx="1581210" cy="1581210"/>
            </a:xfrm>
            <a:custGeom>
              <a:avLst/>
              <a:gdLst/>
              <a:ahLst/>
              <a:cxnLst/>
              <a:rect r="r" b="b" t="t" l="l"/>
              <a:pathLst>
                <a:path h="1581210" w="1581210">
                  <a:moveTo>
                    <a:pt x="0" y="0"/>
                  </a:moveTo>
                  <a:lnTo>
                    <a:pt x="1581211" y="0"/>
                  </a:lnTo>
                  <a:lnTo>
                    <a:pt x="1581211" y="1581210"/>
                  </a:lnTo>
                  <a:lnTo>
                    <a:pt x="0" y="1581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57150"/>
              <a:ext cx="4955667" cy="628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41"/>
                </a:lnSpc>
              </a:pPr>
              <a:r>
                <a:rPr lang="en-US" sz="3410" b="true">
                  <a:solidFill>
                    <a:srgbClr val="00471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Usuarios e items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-4875818">
            <a:off x="3328229" y="6007450"/>
            <a:ext cx="1069873" cy="352085"/>
          </a:xfrm>
          <a:custGeom>
            <a:avLst/>
            <a:gdLst/>
            <a:ahLst/>
            <a:cxnLst/>
            <a:rect r="r" b="b" t="t" l="l"/>
            <a:pathLst>
              <a:path h="352085" w="1069873">
                <a:moveTo>
                  <a:pt x="1069873" y="352085"/>
                </a:moveTo>
                <a:lnTo>
                  <a:pt x="0" y="352085"/>
                </a:lnTo>
                <a:lnTo>
                  <a:pt x="0" y="0"/>
                </a:lnTo>
                <a:lnTo>
                  <a:pt x="1069873" y="0"/>
                </a:lnTo>
                <a:lnTo>
                  <a:pt x="1069873" y="35208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46303" y="8102039"/>
            <a:ext cx="3703178" cy="625889"/>
          </a:xfrm>
          <a:custGeom>
            <a:avLst/>
            <a:gdLst/>
            <a:ahLst/>
            <a:cxnLst/>
            <a:rect r="r" b="b" t="t" l="l"/>
            <a:pathLst>
              <a:path h="625889" w="3703178">
                <a:moveTo>
                  <a:pt x="0" y="0"/>
                </a:moveTo>
                <a:lnTo>
                  <a:pt x="3703178" y="0"/>
                </a:lnTo>
                <a:lnTo>
                  <a:pt x="3703178" y="625889"/>
                </a:lnTo>
                <a:lnTo>
                  <a:pt x="0" y="6258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46303" y="9150747"/>
            <a:ext cx="3638300" cy="668840"/>
          </a:xfrm>
          <a:custGeom>
            <a:avLst/>
            <a:gdLst/>
            <a:ahLst/>
            <a:cxnLst/>
            <a:rect r="r" b="b" t="t" l="l"/>
            <a:pathLst>
              <a:path h="668840" w="3638300">
                <a:moveTo>
                  <a:pt x="0" y="0"/>
                </a:moveTo>
                <a:lnTo>
                  <a:pt x="3638300" y="0"/>
                </a:lnTo>
                <a:lnTo>
                  <a:pt x="3638300" y="668840"/>
                </a:lnTo>
                <a:lnTo>
                  <a:pt x="0" y="6688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3109" r="0" b="-310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02375" y="4218125"/>
            <a:ext cx="4974847" cy="678811"/>
          </a:xfrm>
          <a:custGeom>
            <a:avLst/>
            <a:gdLst/>
            <a:ahLst/>
            <a:cxnLst/>
            <a:rect r="r" b="b" t="t" l="l"/>
            <a:pathLst>
              <a:path h="678811" w="4974847">
                <a:moveTo>
                  <a:pt x="0" y="0"/>
                </a:moveTo>
                <a:lnTo>
                  <a:pt x="4974848" y="0"/>
                </a:lnTo>
                <a:lnTo>
                  <a:pt x="4974848" y="678811"/>
                </a:lnTo>
                <a:lnTo>
                  <a:pt x="0" y="6788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44000" y="3710129"/>
            <a:ext cx="1433371" cy="1433371"/>
          </a:xfrm>
          <a:custGeom>
            <a:avLst/>
            <a:gdLst/>
            <a:ahLst/>
            <a:cxnLst/>
            <a:rect r="r" b="b" t="t" l="l"/>
            <a:pathLst>
              <a:path h="1433371" w="1433371">
                <a:moveTo>
                  <a:pt x="0" y="0"/>
                </a:moveTo>
                <a:lnTo>
                  <a:pt x="1433371" y="0"/>
                </a:lnTo>
                <a:lnTo>
                  <a:pt x="1433371" y="1433371"/>
                </a:lnTo>
                <a:lnTo>
                  <a:pt x="0" y="14333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1607857" y="5064117"/>
            <a:ext cx="4369366" cy="733862"/>
            <a:chOff x="0" y="0"/>
            <a:chExt cx="5825821" cy="97848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14300"/>
              <a:ext cx="5124098" cy="1092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524"/>
                </a:lnSpc>
              </a:pPr>
              <a:r>
                <a:rPr lang="en-US" sz="2002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nᵤ: </a:t>
              </a:r>
              <a:r>
                <a:rPr lang="en-US" sz="200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indica con cuántos ítems ha interactuado el usuario u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5332979" y="254021"/>
              <a:ext cx="492842" cy="470440"/>
            </a:xfrm>
            <a:custGeom>
              <a:avLst/>
              <a:gdLst/>
              <a:ahLst/>
              <a:cxnLst/>
              <a:rect r="r" b="b" t="t" l="l"/>
              <a:pathLst>
                <a:path h="470440" w="492842">
                  <a:moveTo>
                    <a:pt x="0" y="0"/>
                  </a:moveTo>
                  <a:lnTo>
                    <a:pt x="492842" y="0"/>
                  </a:lnTo>
                  <a:lnTo>
                    <a:pt x="492842" y="470440"/>
                  </a:lnTo>
                  <a:lnTo>
                    <a:pt x="0" y="470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true" flipV="true" rot="-10800000">
            <a:off x="7645502" y="4557531"/>
            <a:ext cx="1069873" cy="352085"/>
          </a:xfrm>
          <a:custGeom>
            <a:avLst/>
            <a:gdLst/>
            <a:ahLst/>
            <a:cxnLst/>
            <a:rect r="r" b="b" t="t" l="l"/>
            <a:pathLst>
              <a:path h="352085" w="1069873">
                <a:moveTo>
                  <a:pt x="1069873" y="352085"/>
                </a:moveTo>
                <a:lnTo>
                  <a:pt x="0" y="352085"/>
                </a:lnTo>
                <a:lnTo>
                  <a:pt x="0" y="0"/>
                </a:lnTo>
                <a:lnTo>
                  <a:pt x="1069873" y="0"/>
                </a:lnTo>
                <a:lnTo>
                  <a:pt x="1069873" y="35208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1123950"/>
            <a:ext cx="10899300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b="true" sz="4500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FORMALMENTE...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3682" y="7987739"/>
            <a:ext cx="2258804" cy="1831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Todos los usuarios/ítems menos la cabeza → </a:t>
            </a:r>
            <a:r>
              <a:rPr lang="en-US" sz="21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el 80%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7097194"/>
            <a:ext cx="5668931" cy="4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3410" b="true">
                <a:solidFill>
                  <a:srgbClr val="004717"/>
                </a:solidFill>
                <a:latin typeface="Inter Medium"/>
                <a:ea typeface="Inter Medium"/>
                <a:cs typeface="Inter Medium"/>
                <a:sym typeface="Inter Medium"/>
              </a:rPr>
              <a:t>Segmentación por grupos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0" y="2211305"/>
            <a:ext cx="8411306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3000" b="true">
                <a:solidFill>
                  <a:srgbClr val="004717"/>
                </a:solidFill>
                <a:latin typeface="Inter Medium"/>
                <a:ea typeface="Inter Medium"/>
                <a:cs typeface="Inter Medium"/>
                <a:sym typeface="Inter Medium"/>
              </a:rPr>
              <a:t>Cada usuario tiene una secuencia ordenada por tiempo de interacciones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5107963" y="667312"/>
            <a:ext cx="2151337" cy="722776"/>
            <a:chOff x="0" y="0"/>
            <a:chExt cx="2868449" cy="963701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698947" y="320314"/>
              <a:ext cx="2169501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PROBLEMA</a:t>
              </a:r>
            </a:p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63520" y="63520"/>
              <a:ext cx="836661" cy="836661"/>
            </a:xfrm>
            <a:custGeom>
              <a:avLst/>
              <a:gdLst/>
              <a:ahLst/>
              <a:cxnLst/>
              <a:rect r="r" b="b" t="t" l="l"/>
              <a:pathLst>
                <a:path h="836661" w="836661">
                  <a:moveTo>
                    <a:pt x="0" y="0"/>
                  </a:moveTo>
                  <a:lnTo>
                    <a:pt x="836661" y="0"/>
                  </a:lnTo>
                  <a:lnTo>
                    <a:pt x="836661" y="836661"/>
                  </a:lnTo>
                  <a:lnTo>
                    <a:pt x="0" y="836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90231"/>
            <a:ext cx="6055903" cy="3556818"/>
            <a:chOff x="0" y="0"/>
            <a:chExt cx="8074537" cy="47424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477834" y="1490464"/>
              <a:ext cx="5596704" cy="920413"/>
            </a:xfrm>
            <a:custGeom>
              <a:avLst/>
              <a:gdLst/>
              <a:ahLst/>
              <a:cxnLst/>
              <a:rect r="r" b="b" t="t" l="l"/>
              <a:pathLst>
                <a:path h="920413" w="5596704">
                  <a:moveTo>
                    <a:pt x="0" y="0"/>
                  </a:moveTo>
                  <a:lnTo>
                    <a:pt x="5596703" y="0"/>
                  </a:lnTo>
                  <a:lnTo>
                    <a:pt x="5596703" y="920412"/>
                  </a:lnTo>
                  <a:lnTo>
                    <a:pt x="0" y="920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477834" y="3517587"/>
              <a:ext cx="5596704" cy="993095"/>
            </a:xfrm>
            <a:custGeom>
              <a:avLst/>
              <a:gdLst/>
              <a:ahLst/>
              <a:cxnLst/>
              <a:rect r="r" b="b" t="t" l="l"/>
              <a:pathLst>
                <a:path h="993095" w="5596704">
                  <a:moveTo>
                    <a:pt x="0" y="0"/>
                  </a:moveTo>
                  <a:lnTo>
                    <a:pt x="5596703" y="0"/>
                  </a:lnTo>
                  <a:lnTo>
                    <a:pt x="5596703" y="993096"/>
                  </a:lnTo>
                  <a:lnTo>
                    <a:pt x="0" y="993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152" r="0" b="-2152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52545" y="1160065"/>
              <a:ext cx="1581210" cy="1581210"/>
            </a:xfrm>
            <a:custGeom>
              <a:avLst/>
              <a:gdLst/>
              <a:ahLst/>
              <a:cxnLst/>
              <a:rect r="r" b="b" t="t" l="l"/>
              <a:pathLst>
                <a:path h="1581210" w="1581210">
                  <a:moveTo>
                    <a:pt x="0" y="0"/>
                  </a:moveTo>
                  <a:lnTo>
                    <a:pt x="1581211" y="0"/>
                  </a:lnTo>
                  <a:lnTo>
                    <a:pt x="1581211" y="1581210"/>
                  </a:lnTo>
                  <a:lnTo>
                    <a:pt x="0" y="1581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52545" y="3161214"/>
              <a:ext cx="1581210" cy="1581210"/>
            </a:xfrm>
            <a:custGeom>
              <a:avLst/>
              <a:gdLst/>
              <a:ahLst/>
              <a:cxnLst/>
              <a:rect r="r" b="b" t="t" l="l"/>
              <a:pathLst>
                <a:path h="1581210" w="1581210">
                  <a:moveTo>
                    <a:pt x="0" y="0"/>
                  </a:moveTo>
                  <a:lnTo>
                    <a:pt x="1581211" y="0"/>
                  </a:lnTo>
                  <a:lnTo>
                    <a:pt x="1581211" y="1581210"/>
                  </a:lnTo>
                  <a:lnTo>
                    <a:pt x="0" y="1581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57150"/>
              <a:ext cx="4955667" cy="628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41"/>
                </a:lnSpc>
              </a:pPr>
              <a:r>
                <a:rPr lang="en-US" sz="3410" b="true">
                  <a:solidFill>
                    <a:srgbClr val="00471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Usuarios e items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-4875818">
            <a:off x="3328229" y="6007450"/>
            <a:ext cx="1069873" cy="352085"/>
          </a:xfrm>
          <a:custGeom>
            <a:avLst/>
            <a:gdLst/>
            <a:ahLst/>
            <a:cxnLst/>
            <a:rect r="r" b="b" t="t" l="l"/>
            <a:pathLst>
              <a:path h="352085" w="1069873">
                <a:moveTo>
                  <a:pt x="1069873" y="352085"/>
                </a:moveTo>
                <a:lnTo>
                  <a:pt x="0" y="352085"/>
                </a:lnTo>
                <a:lnTo>
                  <a:pt x="0" y="0"/>
                </a:lnTo>
                <a:lnTo>
                  <a:pt x="1069873" y="0"/>
                </a:lnTo>
                <a:lnTo>
                  <a:pt x="1069873" y="35208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46303" y="8102039"/>
            <a:ext cx="3703178" cy="625889"/>
          </a:xfrm>
          <a:custGeom>
            <a:avLst/>
            <a:gdLst/>
            <a:ahLst/>
            <a:cxnLst/>
            <a:rect r="r" b="b" t="t" l="l"/>
            <a:pathLst>
              <a:path h="625889" w="3703178">
                <a:moveTo>
                  <a:pt x="0" y="0"/>
                </a:moveTo>
                <a:lnTo>
                  <a:pt x="3703178" y="0"/>
                </a:lnTo>
                <a:lnTo>
                  <a:pt x="3703178" y="625889"/>
                </a:lnTo>
                <a:lnTo>
                  <a:pt x="0" y="6258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46303" y="9150747"/>
            <a:ext cx="3638300" cy="668840"/>
          </a:xfrm>
          <a:custGeom>
            <a:avLst/>
            <a:gdLst/>
            <a:ahLst/>
            <a:cxnLst/>
            <a:rect r="r" b="b" t="t" l="l"/>
            <a:pathLst>
              <a:path h="668840" w="3638300">
                <a:moveTo>
                  <a:pt x="0" y="0"/>
                </a:moveTo>
                <a:lnTo>
                  <a:pt x="3638300" y="0"/>
                </a:lnTo>
                <a:lnTo>
                  <a:pt x="3638300" y="668840"/>
                </a:lnTo>
                <a:lnTo>
                  <a:pt x="0" y="6688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3109" r="0" b="-310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02375" y="4218125"/>
            <a:ext cx="4974847" cy="678811"/>
          </a:xfrm>
          <a:custGeom>
            <a:avLst/>
            <a:gdLst/>
            <a:ahLst/>
            <a:cxnLst/>
            <a:rect r="r" b="b" t="t" l="l"/>
            <a:pathLst>
              <a:path h="678811" w="4974847">
                <a:moveTo>
                  <a:pt x="0" y="0"/>
                </a:moveTo>
                <a:lnTo>
                  <a:pt x="4974848" y="0"/>
                </a:lnTo>
                <a:lnTo>
                  <a:pt x="4974848" y="678811"/>
                </a:lnTo>
                <a:lnTo>
                  <a:pt x="0" y="6788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44000" y="3710129"/>
            <a:ext cx="1433371" cy="1433371"/>
          </a:xfrm>
          <a:custGeom>
            <a:avLst/>
            <a:gdLst/>
            <a:ahLst/>
            <a:cxnLst/>
            <a:rect r="r" b="b" t="t" l="l"/>
            <a:pathLst>
              <a:path h="1433371" w="1433371">
                <a:moveTo>
                  <a:pt x="0" y="0"/>
                </a:moveTo>
                <a:lnTo>
                  <a:pt x="1433371" y="0"/>
                </a:lnTo>
                <a:lnTo>
                  <a:pt x="1433371" y="1433371"/>
                </a:lnTo>
                <a:lnTo>
                  <a:pt x="0" y="14333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1607857" y="5064117"/>
            <a:ext cx="4369366" cy="733862"/>
            <a:chOff x="0" y="0"/>
            <a:chExt cx="5825821" cy="97848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14300"/>
              <a:ext cx="5124098" cy="1092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524"/>
                </a:lnSpc>
              </a:pPr>
              <a:r>
                <a:rPr lang="en-US" sz="2002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nᵤ: </a:t>
              </a:r>
              <a:r>
                <a:rPr lang="en-US" sz="200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indica con cuántos ítems ha interactuado el usuario u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5332979" y="254021"/>
              <a:ext cx="492842" cy="470440"/>
            </a:xfrm>
            <a:custGeom>
              <a:avLst/>
              <a:gdLst/>
              <a:ahLst/>
              <a:cxnLst/>
              <a:rect r="r" b="b" t="t" l="l"/>
              <a:pathLst>
                <a:path h="470440" w="492842">
                  <a:moveTo>
                    <a:pt x="0" y="0"/>
                  </a:moveTo>
                  <a:lnTo>
                    <a:pt x="492842" y="0"/>
                  </a:lnTo>
                  <a:lnTo>
                    <a:pt x="492842" y="470440"/>
                  </a:lnTo>
                  <a:lnTo>
                    <a:pt x="0" y="470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true" flipV="true" rot="-10800000">
            <a:off x="7645502" y="4557531"/>
            <a:ext cx="1069873" cy="352085"/>
          </a:xfrm>
          <a:custGeom>
            <a:avLst/>
            <a:gdLst/>
            <a:ahLst/>
            <a:cxnLst/>
            <a:rect r="r" b="b" t="t" l="l"/>
            <a:pathLst>
              <a:path h="352085" w="1069873">
                <a:moveTo>
                  <a:pt x="1069873" y="352085"/>
                </a:moveTo>
                <a:lnTo>
                  <a:pt x="0" y="352085"/>
                </a:lnTo>
                <a:lnTo>
                  <a:pt x="0" y="0"/>
                </a:lnTo>
                <a:lnTo>
                  <a:pt x="1069873" y="0"/>
                </a:lnTo>
                <a:lnTo>
                  <a:pt x="1069873" y="35208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-4788331">
            <a:off x="14963169" y="6562919"/>
            <a:ext cx="1069873" cy="352085"/>
          </a:xfrm>
          <a:custGeom>
            <a:avLst/>
            <a:gdLst/>
            <a:ahLst/>
            <a:cxnLst/>
            <a:rect r="r" b="b" t="t" l="l"/>
            <a:pathLst>
              <a:path h="352085" w="1069873">
                <a:moveTo>
                  <a:pt x="1069873" y="0"/>
                </a:moveTo>
                <a:lnTo>
                  <a:pt x="0" y="0"/>
                </a:lnTo>
                <a:lnTo>
                  <a:pt x="0" y="352085"/>
                </a:lnTo>
                <a:lnTo>
                  <a:pt x="1069873" y="352085"/>
                </a:lnTo>
                <a:lnTo>
                  <a:pt x="106987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607857" y="8564298"/>
            <a:ext cx="5109640" cy="793030"/>
          </a:xfrm>
          <a:custGeom>
            <a:avLst/>
            <a:gdLst/>
            <a:ahLst/>
            <a:cxnLst/>
            <a:rect r="r" b="b" t="t" l="l"/>
            <a:pathLst>
              <a:path h="793030" w="5109640">
                <a:moveTo>
                  <a:pt x="0" y="0"/>
                </a:moveTo>
                <a:lnTo>
                  <a:pt x="5109639" y="0"/>
                </a:lnTo>
                <a:lnTo>
                  <a:pt x="5109639" y="793030"/>
                </a:lnTo>
                <a:lnTo>
                  <a:pt x="0" y="79303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144000" y="8102039"/>
            <a:ext cx="1977068" cy="1977068"/>
          </a:xfrm>
          <a:custGeom>
            <a:avLst/>
            <a:gdLst/>
            <a:ahLst/>
            <a:cxnLst/>
            <a:rect r="r" b="b" t="t" l="l"/>
            <a:pathLst>
              <a:path h="1977068" w="1977068">
                <a:moveTo>
                  <a:pt x="0" y="0"/>
                </a:moveTo>
                <a:lnTo>
                  <a:pt x="1977068" y="0"/>
                </a:lnTo>
                <a:lnTo>
                  <a:pt x="1977068" y="1977068"/>
                </a:lnTo>
                <a:lnTo>
                  <a:pt x="0" y="197706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5107963" y="667312"/>
            <a:ext cx="2151337" cy="722776"/>
            <a:chOff x="0" y="0"/>
            <a:chExt cx="2868449" cy="963701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698947" y="320314"/>
              <a:ext cx="2169501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PROBLEMA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63520" y="63520"/>
              <a:ext cx="836661" cy="836661"/>
            </a:xfrm>
            <a:custGeom>
              <a:avLst/>
              <a:gdLst/>
              <a:ahLst/>
              <a:cxnLst/>
              <a:rect r="r" b="b" t="t" l="l"/>
              <a:pathLst>
                <a:path h="836661" w="836661">
                  <a:moveTo>
                    <a:pt x="0" y="0"/>
                  </a:moveTo>
                  <a:lnTo>
                    <a:pt x="836661" y="0"/>
                  </a:lnTo>
                  <a:lnTo>
                    <a:pt x="836661" y="836661"/>
                  </a:lnTo>
                  <a:lnTo>
                    <a:pt x="0" y="836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28700" y="1123950"/>
            <a:ext cx="10899300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b="true" sz="4500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FORMALMENTE...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3682" y="7987739"/>
            <a:ext cx="2258804" cy="1831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Todos los usuarios/ítems menos la cabeza → </a:t>
            </a:r>
            <a:r>
              <a:rPr lang="en-US" sz="21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el 80%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7097194"/>
            <a:ext cx="5668931" cy="4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3410" b="true">
                <a:solidFill>
                  <a:srgbClr val="004717"/>
                </a:solidFill>
                <a:latin typeface="Inter Medium"/>
                <a:ea typeface="Inter Medium"/>
                <a:cs typeface="Inter Medium"/>
                <a:sym typeface="Inter Medium"/>
              </a:rPr>
              <a:t>Segmentación por grupos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0" y="2211305"/>
            <a:ext cx="8411306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3000" b="true">
                <a:solidFill>
                  <a:srgbClr val="004717"/>
                </a:solidFill>
                <a:latin typeface="Inter Medium"/>
                <a:ea typeface="Inter Medium"/>
                <a:cs typeface="Inter Medium"/>
                <a:sym typeface="Inter Medium"/>
              </a:rPr>
              <a:t>Cada usuario tiene una secuencia ordenada por tiempo de interacciones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0" y="7525211"/>
            <a:ext cx="7355535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3000" b="true">
                <a:solidFill>
                  <a:srgbClr val="004717"/>
                </a:solidFill>
                <a:latin typeface="Inter Medium"/>
                <a:ea typeface="Inter Medium"/>
                <a:cs typeface="Inter Medium"/>
                <a:sym typeface="Inter Medium"/>
              </a:rPr>
              <a:t>El objetivo es predecir el siguiente ítem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7963" y="667312"/>
            <a:ext cx="2981263" cy="722776"/>
            <a:chOff x="0" y="0"/>
            <a:chExt cx="3975017" cy="96370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698947" y="320314"/>
              <a:ext cx="3276070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ESTADO DEL ARTE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170660" y="728126"/>
            <a:ext cx="601147" cy="601147"/>
          </a:xfrm>
          <a:custGeom>
            <a:avLst/>
            <a:gdLst/>
            <a:ahLst/>
            <a:cxnLst/>
            <a:rect r="r" b="b" t="t" l="l"/>
            <a:pathLst>
              <a:path h="601147" w="601147">
                <a:moveTo>
                  <a:pt x="0" y="0"/>
                </a:moveTo>
                <a:lnTo>
                  <a:pt x="601147" y="0"/>
                </a:lnTo>
                <a:lnTo>
                  <a:pt x="601147" y="601148"/>
                </a:lnTo>
                <a:lnTo>
                  <a:pt x="0" y="6011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146248"/>
            <a:ext cx="9571055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b="true" sz="4500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TRABAJO PREVIO </a:t>
            </a:r>
          </a:p>
          <a:p>
            <a:pPr algn="l">
              <a:lnSpc>
                <a:spcPts val="4410"/>
              </a:lnSpc>
            </a:pPr>
            <a:r>
              <a:rPr lang="en-US" b="true" sz="4500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- RECOMENDACIÓN SECUENCIAL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5445496"/>
            <a:ext cx="5416412" cy="3299247"/>
            <a:chOff x="0" y="0"/>
            <a:chExt cx="7221883" cy="439899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529759" cy="1438260"/>
              <a:chOff x="0" y="0"/>
              <a:chExt cx="908436" cy="28844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08436" cy="288441"/>
              </a:xfrm>
              <a:custGeom>
                <a:avLst/>
                <a:gdLst/>
                <a:ahLst/>
                <a:cxnLst/>
                <a:rect r="r" b="b" t="t" l="l"/>
                <a:pathLst>
                  <a:path h="288441" w="908436">
                    <a:moveTo>
                      <a:pt x="0" y="0"/>
                    </a:moveTo>
                    <a:lnTo>
                      <a:pt x="705236" y="0"/>
                    </a:lnTo>
                    <a:lnTo>
                      <a:pt x="908436" y="144220"/>
                    </a:lnTo>
                    <a:lnTo>
                      <a:pt x="705236" y="288441"/>
                    </a:lnTo>
                    <a:lnTo>
                      <a:pt x="0" y="288441"/>
                    </a:lnTo>
                    <a:lnTo>
                      <a:pt x="203200" y="1442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717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77800" y="28575"/>
                <a:ext cx="654436" cy="2598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351586" y="356545"/>
              <a:ext cx="2177335" cy="772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49"/>
                </a:lnSpc>
              </a:pPr>
              <a:r>
                <a:rPr lang="en-US" b="true" sz="2499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GRU4REC </a:t>
              </a:r>
            </a:p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(2</a:t>
              </a:r>
              <a:r>
                <a:rPr lang="en-US" b="true" sz="2000" strike="noStrike" u="none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01</a:t>
              </a:r>
              <a:r>
                <a:rPr lang="en-US" b="true" sz="2000" strike="noStrike" u="none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6)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808857" y="2231816"/>
              <a:ext cx="6413027" cy="17820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696"/>
                </a:lnSpc>
              </a:pPr>
              <a:r>
                <a:rPr lang="en-US" sz="21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Introduce redes recurrentes (GRU) para modelar sesiones: La secuencia se procesa paso a paso.</a:t>
              </a:r>
            </a:p>
          </p:txBody>
        </p:sp>
        <p:sp>
          <p:nvSpPr>
            <p:cNvPr name="AutoShape 15" id="15"/>
            <p:cNvSpPr/>
            <p:nvPr/>
          </p:nvSpPr>
          <p:spPr>
            <a:xfrm>
              <a:off x="633055" y="1285784"/>
              <a:ext cx="0" cy="3113211"/>
            </a:xfrm>
            <a:prstGeom prst="line">
              <a:avLst/>
            </a:prstGeom>
            <a:ln cap="rnd" w="50800">
              <a:solidFill>
                <a:srgbClr val="004717"/>
              </a:solidFill>
              <a:prstDash val="solid"/>
              <a:headEnd type="none" len="sm" w="sm"/>
              <a:tailEnd type="oval" len="lg" w="lg"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887361" y="3294627"/>
            <a:ext cx="6599299" cy="3233353"/>
            <a:chOff x="0" y="0"/>
            <a:chExt cx="8799065" cy="4311137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2872877"/>
              <a:ext cx="4529759" cy="1438260"/>
              <a:chOff x="0" y="0"/>
              <a:chExt cx="908436" cy="28844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08436" cy="288441"/>
              </a:xfrm>
              <a:custGeom>
                <a:avLst/>
                <a:gdLst/>
                <a:ahLst/>
                <a:cxnLst/>
                <a:rect r="r" b="b" t="t" l="l"/>
                <a:pathLst>
                  <a:path h="288441" w="908436">
                    <a:moveTo>
                      <a:pt x="0" y="0"/>
                    </a:moveTo>
                    <a:lnTo>
                      <a:pt x="705236" y="0"/>
                    </a:lnTo>
                    <a:lnTo>
                      <a:pt x="908436" y="144220"/>
                    </a:lnTo>
                    <a:lnTo>
                      <a:pt x="705236" y="288441"/>
                    </a:lnTo>
                    <a:lnTo>
                      <a:pt x="0" y="288441"/>
                    </a:lnTo>
                    <a:lnTo>
                      <a:pt x="203200" y="1442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F8B4E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77800" y="28575"/>
                <a:ext cx="654436" cy="2598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480488" y="3229422"/>
              <a:ext cx="2177335" cy="772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49"/>
                </a:lnSpc>
              </a:pPr>
              <a:r>
                <a:rPr lang="en-US" b="true" sz="2499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SASREC </a:t>
              </a:r>
            </a:p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(2</a:t>
              </a:r>
              <a:r>
                <a:rPr lang="en-US" b="true" sz="2000" strike="noStrike" u="none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018</a:t>
              </a:r>
              <a:r>
                <a:rPr lang="en-US" b="true" sz="2000" strike="noStrike" u="none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)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718212" y="224536"/>
              <a:ext cx="8080853" cy="17820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6"/>
                </a:lnSpc>
              </a:pPr>
              <a:r>
                <a:rPr lang="en-US" sz="21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El modelo pondera qué items pasados importan y captura dependencias de largo plazo mejor que una RNN, además de ser paralelizable.</a:t>
              </a:r>
            </a:p>
          </p:txBody>
        </p:sp>
        <p:sp>
          <p:nvSpPr>
            <p:cNvPr name="AutoShape 22" id="22"/>
            <p:cNvSpPr/>
            <p:nvPr/>
          </p:nvSpPr>
          <p:spPr>
            <a:xfrm flipV="true">
              <a:off x="463933" y="0"/>
              <a:ext cx="0" cy="2926437"/>
            </a:xfrm>
            <a:prstGeom prst="line">
              <a:avLst/>
            </a:prstGeom>
            <a:ln cap="rnd" w="50800">
              <a:solidFill>
                <a:srgbClr val="3F8B4E"/>
              </a:solidFill>
              <a:prstDash val="solid"/>
              <a:headEnd type="none" len="sm" w="sm"/>
              <a:tailEnd type="oval" len="lg" w="lg"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708359" y="5445496"/>
            <a:ext cx="5386091" cy="3299247"/>
            <a:chOff x="0" y="0"/>
            <a:chExt cx="7181455" cy="4398995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4529759" cy="1438260"/>
              <a:chOff x="0" y="0"/>
              <a:chExt cx="908436" cy="28844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08436" cy="288441"/>
              </a:xfrm>
              <a:custGeom>
                <a:avLst/>
                <a:gdLst/>
                <a:ahLst/>
                <a:cxnLst/>
                <a:rect r="r" b="b" t="t" l="l"/>
                <a:pathLst>
                  <a:path h="288441" w="908436">
                    <a:moveTo>
                      <a:pt x="0" y="0"/>
                    </a:moveTo>
                    <a:lnTo>
                      <a:pt x="705236" y="0"/>
                    </a:lnTo>
                    <a:lnTo>
                      <a:pt x="908436" y="144220"/>
                    </a:lnTo>
                    <a:lnTo>
                      <a:pt x="705236" y="288441"/>
                    </a:lnTo>
                    <a:lnTo>
                      <a:pt x="0" y="288441"/>
                    </a:lnTo>
                    <a:lnTo>
                      <a:pt x="203200" y="1442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717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77800" y="28575"/>
                <a:ext cx="654436" cy="2598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1351586" y="356545"/>
              <a:ext cx="2295927" cy="772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49"/>
                </a:lnSpc>
              </a:pPr>
              <a:r>
                <a:rPr lang="en-US" b="true" sz="2499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BERT4REC </a:t>
              </a:r>
            </a:p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(2</a:t>
              </a:r>
              <a:r>
                <a:rPr lang="en-US" b="true" sz="2000" strike="noStrike" u="none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019</a:t>
              </a:r>
              <a:r>
                <a:rPr lang="en-US" b="true" sz="2000" strike="noStrike" u="none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)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768429" y="2085198"/>
              <a:ext cx="6413027" cy="17820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6"/>
                </a:lnSpc>
              </a:pPr>
              <a:r>
                <a:rPr lang="en-US" sz="21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Usa self-atte</a:t>
              </a:r>
              <a:r>
                <a:rPr lang="en-US" sz="21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ntion bidireccional + enmascarar items y predice, inspirada en BERT.</a:t>
              </a:r>
            </a:p>
          </p:txBody>
        </p:sp>
        <p:sp>
          <p:nvSpPr>
            <p:cNvPr name="AutoShape 29" id="29"/>
            <p:cNvSpPr/>
            <p:nvPr/>
          </p:nvSpPr>
          <p:spPr>
            <a:xfrm>
              <a:off x="582069" y="1285737"/>
              <a:ext cx="0" cy="3113258"/>
            </a:xfrm>
            <a:prstGeom prst="line">
              <a:avLst/>
            </a:prstGeom>
            <a:ln cap="rnd" w="50800">
              <a:solidFill>
                <a:srgbClr val="004717"/>
              </a:solidFill>
              <a:prstDash val="solid"/>
              <a:headEnd type="none" len="sm" w="sm"/>
              <a:tailEnd type="oval" len="lg" w="lg"/>
            </a:ln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70660" y="728126"/>
            <a:ext cx="601147" cy="601147"/>
          </a:xfrm>
          <a:custGeom>
            <a:avLst/>
            <a:gdLst/>
            <a:ahLst/>
            <a:cxnLst/>
            <a:rect r="r" b="b" t="t" l="l"/>
            <a:pathLst>
              <a:path h="601147" w="601147">
                <a:moveTo>
                  <a:pt x="0" y="0"/>
                </a:moveTo>
                <a:lnTo>
                  <a:pt x="601147" y="0"/>
                </a:lnTo>
                <a:lnTo>
                  <a:pt x="601147" y="601148"/>
                </a:lnTo>
                <a:lnTo>
                  <a:pt x="0" y="6011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46248"/>
            <a:ext cx="9571055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b="true" sz="4500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TRABAJO PREVIO </a:t>
            </a:r>
          </a:p>
          <a:p>
            <a:pPr algn="l">
              <a:lnSpc>
                <a:spcPts val="4410"/>
              </a:lnSpc>
            </a:pPr>
            <a:r>
              <a:rPr lang="en-US" b="true" sz="4500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- PROBLEMA LONG-TAIL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73259" y="5445496"/>
            <a:ext cx="5416412" cy="3299247"/>
            <a:chOff x="0" y="0"/>
            <a:chExt cx="7221883" cy="439899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529759" cy="1438260"/>
              <a:chOff x="0" y="0"/>
              <a:chExt cx="908436" cy="288441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08436" cy="288441"/>
              </a:xfrm>
              <a:custGeom>
                <a:avLst/>
                <a:gdLst/>
                <a:ahLst/>
                <a:cxnLst/>
                <a:rect r="r" b="b" t="t" l="l"/>
                <a:pathLst>
                  <a:path h="288441" w="908436">
                    <a:moveTo>
                      <a:pt x="0" y="0"/>
                    </a:moveTo>
                    <a:lnTo>
                      <a:pt x="705236" y="0"/>
                    </a:lnTo>
                    <a:lnTo>
                      <a:pt x="908436" y="144220"/>
                    </a:lnTo>
                    <a:lnTo>
                      <a:pt x="705236" y="288441"/>
                    </a:lnTo>
                    <a:lnTo>
                      <a:pt x="0" y="288441"/>
                    </a:lnTo>
                    <a:lnTo>
                      <a:pt x="203200" y="1442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717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177800" y="28575"/>
                <a:ext cx="654436" cy="2598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351586" y="356545"/>
              <a:ext cx="2177335" cy="772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49"/>
                </a:lnSpc>
              </a:pPr>
              <a:r>
                <a:rPr lang="en-US" b="true" sz="2499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GRU4REC </a:t>
              </a:r>
            </a:p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(2</a:t>
              </a:r>
              <a:r>
                <a:rPr lang="en-US" b="true" sz="2000" strike="noStrike" u="none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01</a:t>
              </a:r>
              <a:r>
                <a:rPr lang="en-US" b="true" sz="2000" strike="noStrike" u="none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6)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08857" y="2231816"/>
              <a:ext cx="6413027" cy="17820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696"/>
                </a:lnSpc>
              </a:pPr>
              <a:r>
                <a:rPr lang="en-US" sz="21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Introduce redes recurrentes (GRU) para modelar sesiones: La secuencia se procesa paso a paso.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633055" y="1285784"/>
              <a:ext cx="0" cy="3113211"/>
            </a:xfrm>
            <a:prstGeom prst="line">
              <a:avLst/>
            </a:prstGeom>
            <a:ln cap="rnd" w="50800">
              <a:solidFill>
                <a:srgbClr val="004717"/>
              </a:solidFill>
              <a:prstDash val="solid"/>
              <a:headEnd type="none" len="sm" w="sm"/>
              <a:tailEnd type="oval" len="lg" w="lg"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3531920" y="3099134"/>
            <a:ext cx="5710696" cy="3428846"/>
            <a:chOff x="0" y="0"/>
            <a:chExt cx="7614261" cy="4571794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3133534"/>
              <a:ext cx="4529759" cy="1438260"/>
              <a:chOff x="0" y="0"/>
              <a:chExt cx="908436" cy="28844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08436" cy="288441"/>
              </a:xfrm>
              <a:custGeom>
                <a:avLst/>
                <a:gdLst/>
                <a:ahLst/>
                <a:cxnLst/>
                <a:rect r="r" b="b" t="t" l="l"/>
                <a:pathLst>
                  <a:path h="288441" w="908436">
                    <a:moveTo>
                      <a:pt x="0" y="0"/>
                    </a:moveTo>
                    <a:lnTo>
                      <a:pt x="705236" y="0"/>
                    </a:lnTo>
                    <a:lnTo>
                      <a:pt x="908436" y="144220"/>
                    </a:lnTo>
                    <a:lnTo>
                      <a:pt x="705236" y="288441"/>
                    </a:lnTo>
                    <a:lnTo>
                      <a:pt x="0" y="288441"/>
                    </a:lnTo>
                    <a:lnTo>
                      <a:pt x="203200" y="1442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F8B4E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77800" y="28575"/>
                <a:ext cx="654436" cy="2598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480488" y="3490079"/>
              <a:ext cx="2177335" cy="772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49"/>
                </a:lnSpc>
              </a:pPr>
              <a:r>
                <a:rPr lang="en-US" b="true" sz="2499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SASREC </a:t>
              </a:r>
            </a:p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(2</a:t>
              </a:r>
              <a:r>
                <a:rPr lang="en-US" b="true" sz="2000" strike="noStrike" u="none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018</a:t>
              </a:r>
              <a:r>
                <a:rPr lang="en-US" b="true" sz="2000" strike="noStrike" u="none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)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94516" y="34967"/>
              <a:ext cx="6919745" cy="2404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6"/>
                </a:lnSpc>
              </a:pPr>
              <a:r>
                <a:rPr lang="en-US" sz="21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El modelo pondera qué items pasados importan y captura dependencias de largo plazo mejor que una RNN, además de ser paralelizable.</a:t>
              </a:r>
            </a:p>
          </p:txBody>
        </p:sp>
        <p:sp>
          <p:nvSpPr>
            <p:cNvPr name="AutoShape 17" id="17"/>
            <p:cNvSpPr/>
            <p:nvPr/>
          </p:nvSpPr>
          <p:spPr>
            <a:xfrm flipV="true">
              <a:off x="463933" y="0"/>
              <a:ext cx="0" cy="3187093"/>
            </a:xfrm>
            <a:prstGeom prst="line">
              <a:avLst/>
            </a:prstGeom>
            <a:ln cap="rnd" w="50800">
              <a:solidFill>
                <a:srgbClr val="3F8B4E"/>
              </a:solidFill>
              <a:prstDash val="solid"/>
              <a:headEnd type="none" len="sm" w="sm"/>
              <a:tailEnd type="oval" len="lg" w="lg"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352918" y="5445496"/>
            <a:ext cx="5386091" cy="3299247"/>
            <a:chOff x="0" y="0"/>
            <a:chExt cx="7181455" cy="4398995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4529759" cy="1438260"/>
              <a:chOff x="0" y="0"/>
              <a:chExt cx="908436" cy="28844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08436" cy="288441"/>
              </a:xfrm>
              <a:custGeom>
                <a:avLst/>
                <a:gdLst/>
                <a:ahLst/>
                <a:cxnLst/>
                <a:rect r="r" b="b" t="t" l="l"/>
                <a:pathLst>
                  <a:path h="288441" w="908436">
                    <a:moveTo>
                      <a:pt x="0" y="0"/>
                    </a:moveTo>
                    <a:lnTo>
                      <a:pt x="705236" y="0"/>
                    </a:lnTo>
                    <a:lnTo>
                      <a:pt x="908436" y="144220"/>
                    </a:lnTo>
                    <a:lnTo>
                      <a:pt x="705236" y="288441"/>
                    </a:lnTo>
                    <a:lnTo>
                      <a:pt x="0" y="288441"/>
                    </a:lnTo>
                    <a:lnTo>
                      <a:pt x="203200" y="1442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717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77800" y="28575"/>
                <a:ext cx="654436" cy="2598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351586" y="356545"/>
              <a:ext cx="2295927" cy="772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49"/>
                </a:lnSpc>
              </a:pPr>
              <a:r>
                <a:rPr lang="en-US" b="true" sz="2499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BERT4REC </a:t>
              </a:r>
            </a:p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(2</a:t>
              </a:r>
              <a:r>
                <a:rPr lang="en-US" b="true" sz="2000" strike="noStrike" u="none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019</a:t>
              </a:r>
              <a:r>
                <a:rPr lang="en-US" b="true" sz="2000" strike="noStrike" u="none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)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768429" y="2085198"/>
              <a:ext cx="6413027" cy="17820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6"/>
                </a:lnSpc>
              </a:pPr>
              <a:r>
                <a:rPr lang="en-US" sz="21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Usa self-atte</a:t>
              </a:r>
              <a:r>
                <a:rPr lang="en-US" sz="21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ntion bidireccional + enmascarar items y predice, inspirada en BERT.</a:t>
              </a:r>
            </a:p>
          </p:txBody>
        </p:sp>
        <p:sp>
          <p:nvSpPr>
            <p:cNvPr name="AutoShape 24" id="24"/>
            <p:cNvSpPr/>
            <p:nvPr/>
          </p:nvSpPr>
          <p:spPr>
            <a:xfrm>
              <a:off x="582069" y="1285737"/>
              <a:ext cx="0" cy="3113258"/>
            </a:xfrm>
            <a:prstGeom prst="line">
              <a:avLst/>
            </a:prstGeom>
            <a:ln cap="rnd" w="50800">
              <a:solidFill>
                <a:srgbClr val="004717"/>
              </a:solidFill>
              <a:prstDash val="solid"/>
              <a:headEnd type="none" len="sm" w="sm"/>
              <a:tailEnd type="oval" len="lg" w="lg"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5471234" y="5449284"/>
            <a:ext cx="2945654" cy="1078695"/>
            <a:chOff x="0" y="0"/>
            <a:chExt cx="787662" cy="28844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87662" cy="288441"/>
            </a:xfrm>
            <a:custGeom>
              <a:avLst/>
              <a:gdLst/>
              <a:ahLst/>
              <a:cxnLst/>
              <a:rect r="r" b="b" t="t" l="l"/>
              <a:pathLst>
                <a:path h="288441" w="787662">
                  <a:moveTo>
                    <a:pt x="0" y="0"/>
                  </a:moveTo>
                  <a:lnTo>
                    <a:pt x="584462" y="0"/>
                  </a:lnTo>
                  <a:lnTo>
                    <a:pt x="787662" y="144220"/>
                  </a:lnTo>
                  <a:lnTo>
                    <a:pt x="584462" y="288441"/>
                  </a:lnTo>
                  <a:lnTo>
                    <a:pt x="0" y="288441"/>
                  </a:lnTo>
                  <a:lnTo>
                    <a:pt x="203200" y="144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282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77800" y="28575"/>
              <a:ext cx="533662" cy="259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98343" y="3063525"/>
            <a:ext cx="6812563" cy="3464455"/>
            <a:chOff x="0" y="0"/>
            <a:chExt cx="9083418" cy="4619273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3181013"/>
              <a:ext cx="4529759" cy="1438260"/>
              <a:chOff x="0" y="0"/>
              <a:chExt cx="908436" cy="28844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908436" cy="288441"/>
              </a:xfrm>
              <a:custGeom>
                <a:avLst/>
                <a:gdLst/>
                <a:ahLst/>
                <a:cxnLst/>
                <a:rect r="r" b="b" t="t" l="l"/>
                <a:pathLst>
                  <a:path h="288441" w="908436">
                    <a:moveTo>
                      <a:pt x="0" y="0"/>
                    </a:moveTo>
                    <a:lnTo>
                      <a:pt x="705236" y="0"/>
                    </a:lnTo>
                    <a:lnTo>
                      <a:pt x="908436" y="144220"/>
                    </a:lnTo>
                    <a:lnTo>
                      <a:pt x="705236" y="288441"/>
                    </a:lnTo>
                    <a:lnTo>
                      <a:pt x="0" y="288441"/>
                    </a:lnTo>
                    <a:lnTo>
                      <a:pt x="203200" y="1442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B6D9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77800" y="28575"/>
                <a:ext cx="654436" cy="2598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176212" y="3537558"/>
              <a:ext cx="2177335" cy="772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49"/>
                </a:lnSpc>
              </a:pPr>
              <a:r>
                <a:rPr lang="en-US" b="true" sz="2499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CITIES </a:t>
              </a:r>
            </a:p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(2</a:t>
              </a:r>
              <a:r>
                <a:rPr lang="en-US" b="true" sz="2000" strike="noStrike" u="none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02O</a:t>
              </a:r>
              <a:r>
                <a:rPr lang="en-US" b="true" sz="2000" strike="noStrike" u="none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)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694516" y="177230"/>
              <a:ext cx="8388902" cy="17820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6"/>
                </a:lnSpc>
              </a:pPr>
              <a:r>
                <a:rPr lang="en-US" sz="21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Dis</a:t>
              </a:r>
              <a:r>
                <a:rPr lang="en-US" sz="21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eña una función entrenada con items populares y aplicada a items raros, para inferirles un embedding mejor a partir de co-ocurrencia.</a:t>
              </a:r>
            </a:p>
          </p:txBody>
        </p:sp>
        <p:sp>
          <p:nvSpPr>
            <p:cNvPr name="AutoShape 34" id="34"/>
            <p:cNvSpPr/>
            <p:nvPr/>
          </p:nvSpPr>
          <p:spPr>
            <a:xfrm flipV="true">
              <a:off x="463933" y="0"/>
              <a:ext cx="0" cy="3234572"/>
            </a:xfrm>
            <a:prstGeom prst="line">
              <a:avLst/>
            </a:prstGeom>
            <a:ln cap="rnd" w="50800">
              <a:solidFill>
                <a:srgbClr val="8B6D9D"/>
              </a:solidFill>
              <a:prstDash val="solid"/>
              <a:headEnd type="none" len="sm" w="sm"/>
              <a:tailEnd type="oval" len="lg" w="lg"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6358909" y="5848932"/>
            <a:ext cx="1633001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LLMS...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1982857" y="5445496"/>
            <a:ext cx="6009053" cy="3299247"/>
            <a:chOff x="0" y="0"/>
            <a:chExt cx="8012070" cy="4398995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5381045" cy="1438260"/>
              <a:chOff x="0" y="0"/>
              <a:chExt cx="1079160" cy="288441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079160" cy="288441"/>
              </a:xfrm>
              <a:custGeom>
                <a:avLst/>
                <a:gdLst/>
                <a:ahLst/>
                <a:cxnLst/>
                <a:rect r="r" b="b" t="t" l="l"/>
                <a:pathLst>
                  <a:path h="288441" w="1079160">
                    <a:moveTo>
                      <a:pt x="0" y="0"/>
                    </a:moveTo>
                    <a:lnTo>
                      <a:pt x="875960" y="0"/>
                    </a:lnTo>
                    <a:lnTo>
                      <a:pt x="1079160" y="144220"/>
                    </a:lnTo>
                    <a:lnTo>
                      <a:pt x="875960" y="288441"/>
                    </a:lnTo>
                    <a:lnTo>
                      <a:pt x="0" y="288441"/>
                    </a:lnTo>
                    <a:lnTo>
                      <a:pt x="203200" y="1442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54584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77800" y="28575"/>
                <a:ext cx="825160" cy="2598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1542559" y="313789"/>
              <a:ext cx="2295927" cy="858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49"/>
                </a:lnSpc>
              </a:pPr>
              <a:r>
                <a:rPr lang="en-US" b="true" sz="2499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MELT</a:t>
              </a:r>
            </a:p>
            <a:p>
              <a:pPr algn="ctr" marL="0" indent="0" lvl="0">
                <a:lnSpc>
                  <a:spcPts val="24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(2</a:t>
              </a:r>
              <a:r>
                <a:rPr lang="en-US" b="true" sz="2499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023)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817073" y="1729757"/>
              <a:ext cx="7194997" cy="2404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6"/>
                </a:lnSpc>
              </a:pPr>
              <a:r>
                <a:rPr lang="en-US" sz="21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Es el mej</a:t>
              </a:r>
              <a:r>
                <a:rPr lang="en-US" sz="21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or de los tradicionales y más balanceado. Pero sigue siendo puramente colaborativo: redistribuye la señal existente, no agrega información nueva.</a:t>
              </a:r>
            </a:p>
          </p:txBody>
        </p:sp>
        <p:sp>
          <p:nvSpPr>
            <p:cNvPr name="AutoShape 42" id="42"/>
            <p:cNvSpPr/>
            <p:nvPr/>
          </p:nvSpPr>
          <p:spPr>
            <a:xfrm>
              <a:off x="630714" y="1285737"/>
              <a:ext cx="0" cy="3113258"/>
            </a:xfrm>
            <a:prstGeom prst="line">
              <a:avLst/>
            </a:prstGeom>
            <a:ln cap="rnd" w="50800">
              <a:solidFill>
                <a:srgbClr val="654584"/>
              </a:solidFill>
              <a:prstDash val="solid"/>
              <a:headEnd type="none" len="sm" w="sm"/>
              <a:tailEnd type="oval" len="lg" w="lg"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5107963" y="667312"/>
            <a:ext cx="2981263" cy="722776"/>
            <a:chOff x="0" y="0"/>
            <a:chExt cx="3975017" cy="963701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698947" y="320314"/>
              <a:ext cx="3276070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ESTADO DEL ARTE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46248"/>
            <a:ext cx="15405718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b="true" sz="4500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TRABAJO PREVIO </a:t>
            </a:r>
          </a:p>
          <a:p>
            <a:pPr algn="l">
              <a:lnSpc>
                <a:spcPts val="4410"/>
              </a:lnSpc>
            </a:pPr>
            <a:r>
              <a:rPr lang="en-US" b="true" sz="4500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- LARGE LENGUAGE MODELS COMO RECOMENDADOR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14592" y="5552128"/>
            <a:ext cx="3169175" cy="1078695"/>
            <a:chOff x="0" y="0"/>
            <a:chExt cx="847431" cy="2884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47431" cy="288441"/>
            </a:xfrm>
            <a:custGeom>
              <a:avLst/>
              <a:gdLst/>
              <a:ahLst/>
              <a:cxnLst/>
              <a:rect r="r" b="b" t="t" l="l"/>
              <a:pathLst>
                <a:path h="288441" w="847431">
                  <a:moveTo>
                    <a:pt x="0" y="0"/>
                  </a:moveTo>
                  <a:lnTo>
                    <a:pt x="644231" y="0"/>
                  </a:lnTo>
                  <a:lnTo>
                    <a:pt x="847431" y="144220"/>
                  </a:lnTo>
                  <a:lnTo>
                    <a:pt x="644231" y="288441"/>
                  </a:lnTo>
                  <a:lnTo>
                    <a:pt x="0" y="288441"/>
                  </a:lnTo>
                  <a:lnTo>
                    <a:pt x="203200" y="144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282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77800" y="28575"/>
              <a:ext cx="593431" cy="259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502215" y="5552128"/>
            <a:ext cx="3397320" cy="1078695"/>
            <a:chOff x="0" y="0"/>
            <a:chExt cx="908436" cy="2884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8436" cy="288441"/>
            </a:xfrm>
            <a:custGeom>
              <a:avLst/>
              <a:gdLst/>
              <a:ahLst/>
              <a:cxnLst/>
              <a:rect r="r" b="b" t="t" l="l"/>
              <a:pathLst>
                <a:path h="288441" w="908436">
                  <a:moveTo>
                    <a:pt x="0" y="0"/>
                  </a:moveTo>
                  <a:lnTo>
                    <a:pt x="705236" y="0"/>
                  </a:lnTo>
                  <a:lnTo>
                    <a:pt x="908436" y="144220"/>
                  </a:lnTo>
                  <a:lnTo>
                    <a:pt x="705236" y="288441"/>
                  </a:lnTo>
                  <a:lnTo>
                    <a:pt x="0" y="288441"/>
                  </a:lnTo>
                  <a:lnTo>
                    <a:pt x="203200" y="144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545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77800" y="28575"/>
              <a:ext cx="654436" cy="259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95104" y="3276978"/>
            <a:ext cx="4138111" cy="1831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 proceso c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onversacional que completa la recomendación paso a paso mediante diálogo con el LLM.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8435" y="5799376"/>
            <a:ext cx="1721945" cy="63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9"/>
              </a:lnSpc>
            </a:pPr>
            <a:r>
              <a:rPr lang="en-US" b="true" sz="24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CHATREC</a:t>
            </a:r>
          </a:p>
          <a:p>
            <a:pPr algn="ctr" marL="0" indent="0" lvl="0">
              <a:lnSpc>
                <a:spcPts val="244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(2</a:t>
            </a:r>
            <a:r>
              <a:rPr lang="en-US" b="true" sz="24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023)</a:t>
            </a:r>
          </a:p>
        </p:txBody>
      </p:sp>
      <p:sp>
        <p:nvSpPr>
          <p:cNvPr name="AutoShape 11" id="11"/>
          <p:cNvSpPr/>
          <p:nvPr/>
        </p:nvSpPr>
        <p:spPr>
          <a:xfrm flipV="true">
            <a:off x="753180" y="3170157"/>
            <a:ext cx="0" cy="2425929"/>
          </a:xfrm>
          <a:prstGeom prst="line">
            <a:avLst/>
          </a:prstGeom>
          <a:ln cap="rnd" w="38100">
            <a:solidFill>
              <a:srgbClr val="C22829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12" id="12"/>
          <p:cNvSpPr txBox="true"/>
          <p:nvPr/>
        </p:nvSpPr>
        <p:spPr>
          <a:xfrm rot="0">
            <a:off x="3466019" y="6895546"/>
            <a:ext cx="4159798" cy="89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prime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 en hacer </a:t>
            </a:r>
            <a:r>
              <a:rPr lang="en-US" sz="2100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fine-tuning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 un LLM para recomendación</a:t>
            </a:r>
          </a:p>
        </p:txBody>
      </p:sp>
      <p:sp>
        <p:nvSpPr>
          <p:cNvPr name="AutoShape 13" id="13"/>
          <p:cNvSpPr/>
          <p:nvPr/>
        </p:nvSpPr>
        <p:spPr>
          <a:xfrm>
            <a:off x="3210079" y="6634612"/>
            <a:ext cx="0" cy="2334944"/>
          </a:xfrm>
          <a:prstGeom prst="line">
            <a:avLst/>
          </a:prstGeom>
          <a:ln cap="rnd" w="38100">
            <a:solidFill>
              <a:srgbClr val="792014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2829607" y="5552128"/>
            <a:ext cx="3180796" cy="1078695"/>
            <a:chOff x="0" y="0"/>
            <a:chExt cx="850538" cy="2884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0538" cy="288441"/>
            </a:xfrm>
            <a:custGeom>
              <a:avLst/>
              <a:gdLst/>
              <a:ahLst/>
              <a:cxnLst/>
              <a:rect r="r" b="b" t="t" l="l"/>
              <a:pathLst>
                <a:path h="288441" w="850538">
                  <a:moveTo>
                    <a:pt x="0" y="0"/>
                  </a:moveTo>
                  <a:lnTo>
                    <a:pt x="647338" y="0"/>
                  </a:lnTo>
                  <a:lnTo>
                    <a:pt x="850538" y="144220"/>
                  </a:lnTo>
                  <a:lnTo>
                    <a:pt x="647338" y="288441"/>
                  </a:lnTo>
                  <a:lnTo>
                    <a:pt x="0" y="288441"/>
                  </a:lnTo>
                  <a:lnTo>
                    <a:pt x="203200" y="144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9201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77800" y="28575"/>
              <a:ext cx="596538" cy="259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711912" y="5799376"/>
            <a:ext cx="1721945" cy="63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9"/>
              </a:lnSpc>
            </a:pPr>
            <a:r>
              <a:rPr lang="en-US" b="true" sz="24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TALLREC</a:t>
            </a:r>
          </a:p>
          <a:p>
            <a:pPr algn="ctr" marL="0" indent="0" lvl="0">
              <a:lnSpc>
                <a:spcPts val="244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(2</a:t>
            </a:r>
            <a:r>
              <a:rPr lang="en-US" b="true" sz="24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023)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408423" y="5552128"/>
            <a:ext cx="3098354" cy="1078695"/>
            <a:chOff x="0" y="0"/>
            <a:chExt cx="828493" cy="2884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8493" cy="288441"/>
            </a:xfrm>
            <a:custGeom>
              <a:avLst/>
              <a:gdLst/>
              <a:ahLst/>
              <a:cxnLst/>
              <a:rect r="r" b="b" t="t" l="l"/>
              <a:pathLst>
                <a:path h="288441" w="828493">
                  <a:moveTo>
                    <a:pt x="0" y="0"/>
                  </a:moveTo>
                  <a:lnTo>
                    <a:pt x="625293" y="0"/>
                  </a:lnTo>
                  <a:lnTo>
                    <a:pt x="828493" y="144220"/>
                  </a:lnTo>
                  <a:lnTo>
                    <a:pt x="625293" y="288441"/>
                  </a:lnTo>
                  <a:lnTo>
                    <a:pt x="0" y="288441"/>
                  </a:lnTo>
                  <a:lnTo>
                    <a:pt x="203200" y="144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282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77800" y="28575"/>
              <a:ext cx="574493" cy="259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989470" y="3276978"/>
            <a:ext cx="4052421" cy="1365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Alinea LLMs c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on recomendadores secuenciales vía tokenización modificada.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56232" y="5799376"/>
            <a:ext cx="1721945" cy="63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9"/>
              </a:lnSpc>
            </a:pPr>
            <a:r>
              <a:rPr lang="en-US" b="true" sz="24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LLARA</a:t>
            </a:r>
          </a:p>
          <a:p>
            <a:pPr algn="ctr" marL="0" indent="0" lvl="0">
              <a:lnSpc>
                <a:spcPts val="244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(2</a:t>
            </a:r>
            <a:r>
              <a:rPr lang="en-US" b="true" sz="24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023)</a:t>
            </a:r>
          </a:p>
        </p:txBody>
      </p:sp>
      <p:sp>
        <p:nvSpPr>
          <p:cNvPr name="AutoShape 23" id="23"/>
          <p:cNvSpPr/>
          <p:nvPr/>
        </p:nvSpPr>
        <p:spPr>
          <a:xfrm flipV="true">
            <a:off x="5847010" y="3170157"/>
            <a:ext cx="0" cy="2425929"/>
          </a:xfrm>
          <a:prstGeom prst="line">
            <a:avLst/>
          </a:prstGeom>
          <a:ln cap="rnd" w="38100">
            <a:solidFill>
              <a:srgbClr val="C22829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24" id="24"/>
          <p:cNvSpPr txBox="true"/>
          <p:nvPr/>
        </p:nvSpPr>
        <p:spPr>
          <a:xfrm rot="0">
            <a:off x="8481578" y="6899335"/>
            <a:ext cx="3904413" cy="1365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Usa el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embedding del LLM para inicializar la capa de items y luego hace fine-tuning.</a:t>
            </a:r>
          </a:p>
        </p:txBody>
      </p:sp>
      <p:sp>
        <p:nvSpPr>
          <p:cNvPr name="AutoShape 25" id="25"/>
          <p:cNvSpPr/>
          <p:nvPr/>
        </p:nvSpPr>
        <p:spPr>
          <a:xfrm>
            <a:off x="8270674" y="6638401"/>
            <a:ext cx="0" cy="2334944"/>
          </a:xfrm>
          <a:prstGeom prst="line">
            <a:avLst/>
          </a:prstGeom>
          <a:ln cap="rnd" w="38100">
            <a:solidFill>
              <a:srgbClr val="792014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26" id="26"/>
          <p:cNvGrpSpPr/>
          <p:nvPr/>
        </p:nvGrpSpPr>
        <p:grpSpPr>
          <a:xfrm rot="0">
            <a:off x="7889407" y="5555917"/>
            <a:ext cx="3397320" cy="1078695"/>
            <a:chOff x="0" y="0"/>
            <a:chExt cx="908436" cy="28844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08436" cy="288441"/>
            </a:xfrm>
            <a:custGeom>
              <a:avLst/>
              <a:gdLst/>
              <a:ahLst/>
              <a:cxnLst/>
              <a:rect r="r" b="b" t="t" l="l"/>
              <a:pathLst>
                <a:path h="288441" w="908436">
                  <a:moveTo>
                    <a:pt x="0" y="0"/>
                  </a:moveTo>
                  <a:lnTo>
                    <a:pt x="705236" y="0"/>
                  </a:lnTo>
                  <a:lnTo>
                    <a:pt x="908436" y="144220"/>
                  </a:lnTo>
                  <a:lnTo>
                    <a:pt x="705236" y="288441"/>
                  </a:lnTo>
                  <a:lnTo>
                    <a:pt x="0" y="288441"/>
                  </a:lnTo>
                  <a:lnTo>
                    <a:pt x="203200" y="144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9201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77800" y="28575"/>
              <a:ext cx="654436" cy="259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481578" y="5878221"/>
            <a:ext cx="2545270" cy="556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5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LLM2BERT4REC (2</a:t>
            </a:r>
            <a:r>
              <a:rPr lang="en-US" b="true" sz="21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023)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594341" y="5552128"/>
            <a:ext cx="3104025" cy="1078695"/>
            <a:chOff x="0" y="0"/>
            <a:chExt cx="830010" cy="28844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30010" cy="288441"/>
            </a:xfrm>
            <a:custGeom>
              <a:avLst/>
              <a:gdLst/>
              <a:ahLst/>
              <a:cxnLst/>
              <a:rect r="r" b="b" t="t" l="l"/>
              <a:pathLst>
                <a:path h="288441" w="830010">
                  <a:moveTo>
                    <a:pt x="0" y="0"/>
                  </a:moveTo>
                  <a:lnTo>
                    <a:pt x="626810" y="0"/>
                  </a:lnTo>
                  <a:lnTo>
                    <a:pt x="830010" y="144220"/>
                  </a:lnTo>
                  <a:lnTo>
                    <a:pt x="626810" y="288441"/>
                  </a:lnTo>
                  <a:lnTo>
                    <a:pt x="0" y="288441"/>
                  </a:lnTo>
                  <a:lnTo>
                    <a:pt x="203200" y="144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282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28575"/>
              <a:ext cx="576010" cy="259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175388" y="3276978"/>
            <a:ext cx="4052421" cy="1365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Usa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embeddings del LLM para potenciar modelos de filtrado colaborativo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407140" y="5799376"/>
            <a:ext cx="1721945" cy="63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9"/>
              </a:lnSpc>
            </a:pPr>
            <a:r>
              <a:rPr lang="en-US" b="true" sz="24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ALPHAREC</a:t>
            </a:r>
          </a:p>
          <a:p>
            <a:pPr algn="ctr" marL="0" indent="0" lvl="0">
              <a:lnSpc>
                <a:spcPts val="244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(2</a:t>
            </a:r>
            <a:r>
              <a:rPr lang="en-US" b="true" sz="24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024)</a:t>
            </a:r>
          </a:p>
        </p:txBody>
      </p:sp>
      <p:sp>
        <p:nvSpPr>
          <p:cNvPr name="AutoShape 35" id="35"/>
          <p:cNvSpPr/>
          <p:nvPr/>
        </p:nvSpPr>
        <p:spPr>
          <a:xfrm flipV="true">
            <a:off x="11032929" y="3170157"/>
            <a:ext cx="0" cy="2425929"/>
          </a:xfrm>
          <a:prstGeom prst="line">
            <a:avLst/>
          </a:prstGeom>
          <a:ln cap="rnd" w="38100">
            <a:solidFill>
              <a:srgbClr val="C22829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36" id="36"/>
          <p:cNvSpPr txBox="true"/>
          <p:nvPr/>
        </p:nvSpPr>
        <p:spPr>
          <a:xfrm rot="0">
            <a:off x="13654019" y="6895546"/>
            <a:ext cx="3503092" cy="1365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Aprendizaje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 embeddings semánticos basados en LLM para SRS</a:t>
            </a:r>
          </a:p>
        </p:txBody>
      </p:sp>
      <p:sp>
        <p:nvSpPr>
          <p:cNvPr name="AutoShape 37" id="37"/>
          <p:cNvSpPr/>
          <p:nvPr/>
        </p:nvSpPr>
        <p:spPr>
          <a:xfrm>
            <a:off x="13444469" y="6634612"/>
            <a:ext cx="0" cy="2334944"/>
          </a:xfrm>
          <a:prstGeom prst="line">
            <a:avLst/>
          </a:prstGeom>
          <a:ln cap="rnd" w="38100">
            <a:solidFill>
              <a:srgbClr val="792014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13058816" y="5552128"/>
            <a:ext cx="2941274" cy="1078695"/>
            <a:chOff x="0" y="0"/>
            <a:chExt cx="786490" cy="28844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86490" cy="288441"/>
            </a:xfrm>
            <a:custGeom>
              <a:avLst/>
              <a:gdLst/>
              <a:ahLst/>
              <a:cxnLst/>
              <a:rect r="r" b="b" t="t" l="l"/>
              <a:pathLst>
                <a:path h="288441" w="786490">
                  <a:moveTo>
                    <a:pt x="0" y="0"/>
                  </a:moveTo>
                  <a:lnTo>
                    <a:pt x="583290" y="0"/>
                  </a:lnTo>
                  <a:lnTo>
                    <a:pt x="786490" y="144220"/>
                  </a:lnTo>
                  <a:lnTo>
                    <a:pt x="583290" y="288441"/>
                  </a:lnTo>
                  <a:lnTo>
                    <a:pt x="0" y="288441"/>
                  </a:lnTo>
                  <a:lnTo>
                    <a:pt x="203200" y="144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92014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77800" y="28575"/>
              <a:ext cx="532490" cy="259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3770685" y="5794626"/>
            <a:ext cx="1721945" cy="63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9"/>
              </a:lnSpc>
            </a:pPr>
            <a:r>
              <a:rPr lang="en-US" b="true" sz="24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SAID</a:t>
            </a:r>
          </a:p>
          <a:p>
            <a:pPr algn="ctr" marL="0" indent="0" lvl="0">
              <a:lnSpc>
                <a:spcPts val="244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(2</a:t>
            </a:r>
            <a:r>
              <a:rPr lang="en-US" b="true" sz="24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024)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5405565" y="5547378"/>
            <a:ext cx="2758856" cy="1078695"/>
            <a:chOff x="0" y="0"/>
            <a:chExt cx="737712" cy="28844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7712" cy="288441"/>
            </a:xfrm>
            <a:custGeom>
              <a:avLst/>
              <a:gdLst/>
              <a:ahLst/>
              <a:cxnLst/>
              <a:rect r="r" b="b" t="t" l="l"/>
              <a:pathLst>
                <a:path h="288441" w="737712">
                  <a:moveTo>
                    <a:pt x="0" y="0"/>
                  </a:moveTo>
                  <a:lnTo>
                    <a:pt x="534512" y="0"/>
                  </a:lnTo>
                  <a:lnTo>
                    <a:pt x="737712" y="144220"/>
                  </a:lnTo>
                  <a:lnTo>
                    <a:pt x="534512" y="288441"/>
                  </a:lnTo>
                  <a:lnTo>
                    <a:pt x="0" y="288441"/>
                  </a:lnTo>
                  <a:lnTo>
                    <a:pt x="203200" y="144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2829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77800" y="28575"/>
              <a:ext cx="483712" cy="259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6142965" y="5810530"/>
            <a:ext cx="1721945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LLM-ERS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142965" y="6142889"/>
            <a:ext cx="1721945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!!!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5107963" y="667312"/>
            <a:ext cx="2981263" cy="722776"/>
            <a:chOff x="0" y="0"/>
            <a:chExt cx="3975017" cy="96370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83596" y="81086"/>
              <a:ext cx="801529" cy="801529"/>
            </a:xfrm>
            <a:custGeom>
              <a:avLst/>
              <a:gdLst/>
              <a:ahLst/>
              <a:cxnLst/>
              <a:rect r="r" b="b" t="t" l="l"/>
              <a:pathLst>
                <a:path h="801529" w="801529">
                  <a:moveTo>
                    <a:pt x="0" y="0"/>
                  </a:moveTo>
                  <a:lnTo>
                    <a:pt x="801529" y="0"/>
                  </a:lnTo>
                  <a:lnTo>
                    <a:pt x="801529" y="801529"/>
                  </a:lnTo>
                  <a:lnTo>
                    <a:pt x="0" y="801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9" id="49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698947" y="320314"/>
              <a:ext cx="3276070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ESTADO DEL ARTE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3676" y="4563793"/>
            <a:ext cx="7160086" cy="4366154"/>
            <a:chOff x="0" y="0"/>
            <a:chExt cx="1885784" cy="11499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5784" cy="1149934"/>
            </a:xfrm>
            <a:custGeom>
              <a:avLst/>
              <a:gdLst/>
              <a:ahLst/>
              <a:cxnLst/>
              <a:rect r="r" b="b" t="t" l="l"/>
              <a:pathLst>
                <a:path h="1149934" w="1885784">
                  <a:moveTo>
                    <a:pt x="37844" y="0"/>
                  </a:moveTo>
                  <a:lnTo>
                    <a:pt x="1847940" y="0"/>
                  </a:lnTo>
                  <a:cubicBezTo>
                    <a:pt x="1857977" y="0"/>
                    <a:pt x="1867602" y="3987"/>
                    <a:pt x="1874700" y="11084"/>
                  </a:cubicBezTo>
                  <a:cubicBezTo>
                    <a:pt x="1881797" y="18181"/>
                    <a:pt x="1885784" y="27807"/>
                    <a:pt x="1885784" y="37844"/>
                  </a:cubicBezTo>
                  <a:lnTo>
                    <a:pt x="1885784" y="1112089"/>
                  </a:lnTo>
                  <a:cubicBezTo>
                    <a:pt x="1885784" y="1132990"/>
                    <a:pt x="1868841" y="1149934"/>
                    <a:pt x="1847940" y="1149934"/>
                  </a:cubicBezTo>
                  <a:lnTo>
                    <a:pt x="37844" y="1149934"/>
                  </a:lnTo>
                  <a:cubicBezTo>
                    <a:pt x="27807" y="1149934"/>
                    <a:pt x="18181" y="1145946"/>
                    <a:pt x="11084" y="1138849"/>
                  </a:cubicBezTo>
                  <a:cubicBezTo>
                    <a:pt x="3987" y="1131752"/>
                    <a:pt x="0" y="1122126"/>
                    <a:pt x="0" y="1112089"/>
                  </a:cubicBezTo>
                  <a:lnTo>
                    <a:pt x="0" y="37844"/>
                  </a:lnTo>
                  <a:cubicBezTo>
                    <a:pt x="0" y="27807"/>
                    <a:pt x="3987" y="18181"/>
                    <a:pt x="11084" y="11084"/>
                  </a:cubicBezTo>
                  <a:cubicBezTo>
                    <a:pt x="18181" y="3987"/>
                    <a:pt x="27807" y="0"/>
                    <a:pt x="37844" y="0"/>
                  </a:cubicBezTo>
                  <a:close/>
                </a:path>
              </a:pathLst>
            </a:custGeom>
            <a:solidFill>
              <a:srgbClr val="3F8B4E">
                <a:alpha val="19608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85784" cy="1188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44238" y="4563793"/>
            <a:ext cx="7160086" cy="4366154"/>
            <a:chOff x="0" y="0"/>
            <a:chExt cx="1885784" cy="11499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5784" cy="1149934"/>
            </a:xfrm>
            <a:custGeom>
              <a:avLst/>
              <a:gdLst/>
              <a:ahLst/>
              <a:cxnLst/>
              <a:rect r="r" b="b" t="t" l="l"/>
              <a:pathLst>
                <a:path h="1149934" w="1885784">
                  <a:moveTo>
                    <a:pt x="37844" y="0"/>
                  </a:moveTo>
                  <a:lnTo>
                    <a:pt x="1847940" y="0"/>
                  </a:lnTo>
                  <a:cubicBezTo>
                    <a:pt x="1857977" y="0"/>
                    <a:pt x="1867602" y="3987"/>
                    <a:pt x="1874700" y="11084"/>
                  </a:cubicBezTo>
                  <a:cubicBezTo>
                    <a:pt x="1881797" y="18181"/>
                    <a:pt x="1885784" y="27807"/>
                    <a:pt x="1885784" y="37844"/>
                  </a:cubicBezTo>
                  <a:lnTo>
                    <a:pt x="1885784" y="1112089"/>
                  </a:lnTo>
                  <a:cubicBezTo>
                    <a:pt x="1885784" y="1132990"/>
                    <a:pt x="1868841" y="1149934"/>
                    <a:pt x="1847940" y="1149934"/>
                  </a:cubicBezTo>
                  <a:lnTo>
                    <a:pt x="37844" y="1149934"/>
                  </a:lnTo>
                  <a:cubicBezTo>
                    <a:pt x="27807" y="1149934"/>
                    <a:pt x="18181" y="1145946"/>
                    <a:pt x="11084" y="1138849"/>
                  </a:cubicBezTo>
                  <a:cubicBezTo>
                    <a:pt x="3987" y="1131752"/>
                    <a:pt x="0" y="1122126"/>
                    <a:pt x="0" y="1112089"/>
                  </a:cubicBezTo>
                  <a:lnTo>
                    <a:pt x="0" y="37844"/>
                  </a:lnTo>
                  <a:cubicBezTo>
                    <a:pt x="0" y="27807"/>
                    <a:pt x="3987" y="18181"/>
                    <a:pt x="11084" y="11084"/>
                  </a:cubicBezTo>
                  <a:cubicBezTo>
                    <a:pt x="18181" y="3987"/>
                    <a:pt x="27807" y="0"/>
                    <a:pt x="37844" y="0"/>
                  </a:cubicBezTo>
                  <a:close/>
                </a:path>
              </a:pathLst>
            </a:custGeom>
            <a:solidFill>
              <a:srgbClr val="3F8B4E">
                <a:alpha val="19608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85784" cy="1188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2040097"/>
            <a:ext cx="1424934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0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LOS PROBLEMAS SIGUEN...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48513" y="3607879"/>
            <a:ext cx="5627929" cy="709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80"/>
              </a:lnSpc>
            </a:pPr>
            <a:r>
              <a:rPr lang="en-US" sz="4099" b="true">
                <a:solidFill>
                  <a:srgbClr val="331B0D"/>
                </a:solidFill>
                <a:latin typeface="Inter Medium"/>
                <a:ea typeface="Inter Medium"/>
                <a:cs typeface="Inter Medium"/>
                <a:sym typeface="Inter Medium"/>
              </a:rPr>
              <a:t>Integración ineficiente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13961" y="5024750"/>
            <a:ext cx="5899517" cy="328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Los sistemas de recomendación necesitan responder en milisegundos (baja latencia) y los LLMs son lentos y caros de ejecutar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109846" y="662792"/>
            <a:ext cx="2669269" cy="722776"/>
            <a:chOff x="0" y="0"/>
            <a:chExt cx="3559026" cy="96370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07861" y="107861"/>
              <a:ext cx="747979" cy="747979"/>
            </a:xfrm>
            <a:custGeom>
              <a:avLst/>
              <a:gdLst/>
              <a:ahLst/>
              <a:cxnLst/>
              <a:rect r="r" b="b" t="t" l="l"/>
              <a:pathLst>
                <a:path h="747979" w="747979">
                  <a:moveTo>
                    <a:pt x="0" y="0"/>
                  </a:moveTo>
                  <a:lnTo>
                    <a:pt x="747979" y="0"/>
                  </a:lnTo>
                  <a:lnTo>
                    <a:pt x="747979" y="747979"/>
                  </a:lnTo>
                  <a:lnTo>
                    <a:pt x="0" y="747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696438" y="326340"/>
              <a:ext cx="2862588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CONTRIBUCIÓN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042901" y="3607879"/>
            <a:ext cx="5627929" cy="709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81"/>
              </a:lnSpc>
            </a:pPr>
            <a:r>
              <a:rPr lang="en-US" sz="4100" b="true">
                <a:solidFill>
                  <a:srgbClr val="331B0D"/>
                </a:solidFill>
                <a:latin typeface="Inter Medium"/>
                <a:ea typeface="Inter Medium"/>
                <a:cs typeface="Inter Medium"/>
                <a:sym typeface="Inter Medium"/>
              </a:rPr>
              <a:t>Pérdida de semántica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74522" y="4691375"/>
            <a:ext cx="5899517" cy="3949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Fine-tuning destruye las relaciones semánticas originales que el LLM, logrando que los embeddings pierdan su capacidad de representar bien los ítems de la cola.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846" y="662792"/>
            <a:ext cx="2669269" cy="722776"/>
            <a:chOff x="0" y="0"/>
            <a:chExt cx="3559026" cy="96370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107861" y="107861"/>
              <a:ext cx="747979" cy="747979"/>
            </a:xfrm>
            <a:custGeom>
              <a:avLst/>
              <a:gdLst/>
              <a:ahLst/>
              <a:cxnLst/>
              <a:rect r="r" b="b" t="t" l="l"/>
              <a:pathLst>
                <a:path h="747979" w="747979">
                  <a:moveTo>
                    <a:pt x="0" y="0"/>
                  </a:moveTo>
                  <a:lnTo>
                    <a:pt x="747979" y="0"/>
                  </a:lnTo>
                  <a:lnTo>
                    <a:pt x="747979" y="747979"/>
                  </a:lnTo>
                  <a:lnTo>
                    <a:pt x="0" y="747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696438" y="326340"/>
              <a:ext cx="2862588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CONTRIBUCIÓN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950595" y="4379178"/>
            <a:ext cx="5390104" cy="4998720"/>
            <a:chOff x="0" y="0"/>
            <a:chExt cx="7186806" cy="666496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85725"/>
              <a:ext cx="7186806" cy="6579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00"/>
                </a:lnSpc>
              </a:pPr>
              <a:r>
                <a:rPr lang="en-US" sz="4800" spc="-288">
                  <a:solidFill>
                    <a:srgbClr val="331B0D"/>
                  </a:solidFill>
                  <a:latin typeface="Inter"/>
                  <a:ea typeface="Inter"/>
                  <a:cs typeface="Inter"/>
                  <a:sym typeface="Inter"/>
                </a:rPr>
                <a:t>SEMANTIC EMBEDDINGS</a:t>
              </a:r>
            </a:p>
            <a:p>
              <a:pPr algn="ctr">
                <a:lnSpc>
                  <a:spcPts val="4800"/>
                </a:lnSpc>
              </a:pPr>
            </a:p>
            <a:p>
              <a:pPr algn="ctr">
                <a:lnSpc>
                  <a:spcPts val="4800"/>
                </a:lnSpc>
              </a:pPr>
            </a:p>
            <a:p>
              <a:pPr algn="ctr">
                <a:lnSpc>
                  <a:spcPts val="4800"/>
                </a:lnSpc>
              </a:pPr>
            </a:p>
            <a:p>
              <a:pPr algn="ctr">
                <a:lnSpc>
                  <a:spcPts val="4800"/>
                </a:lnSpc>
              </a:pPr>
            </a:p>
            <a:p>
              <a:pPr algn="ctr">
                <a:lnSpc>
                  <a:spcPts val="4800"/>
                </a:lnSpc>
              </a:pPr>
              <a:r>
                <a:rPr lang="en-US" sz="4800" spc="-288">
                  <a:solidFill>
                    <a:srgbClr val="331B0D"/>
                  </a:solidFill>
                  <a:latin typeface="Inter"/>
                  <a:ea typeface="Inter"/>
                  <a:cs typeface="Inter"/>
                  <a:sym typeface="Inter"/>
                </a:rPr>
                <a:t>FILTRADO COLABORATIVO  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2754288" y="2120530"/>
              <a:ext cx="1678229" cy="1611100"/>
            </a:xfrm>
            <a:custGeom>
              <a:avLst/>
              <a:gdLst/>
              <a:ahLst/>
              <a:cxnLst/>
              <a:rect r="r" b="b" t="t" l="l"/>
              <a:pathLst>
                <a:path h="1611100" w="1678229">
                  <a:moveTo>
                    <a:pt x="0" y="0"/>
                  </a:moveTo>
                  <a:lnTo>
                    <a:pt x="1678230" y="0"/>
                  </a:lnTo>
                  <a:lnTo>
                    <a:pt x="1678230" y="1611100"/>
                  </a:lnTo>
                  <a:lnTo>
                    <a:pt x="0" y="161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359154" y="4379178"/>
            <a:ext cx="2140590" cy="1315579"/>
            <a:chOff x="0" y="0"/>
            <a:chExt cx="2854120" cy="17541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093252"/>
              <a:ext cx="2854120" cy="660853"/>
            </a:xfrm>
            <a:custGeom>
              <a:avLst/>
              <a:gdLst/>
              <a:ahLst/>
              <a:cxnLst/>
              <a:rect r="r" b="b" t="t" l="l"/>
              <a:pathLst>
                <a:path h="660853" w="2854120">
                  <a:moveTo>
                    <a:pt x="0" y="0"/>
                  </a:moveTo>
                  <a:lnTo>
                    <a:pt x="2854120" y="0"/>
                  </a:lnTo>
                  <a:lnTo>
                    <a:pt x="2854120" y="660853"/>
                  </a:lnTo>
                  <a:lnTo>
                    <a:pt x="0" y="660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804" t="-179607" r="-2603" b="-179951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54120" cy="873960"/>
            </a:xfrm>
            <a:custGeom>
              <a:avLst/>
              <a:gdLst/>
              <a:ahLst/>
              <a:cxnLst/>
              <a:rect r="r" b="b" t="t" l="l"/>
              <a:pathLst>
                <a:path h="873960" w="2854120">
                  <a:moveTo>
                    <a:pt x="0" y="0"/>
                  </a:moveTo>
                  <a:lnTo>
                    <a:pt x="2854120" y="0"/>
                  </a:lnTo>
                  <a:lnTo>
                    <a:pt x="2854120" y="873960"/>
                  </a:lnTo>
                  <a:lnTo>
                    <a:pt x="0" y="87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202" t="-56602" r="-1650" b="-5536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359154" y="8111347"/>
            <a:ext cx="1674570" cy="1398270"/>
            <a:chOff x="0" y="0"/>
            <a:chExt cx="2232760" cy="186436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47625"/>
              <a:ext cx="2002841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706148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GRU4R</a:t>
              </a:r>
              <a:r>
                <a:rPr lang="en-US" sz="2400" strike="noStrike" u="none">
                  <a:solidFill>
                    <a:srgbClr val="706148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ec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45795"/>
              <a:ext cx="1696282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706148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SASRec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339215"/>
              <a:ext cx="223276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706148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BERT4Rec 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1893114"/>
            <a:ext cx="15415780" cy="1612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99"/>
              </a:lnSpc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LLM-ESR es u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 </a:t>
            </a:r>
            <a:r>
              <a:rPr lang="en-US" sz="24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enhancement framework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basado en LLMs para recomendación secuencial, que inyecta la </a:t>
            </a:r>
            <a:r>
              <a:rPr lang="en-US" sz="24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semántica de un LLM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en un modelo tradicional para atacar simultáneamente las dos colas sin pagar el costo de inferencia del LLM.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988767" y="4026516"/>
            <a:ext cx="6270533" cy="1971453"/>
            <a:chOff x="0" y="0"/>
            <a:chExt cx="8360711" cy="2628604"/>
          </a:xfrm>
        </p:grpSpPr>
        <p:sp>
          <p:nvSpPr>
            <p:cNvPr name="AutoShape 20" id="20"/>
            <p:cNvSpPr/>
            <p:nvPr/>
          </p:nvSpPr>
          <p:spPr>
            <a:xfrm flipV="true">
              <a:off x="10898" y="440791"/>
              <a:ext cx="2853035" cy="851676"/>
            </a:xfrm>
            <a:prstGeom prst="line">
              <a:avLst/>
            </a:prstGeom>
            <a:ln cap="flat" w="76200">
              <a:solidFill>
                <a:srgbClr val="331B0D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19097" y="1336797"/>
              <a:ext cx="2832646" cy="917210"/>
            </a:xfrm>
            <a:prstGeom prst="line">
              <a:avLst/>
            </a:prstGeom>
            <a:ln cap="flat" w="76200">
              <a:solidFill>
                <a:srgbClr val="331B0D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22" id="22"/>
            <p:cNvSpPr txBox="true"/>
            <p:nvPr/>
          </p:nvSpPr>
          <p:spPr>
            <a:xfrm rot="0">
              <a:off x="3132514" y="76200"/>
              <a:ext cx="5228197" cy="732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99"/>
                </a:lnSpc>
              </a:pPr>
              <a:r>
                <a:rPr lang="en-US" sz="3999" spc="-239">
                  <a:solidFill>
                    <a:srgbClr val="331B0D"/>
                  </a:solidFill>
                  <a:latin typeface="Inter"/>
                  <a:ea typeface="Inter"/>
                  <a:cs typeface="Inter"/>
                  <a:sym typeface="Inter"/>
                </a:rPr>
                <a:t>User embeddings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132514" y="1896238"/>
              <a:ext cx="5228197" cy="732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99"/>
                </a:lnSpc>
              </a:pPr>
              <a:r>
                <a:rPr lang="en-US" sz="3999" spc="-239">
                  <a:solidFill>
                    <a:srgbClr val="331B0D"/>
                  </a:solidFill>
                  <a:latin typeface="Inter"/>
                  <a:ea typeface="Inter"/>
                  <a:cs typeface="Inter"/>
                  <a:sym typeface="Inter"/>
                </a:rPr>
                <a:t>Item embeddings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28700" y="975993"/>
            <a:ext cx="455364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b="true" sz="7500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LLM-ESR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846" y="662792"/>
            <a:ext cx="2098159" cy="722776"/>
            <a:chOff x="0" y="0"/>
            <a:chExt cx="2797545" cy="96370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481851" y="326340"/>
              <a:ext cx="2315695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SOLUCIÓN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88757" y="86081"/>
              <a:ext cx="803592" cy="803592"/>
            </a:xfrm>
            <a:custGeom>
              <a:avLst/>
              <a:gdLst/>
              <a:ahLst/>
              <a:cxnLst/>
              <a:rect r="r" b="b" t="t" l="l"/>
              <a:pathLst>
                <a:path h="803592" w="803592">
                  <a:moveTo>
                    <a:pt x="0" y="0"/>
                  </a:moveTo>
                  <a:lnTo>
                    <a:pt x="803592" y="0"/>
                  </a:lnTo>
                  <a:lnTo>
                    <a:pt x="803592" y="803592"/>
                  </a:lnTo>
                  <a:lnTo>
                    <a:pt x="0" y="803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635841" y="3258430"/>
            <a:ext cx="10442246" cy="6143060"/>
          </a:xfrm>
          <a:custGeom>
            <a:avLst/>
            <a:gdLst/>
            <a:ahLst/>
            <a:cxnLst/>
            <a:rect r="r" b="b" t="t" l="l"/>
            <a:pathLst>
              <a:path h="6143060" w="10442246">
                <a:moveTo>
                  <a:pt x="0" y="0"/>
                </a:moveTo>
                <a:lnTo>
                  <a:pt x="10442246" y="0"/>
                </a:lnTo>
                <a:lnTo>
                  <a:pt x="10442246" y="6143060"/>
                </a:lnTo>
                <a:lnTo>
                  <a:pt x="0" y="61430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68" t="0" r="0" b="-750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60797" y="3655714"/>
            <a:ext cx="5251612" cy="5396159"/>
            <a:chOff x="0" y="0"/>
            <a:chExt cx="7002149" cy="719487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1039997" y="-66675"/>
              <a:ext cx="492215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ÍTEMS LONG-TAIL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59730" y="3250424"/>
              <a:ext cx="6082689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DUAL-VIEW MODELING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6647720"/>
              <a:ext cx="7002149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Mejora </a:t>
              </a:r>
              <a:r>
                <a:rPr lang="en-US" b="true" sz="249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representación de ítems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715140" y="1209652"/>
              <a:ext cx="3092809" cy="806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96"/>
                </a:lnSpc>
                <a:spcBef>
                  <a:spcPct val="0"/>
                </a:spcBef>
              </a:pPr>
              <a:r>
                <a:rPr lang="en-US" sz="1783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“Pocas interacciones”</a:t>
              </a: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3501075" y="896023"/>
              <a:ext cx="0" cy="1462210"/>
            </a:xfrm>
            <a:prstGeom prst="line">
              <a:avLst/>
            </a:prstGeom>
            <a:ln cap="flat" w="76200">
              <a:solidFill>
                <a:srgbClr val="331B0D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5" id="15"/>
            <p:cNvSpPr/>
            <p:nvPr/>
          </p:nvSpPr>
          <p:spPr>
            <a:xfrm flipH="true">
              <a:off x="3501075" y="4760921"/>
              <a:ext cx="0" cy="1642324"/>
            </a:xfrm>
            <a:prstGeom prst="line">
              <a:avLst/>
            </a:prstGeom>
            <a:ln cap="flat" w="76200">
              <a:solidFill>
                <a:srgbClr val="331B0D"/>
              </a:solidFill>
              <a:prstDash val="solid"/>
              <a:headEnd type="none" len="sm" w="sm"/>
              <a:tailEnd type="triangle" len="med" w="lg"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618142" y="5634556"/>
            <a:ext cx="4536921" cy="1420242"/>
            <a:chOff x="0" y="0"/>
            <a:chExt cx="1194909" cy="3740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94909" cy="374056"/>
            </a:xfrm>
            <a:custGeom>
              <a:avLst/>
              <a:gdLst/>
              <a:ahLst/>
              <a:cxnLst/>
              <a:rect r="r" b="b" t="t" l="l"/>
              <a:pathLst>
                <a:path h="374056" w="1194909">
                  <a:moveTo>
                    <a:pt x="30716" y="0"/>
                  </a:moveTo>
                  <a:lnTo>
                    <a:pt x="1164194" y="0"/>
                  </a:lnTo>
                  <a:cubicBezTo>
                    <a:pt x="1181157" y="0"/>
                    <a:pt x="1194909" y="13752"/>
                    <a:pt x="1194909" y="30716"/>
                  </a:cubicBezTo>
                  <a:lnTo>
                    <a:pt x="1194909" y="343340"/>
                  </a:lnTo>
                  <a:cubicBezTo>
                    <a:pt x="1194909" y="360304"/>
                    <a:pt x="1181157" y="374056"/>
                    <a:pt x="1164194" y="374056"/>
                  </a:cubicBezTo>
                  <a:lnTo>
                    <a:pt x="30716" y="374056"/>
                  </a:lnTo>
                  <a:cubicBezTo>
                    <a:pt x="13752" y="374056"/>
                    <a:pt x="0" y="360304"/>
                    <a:pt x="0" y="343340"/>
                  </a:cubicBezTo>
                  <a:lnTo>
                    <a:pt x="0" y="30716"/>
                  </a:lnTo>
                  <a:cubicBezTo>
                    <a:pt x="0" y="13752"/>
                    <a:pt x="13752" y="0"/>
                    <a:pt x="30716" y="0"/>
                  </a:cubicBezTo>
                  <a:close/>
                </a:path>
              </a:pathLst>
            </a:custGeom>
            <a:solidFill>
              <a:srgbClr val="004717">
                <a:alpha val="19608"/>
              </a:srgbClr>
            </a:solidFill>
            <a:ln w="142875" cap="sq">
              <a:solidFill>
                <a:srgbClr val="004717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194909" cy="421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646878" y="8262730"/>
            <a:ext cx="535089" cy="535089"/>
          </a:xfrm>
          <a:custGeom>
            <a:avLst/>
            <a:gdLst/>
            <a:ahLst/>
            <a:cxnLst/>
            <a:rect r="r" b="b" t="t" l="l"/>
            <a:pathLst>
              <a:path h="535089" w="535089">
                <a:moveTo>
                  <a:pt x="0" y="0"/>
                </a:moveTo>
                <a:lnTo>
                  <a:pt x="535089" y="0"/>
                </a:lnTo>
                <a:lnTo>
                  <a:pt x="535089" y="535088"/>
                </a:lnTo>
                <a:lnTo>
                  <a:pt x="0" y="5350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608911" y="8636401"/>
            <a:ext cx="535089" cy="535089"/>
          </a:xfrm>
          <a:custGeom>
            <a:avLst/>
            <a:gdLst/>
            <a:ahLst/>
            <a:cxnLst/>
            <a:rect r="r" b="b" t="t" l="l"/>
            <a:pathLst>
              <a:path h="535089" w="535089">
                <a:moveTo>
                  <a:pt x="0" y="0"/>
                </a:moveTo>
                <a:lnTo>
                  <a:pt x="535089" y="0"/>
                </a:lnTo>
                <a:lnTo>
                  <a:pt x="535089" y="535088"/>
                </a:lnTo>
                <a:lnTo>
                  <a:pt x="0" y="5350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870675" y="9146293"/>
            <a:ext cx="535089" cy="535089"/>
          </a:xfrm>
          <a:custGeom>
            <a:avLst/>
            <a:gdLst/>
            <a:ahLst/>
            <a:cxnLst/>
            <a:rect r="r" b="b" t="t" l="l"/>
            <a:pathLst>
              <a:path h="535089" w="535089">
                <a:moveTo>
                  <a:pt x="0" y="0"/>
                </a:moveTo>
                <a:lnTo>
                  <a:pt x="535089" y="0"/>
                </a:lnTo>
                <a:lnTo>
                  <a:pt x="535089" y="535089"/>
                </a:lnTo>
                <a:lnTo>
                  <a:pt x="0" y="5350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8700" y="1888827"/>
            <a:ext cx="9343593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DOS PROBLEMAS, DOS MÓDULOS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975993"/>
            <a:ext cx="455364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b="true" sz="7500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LLM-ESR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156445" y="3258430"/>
            <a:ext cx="3921642" cy="6143060"/>
            <a:chOff x="0" y="0"/>
            <a:chExt cx="1032861" cy="16179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32861" cy="1617925"/>
            </a:xfrm>
            <a:custGeom>
              <a:avLst/>
              <a:gdLst/>
              <a:ahLst/>
              <a:cxnLst/>
              <a:rect r="r" b="b" t="t" l="l"/>
              <a:pathLst>
                <a:path h="1617925" w="1032861">
                  <a:moveTo>
                    <a:pt x="35535" y="0"/>
                  </a:moveTo>
                  <a:lnTo>
                    <a:pt x="997326" y="0"/>
                  </a:lnTo>
                  <a:cubicBezTo>
                    <a:pt x="1006750" y="0"/>
                    <a:pt x="1015789" y="3744"/>
                    <a:pt x="1022453" y="10408"/>
                  </a:cubicBezTo>
                  <a:cubicBezTo>
                    <a:pt x="1029117" y="17072"/>
                    <a:pt x="1032861" y="26110"/>
                    <a:pt x="1032861" y="35535"/>
                  </a:cubicBezTo>
                  <a:lnTo>
                    <a:pt x="1032861" y="1582391"/>
                  </a:lnTo>
                  <a:cubicBezTo>
                    <a:pt x="1032861" y="1591815"/>
                    <a:pt x="1029117" y="1600853"/>
                    <a:pt x="1022453" y="1607517"/>
                  </a:cubicBezTo>
                  <a:cubicBezTo>
                    <a:pt x="1015789" y="1614181"/>
                    <a:pt x="1006750" y="1617925"/>
                    <a:pt x="997326" y="1617925"/>
                  </a:cubicBezTo>
                  <a:lnTo>
                    <a:pt x="35535" y="1617925"/>
                  </a:lnTo>
                  <a:cubicBezTo>
                    <a:pt x="26110" y="1617925"/>
                    <a:pt x="17072" y="1614181"/>
                    <a:pt x="10408" y="1607517"/>
                  </a:cubicBezTo>
                  <a:cubicBezTo>
                    <a:pt x="3744" y="1600853"/>
                    <a:pt x="0" y="1591815"/>
                    <a:pt x="0" y="1582391"/>
                  </a:cubicBezTo>
                  <a:lnTo>
                    <a:pt x="0" y="35535"/>
                  </a:lnTo>
                  <a:cubicBezTo>
                    <a:pt x="0" y="26110"/>
                    <a:pt x="3744" y="17072"/>
                    <a:pt x="10408" y="10408"/>
                  </a:cubicBezTo>
                  <a:cubicBezTo>
                    <a:pt x="17072" y="3744"/>
                    <a:pt x="26110" y="0"/>
                    <a:pt x="35535" y="0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 w="142875" cap="sq">
              <a:solidFill>
                <a:srgbClr val="000000">
                  <a:alpha val="80000"/>
                </a:srgbClr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032861" cy="166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37507" y="3258430"/>
            <a:ext cx="3077673" cy="794569"/>
            <a:chOff x="0" y="0"/>
            <a:chExt cx="712936" cy="18398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2936" cy="183986"/>
            </a:xfrm>
            <a:custGeom>
              <a:avLst/>
              <a:gdLst/>
              <a:ahLst/>
              <a:cxnLst/>
              <a:rect r="r" b="b" t="t" l="l"/>
              <a:pathLst>
                <a:path h="183986" w="712936">
                  <a:moveTo>
                    <a:pt x="712936" y="50310"/>
                  </a:moveTo>
                  <a:lnTo>
                    <a:pt x="712936" y="133675"/>
                  </a:lnTo>
                  <a:cubicBezTo>
                    <a:pt x="712936" y="161461"/>
                    <a:pt x="690411" y="183986"/>
                    <a:pt x="662626" y="183986"/>
                  </a:cubicBezTo>
                  <a:lnTo>
                    <a:pt x="50310" y="183986"/>
                  </a:lnTo>
                  <a:cubicBezTo>
                    <a:pt x="22525" y="183986"/>
                    <a:pt x="0" y="161461"/>
                    <a:pt x="0" y="133675"/>
                  </a:cubicBezTo>
                  <a:lnTo>
                    <a:pt x="0" y="50310"/>
                  </a:lnTo>
                  <a:cubicBezTo>
                    <a:pt x="0" y="22525"/>
                    <a:pt x="22525" y="0"/>
                    <a:pt x="50310" y="0"/>
                  </a:cubicBezTo>
                  <a:lnTo>
                    <a:pt x="662626" y="0"/>
                  </a:lnTo>
                  <a:cubicBezTo>
                    <a:pt x="690411" y="0"/>
                    <a:pt x="712936" y="22525"/>
                    <a:pt x="712936" y="50310"/>
                  </a:cubicBezTo>
                  <a:close/>
                </a:path>
              </a:pathLst>
            </a:custGeom>
            <a:ln w="57150" cap="sq">
              <a:solidFill>
                <a:srgbClr val="EC9B19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712936" cy="231611"/>
            </a:xfrm>
            <a:prstGeom prst="rect">
              <a:avLst/>
            </a:prstGeom>
          </p:spPr>
          <p:txBody>
            <a:bodyPr anchor="ctr" rtlCol="false" tIns="57791" lIns="57791" bIns="57791" rIns="57791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9464" y="3519519"/>
            <a:ext cx="5632452" cy="5620882"/>
            <a:chOff x="0" y="0"/>
            <a:chExt cx="7509937" cy="749450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039997" y="-66675"/>
              <a:ext cx="5767951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USUARIOS</a:t>
              </a:r>
              <a:r>
                <a:rPr lang="en-US" b="true" sz="300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LONG-TAIL</a:t>
              </a:r>
            </a:p>
          </p:txBody>
        </p:sp>
        <p:grpSp>
          <p:nvGrpSpPr>
            <p:cNvPr name="Group 4" id="4"/>
            <p:cNvGrpSpPr/>
            <p:nvPr/>
          </p:nvGrpSpPr>
          <p:grpSpPr>
            <a:xfrm rot="0">
              <a:off x="618874" y="2741622"/>
              <a:ext cx="5855786" cy="1893656"/>
              <a:chOff x="0" y="0"/>
              <a:chExt cx="1156698" cy="37405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156698" cy="374056"/>
              </a:xfrm>
              <a:custGeom>
                <a:avLst/>
                <a:gdLst/>
                <a:ahLst/>
                <a:cxnLst/>
                <a:rect r="r" b="b" t="t" l="l"/>
                <a:pathLst>
                  <a:path h="374056" w="1156698">
                    <a:moveTo>
                      <a:pt x="31730" y="0"/>
                    </a:moveTo>
                    <a:lnTo>
                      <a:pt x="1124968" y="0"/>
                    </a:lnTo>
                    <a:cubicBezTo>
                      <a:pt x="1133383" y="0"/>
                      <a:pt x="1141454" y="3343"/>
                      <a:pt x="1147405" y="9294"/>
                    </a:cubicBezTo>
                    <a:cubicBezTo>
                      <a:pt x="1153355" y="15244"/>
                      <a:pt x="1156698" y="23315"/>
                      <a:pt x="1156698" y="31730"/>
                    </a:cubicBezTo>
                    <a:lnTo>
                      <a:pt x="1156698" y="342325"/>
                    </a:lnTo>
                    <a:cubicBezTo>
                      <a:pt x="1156698" y="350741"/>
                      <a:pt x="1153355" y="358811"/>
                      <a:pt x="1147405" y="364762"/>
                    </a:cubicBezTo>
                    <a:cubicBezTo>
                      <a:pt x="1141454" y="370713"/>
                      <a:pt x="1133383" y="374056"/>
                      <a:pt x="1124968" y="374056"/>
                    </a:cubicBezTo>
                    <a:lnTo>
                      <a:pt x="31730" y="374056"/>
                    </a:lnTo>
                    <a:cubicBezTo>
                      <a:pt x="23315" y="374056"/>
                      <a:pt x="15244" y="370713"/>
                      <a:pt x="9294" y="364762"/>
                    </a:cubicBezTo>
                    <a:cubicBezTo>
                      <a:pt x="3343" y="358811"/>
                      <a:pt x="0" y="350741"/>
                      <a:pt x="0" y="342325"/>
                    </a:cubicBezTo>
                    <a:lnTo>
                      <a:pt x="0" y="31730"/>
                    </a:lnTo>
                    <a:cubicBezTo>
                      <a:pt x="0" y="23315"/>
                      <a:pt x="3343" y="15244"/>
                      <a:pt x="9294" y="9294"/>
                    </a:cubicBezTo>
                    <a:cubicBezTo>
                      <a:pt x="15244" y="3343"/>
                      <a:pt x="23315" y="0"/>
                      <a:pt x="31730" y="0"/>
                    </a:cubicBezTo>
                    <a:close/>
                  </a:path>
                </a:pathLst>
              </a:custGeom>
              <a:solidFill>
                <a:srgbClr val="004717">
                  <a:alpha val="19608"/>
                </a:srgbClr>
              </a:solidFill>
              <a:ln w="142875" cap="sq">
                <a:solidFill>
                  <a:srgbClr val="004717">
                    <a:alpha val="19608"/>
                  </a:srgbClr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1156698" cy="4216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59730" y="2985872"/>
              <a:ext cx="6082689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RETRIEVAL + </a:t>
              </a:r>
            </a:p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SELF-DISTILLATION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947351"/>
              <a:ext cx="7509937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Mejora </a:t>
              </a:r>
              <a:r>
                <a:rPr lang="en-US" b="true" sz="249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representación de usuarios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715140" y="1331986"/>
              <a:ext cx="3092809" cy="3872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96"/>
                </a:lnSpc>
                <a:spcBef>
                  <a:spcPct val="0"/>
                </a:spcBef>
              </a:pPr>
              <a:r>
                <a:rPr lang="en-US" sz="1783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“Historial corto”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3501075" y="1143000"/>
              <a:ext cx="0" cy="1462210"/>
            </a:xfrm>
            <a:prstGeom prst="line">
              <a:avLst/>
            </a:prstGeom>
            <a:ln cap="flat" w="76200">
              <a:solidFill>
                <a:srgbClr val="331B0D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1" id="11"/>
            <p:cNvSpPr/>
            <p:nvPr/>
          </p:nvSpPr>
          <p:spPr>
            <a:xfrm flipH="true">
              <a:off x="3501075" y="4820684"/>
              <a:ext cx="0" cy="1642324"/>
            </a:xfrm>
            <a:prstGeom prst="line">
              <a:avLst/>
            </a:prstGeom>
            <a:ln cap="flat" w="76200">
              <a:solidFill>
                <a:srgbClr val="331B0D"/>
              </a:solidFill>
              <a:prstDash val="solid"/>
              <a:headEnd type="none" len="sm" w="sm"/>
              <a:tailEnd type="triangle" len="med" w="lg"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1891665"/>
            <a:ext cx="9343593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DOS PROBLEMAS, DOS MÓDULOS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975993"/>
            <a:ext cx="455364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b="true" sz="7500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LLM-ESR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635841" y="3258430"/>
            <a:ext cx="10442246" cy="6143060"/>
          </a:xfrm>
          <a:custGeom>
            <a:avLst/>
            <a:gdLst/>
            <a:ahLst/>
            <a:cxnLst/>
            <a:rect r="r" b="b" t="t" l="l"/>
            <a:pathLst>
              <a:path h="6143060" w="10442246">
                <a:moveTo>
                  <a:pt x="0" y="0"/>
                </a:moveTo>
                <a:lnTo>
                  <a:pt x="10442246" y="0"/>
                </a:lnTo>
                <a:lnTo>
                  <a:pt x="10442246" y="6143060"/>
                </a:lnTo>
                <a:lnTo>
                  <a:pt x="0" y="6143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8" t="0" r="0" b="-750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646878" y="8262730"/>
            <a:ext cx="535089" cy="535089"/>
          </a:xfrm>
          <a:custGeom>
            <a:avLst/>
            <a:gdLst/>
            <a:ahLst/>
            <a:cxnLst/>
            <a:rect r="r" b="b" t="t" l="l"/>
            <a:pathLst>
              <a:path h="535089" w="535089">
                <a:moveTo>
                  <a:pt x="0" y="0"/>
                </a:moveTo>
                <a:lnTo>
                  <a:pt x="535089" y="0"/>
                </a:lnTo>
                <a:lnTo>
                  <a:pt x="535089" y="535088"/>
                </a:lnTo>
                <a:lnTo>
                  <a:pt x="0" y="535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608911" y="8636401"/>
            <a:ext cx="535089" cy="535089"/>
          </a:xfrm>
          <a:custGeom>
            <a:avLst/>
            <a:gdLst/>
            <a:ahLst/>
            <a:cxnLst/>
            <a:rect r="r" b="b" t="t" l="l"/>
            <a:pathLst>
              <a:path h="535089" w="535089">
                <a:moveTo>
                  <a:pt x="0" y="0"/>
                </a:moveTo>
                <a:lnTo>
                  <a:pt x="535089" y="0"/>
                </a:lnTo>
                <a:lnTo>
                  <a:pt x="535089" y="535088"/>
                </a:lnTo>
                <a:lnTo>
                  <a:pt x="0" y="535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7635841" y="3115240"/>
            <a:ext cx="6666110" cy="6286250"/>
            <a:chOff x="0" y="0"/>
            <a:chExt cx="1755683" cy="16556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55683" cy="1655638"/>
            </a:xfrm>
            <a:custGeom>
              <a:avLst/>
              <a:gdLst/>
              <a:ahLst/>
              <a:cxnLst/>
              <a:rect r="r" b="b" t="t" l="l"/>
              <a:pathLst>
                <a:path h="1655638" w="1755683">
                  <a:moveTo>
                    <a:pt x="20905" y="0"/>
                  </a:moveTo>
                  <a:lnTo>
                    <a:pt x="1734778" y="0"/>
                  </a:lnTo>
                  <a:cubicBezTo>
                    <a:pt x="1740323" y="0"/>
                    <a:pt x="1745640" y="2202"/>
                    <a:pt x="1749560" y="6123"/>
                  </a:cubicBezTo>
                  <a:cubicBezTo>
                    <a:pt x="1753481" y="10043"/>
                    <a:pt x="1755683" y="15361"/>
                    <a:pt x="1755683" y="20905"/>
                  </a:cubicBezTo>
                  <a:lnTo>
                    <a:pt x="1755683" y="1634733"/>
                  </a:lnTo>
                  <a:cubicBezTo>
                    <a:pt x="1755683" y="1640277"/>
                    <a:pt x="1753481" y="1645594"/>
                    <a:pt x="1749560" y="1649515"/>
                  </a:cubicBezTo>
                  <a:cubicBezTo>
                    <a:pt x="1745640" y="1653435"/>
                    <a:pt x="1740323" y="1655638"/>
                    <a:pt x="1734778" y="1655638"/>
                  </a:cubicBezTo>
                  <a:lnTo>
                    <a:pt x="20905" y="1655638"/>
                  </a:lnTo>
                  <a:cubicBezTo>
                    <a:pt x="15361" y="1655638"/>
                    <a:pt x="10043" y="1653435"/>
                    <a:pt x="6123" y="1649515"/>
                  </a:cubicBezTo>
                  <a:cubicBezTo>
                    <a:pt x="2202" y="1645594"/>
                    <a:pt x="0" y="1640277"/>
                    <a:pt x="0" y="1634733"/>
                  </a:cubicBezTo>
                  <a:lnTo>
                    <a:pt x="0" y="20905"/>
                  </a:lnTo>
                  <a:cubicBezTo>
                    <a:pt x="0" y="15361"/>
                    <a:pt x="2202" y="10043"/>
                    <a:pt x="6123" y="6123"/>
                  </a:cubicBezTo>
                  <a:cubicBezTo>
                    <a:pt x="10043" y="2202"/>
                    <a:pt x="15361" y="0"/>
                    <a:pt x="20905" y="0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 w="142875" cap="sq">
              <a:solidFill>
                <a:srgbClr val="000000">
                  <a:alpha val="80000"/>
                </a:srgbClr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755683" cy="1703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224551" y="8371910"/>
            <a:ext cx="620270" cy="620270"/>
          </a:xfrm>
          <a:custGeom>
            <a:avLst/>
            <a:gdLst/>
            <a:ahLst/>
            <a:cxnLst/>
            <a:rect r="r" b="b" t="t" l="l"/>
            <a:pathLst>
              <a:path h="620270" w="620270">
                <a:moveTo>
                  <a:pt x="0" y="0"/>
                </a:moveTo>
                <a:lnTo>
                  <a:pt x="620270" y="0"/>
                </a:lnTo>
                <a:lnTo>
                  <a:pt x="620270" y="620270"/>
                </a:lnTo>
                <a:lnTo>
                  <a:pt x="0" y="6202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443251" y="8831130"/>
            <a:ext cx="620270" cy="620270"/>
          </a:xfrm>
          <a:custGeom>
            <a:avLst/>
            <a:gdLst/>
            <a:ahLst/>
            <a:cxnLst/>
            <a:rect r="r" b="b" t="t" l="l"/>
            <a:pathLst>
              <a:path h="620270" w="620270">
                <a:moveTo>
                  <a:pt x="0" y="0"/>
                </a:moveTo>
                <a:lnTo>
                  <a:pt x="620269" y="0"/>
                </a:lnTo>
                <a:lnTo>
                  <a:pt x="620269" y="620270"/>
                </a:lnTo>
                <a:lnTo>
                  <a:pt x="0" y="6202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515979" y="9141265"/>
            <a:ext cx="620270" cy="620270"/>
          </a:xfrm>
          <a:custGeom>
            <a:avLst/>
            <a:gdLst/>
            <a:ahLst/>
            <a:cxnLst/>
            <a:rect r="r" b="b" t="t" l="l"/>
            <a:pathLst>
              <a:path h="620270" w="620270">
                <a:moveTo>
                  <a:pt x="0" y="0"/>
                </a:moveTo>
                <a:lnTo>
                  <a:pt x="620270" y="0"/>
                </a:lnTo>
                <a:lnTo>
                  <a:pt x="620270" y="620270"/>
                </a:lnTo>
                <a:lnTo>
                  <a:pt x="0" y="6202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5109846" y="662792"/>
            <a:ext cx="2098159" cy="722776"/>
            <a:chOff x="0" y="0"/>
            <a:chExt cx="2797545" cy="963701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481851" y="326340"/>
              <a:ext cx="2315695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SOLUCIÓN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88757" y="86081"/>
              <a:ext cx="803592" cy="803592"/>
            </a:xfrm>
            <a:custGeom>
              <a:avLst/>
              <a:gdLst/>
              <a:ahLst/>
              <a:cxnLst/>
              <a:rect r="r" b="b" t="t" l="l"/>
              <a:pathLst>
                <a:path h="803592" w="803592">
                  <a:moveTo>
                    <a:pt x="0" y="0"/>
                  </a:moveTo>
                  <a:lnTo>
                    <a:pt x="803592" y="0"/>
                  </a:lnTo>
                  <a:lnTo>
                    <a:pt x="803592" y="803592"/>
                  </a:lnTo>
                  <a:lnTo>
                    <a:pt x="0" y="803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597413" y="3258430"/>
            <a:ext cx="3077673" cy="794569"/>
            <a:chOff x="0" y="0"/>
            <a:chExt cx="712936" cy="18398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2936" cy="183986"/>
            </a:xfrm>
            <a:custGeom>
              <a:avLst/>
              <a:gdLst/>
              <a:ahLst/>
              <a:cxnLst/>
              <a:rect r="r" b="b" t="t" l="l"/>
              <a:pathLst>
                <a:path h="183986" w="712936">
                  <a:moveTo>
                    <a:pt x="712936" y="50310"/>
                  </a:moveTo>
                  <a:lnTo>
                    <a:pt x="712936" y="133675"/>
                  </a:lnTo>
                  <a:cubicBezTo>
                    <a:pt x="712936" y="161461"/>
                    <a:pt x="690411" y="183986"/>
                    <a:pt x="662626" y="183986"/>
                  </a:cubicBezTo>
                  <a:lnTo>
                    <a:pt x="50310" y="183986"/>
                  </a:lnTo>
                  <a:cubicBezTo>
                    <a:pt x="22525" y="183986"/>
                    <a:pt x="0" y="161461"/>
                    <a:pt x="0" y="133675"/>
                  </a:cubicBezTo>
                  <a:lnTo>
                    <a:pt x="0" y="50310"/>
                  </a:lnTo>
                  <a:cubicBezTo>
                    <a:pt x="0" y="22525"/>
                    <a:pt x="22525" y="0"/>
                    <a:pt x="50310" y="0"/>
                  </a:cubicBezTo>
                  <a:lnTo>
                    <a:pt x="662626" y="0"/>
                  </a:lnTo>
                  <a:cubicBezTo>
                    <a:pt x="690411" y="0"/>
                    <a:pt x="712936" y="22525"/>
                    <a:pt x="712936" y="50310"/>
                  </a:cubicBezTo>
                  <a:close/>
                </a:path>
              </a:pathLst>
            </a:custGeom>
            <a:ln w="57150" cap="sq">
              <a:solidFill>
                <a:srgbClr val="EC9B19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12936" cy="231611"/>
            </a:xfrm>
            <a:prstGeom prst="rect">
              <a:avLst/>
            </a:prstGeom>
          </p:spPr>
          <p:txBody>
            <a:bodyPr anchor="ctr" rtlCol="false" tIns="57791" lIns="57791" bIns="57791" rIns="57791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02550" y="4064781"/>
            <a:ext cx="4777191" cy="2157438"/>
            <a:chOff x="0" y="0"/>
            <a:chExt cx="6369589" cy="287658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6369589" cy="2876584"/>
              <a:chOff x="0" y="0"/>
              <a:chExt cx="1258190" cy="56821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258190" cy="568214"/>
              </a:xfrm>
              <a:custGeom>
                <a:avLst/>
                <a:gdLst/>
                <a:ahLst/>
                <a:cxnLst/>
                <a:rect r="r" b="b" t="t" l="l"/>
                <a:pathLst>
                  <a:path h="568214" w="1258190">
                    <a:moveTo>
                      <a:pt x="29171" y="0"/>
                    </a:moveTo>
                    <a:lnTo>
                      <a:pt x="1229020" y="0"/>
                    </a:lnTo>
                    <a:cubicBezTo>
                      <a:pt x="1236756" y="0"/>
                      <a:pt x="1244176" y="3073"/>
                      <a:pt x="1249646" y="8544"/>
                    </a:cubicBezTo>
                    <a:cubicBezTo>
                      <a:pt x="1255117" y="14015"/>
                      <a:pt x="1258190" y="21434"/>
                      <a:pt x="1258190" y="29171"/>
                    </a:cubicBezTo>
                    <a:lnTo>
                      <a:pt x="1258190" y="539043"/>
                    </a:lnTo>
                    <a:cubicBezTo>
                      <a:pt x="1258190" y="546780"/>
                      <a:pt x="1255117" y="554200"/>
                      <a:pt x="1249646" y="559670"/>
                    </a:cubicBezTo>
                    <a:cubicBezTo>
                      <a:pt x="1244176" y="565141"/>
                      <a:pt x="1236756" y="568214"/>
                      <a:pt x="1229020" y="568214"/>
                    </a:cubicBezTo>
                    <a:lnTo>
                      <a:pt x="29171" y="568214"/>
                    </a:lnTo>
                    <a:cubicBezTo>
                      <a:pt x="21434" y="568214"/>
                      <a:pt x="14015" y="565141"/>
                      <a:pt x="8544" y="559670"/>
                    </a:cubicBezTo>
                    <a:cubicBezTo>
                      <a:pt x="3073" y="554200"/>
                      <a:pt x="0" y="546780"/>
                      <a:pt x="0" y="539043"/>
                    </a:cubicBezTo>
                    <a:lnTo>
                      <a:pt x="0" y="29171"/>
                    </a:lnTo>
                    <a:cubicBezTo>
                      <a:pt x="0" y="21434"/>
                      <a:pt x="3073" y="14015"/>
                      <a:pt x="8544" y="8544"/>
                    </a:cubicBezTo>
                    <a:cubicBezTo>
                      <a:pt x="14015" y="3073"/>
                      <a:pt x="21434" y="0"/>
                      <a:pt x="29171" y="0"/>
                    </a:cubicBezTo>
                    <a:close/>
                  </a:path>
                </a:pathLst>
              </a:custGeom>
              <a:solidFill>
                <a:srgbClr val="004717">
                  <a:alpha val="19608"/>
                </a:srgbClr>
              </a:solidFill>
              <a:ln w="142875" cap="sq">
                <a:solidFill>
                  <a:srgbClr val="004717">
                    <a:alpha val="19608"/>
                  </a:srgbClr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1258190" cy="615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445305" y="215619"/>
              <a:ext cx="5478979" cy="2397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598"/>
                </a:lnSpc>
                <a:spcBef>
                  <a:spcPct val="0"/>
                </a:spcBef>
              </a:pPr>
              <a:r>
                <a:rPr lang="en-US" b="true" sz="257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El LLM no recomienda online:</a:t>
              </a:r>
              <a:r>
                <a:rPr lang="en-US" sz="257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solo genera embeddings previamente y los guarda.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6197" y="2758138"/>
            <a:ext cx="12316324" cy="7187327"/>
            <a:chOff x="0" y="0"/>
            <a:chExt cx="16421766" cy="95831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21766" cy="9583102"/>
            </a:xfrm>
            <a:custGeom>
              <a:avLst/>
              <a:gdLst/>
              <a:ahLst/>
              <a:cxnLst/>
              <a:rect r="r" b="b" t="t" l="l"/>
              <a:pathLst>
                <a:path h="9583102" w="16421766">
                  <a:moveTo>
                    <a:pt x="0" y="0"/>
                  </a:moveTo>
                  <a:lnTo>
                    <a:pt x="16421766" y="0"/>
                  </a:lnTo>
                  <a:lnTo>
                    <a:pt x="16421766" y="9583102"/>
                  </a:lnTo>
                  <a:lnTo>
                    <a:pt x="0" y="9583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4" r="0" b="-7073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224863" y="5943512"/>
              <a:ext cx="5887410" cy="3639590"/>
              <a:chOff x="0" y="0"/>
              <a:chExt cx="712936" cy="44055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12936" cy="440558"/>
              </a:xfrm>
              <a:custGeom>
                <a:avLst/>
                <a:gdLst/>
                <a:ahLst/>
                <a:cxnLst/>
                <a:rect r="r" b="b" t="t" l="l"/>
                <a:pathLst>
                  <a:path h="440558" w="712936">
                    <a:moveTo>
                      <a:pt x="712936" y="35903"/>
                    </a:moveTo>
                    <a:lnTo>
                      <a:pt x="712936" y="404655"/>
                    </a:lnTo>
                    <a:cubicBezTo>
                      <a:pt x="712936" y="414177"/>
                      <a:pt x="709154" y="423309"/>
                      <a:pt x="702420" y="430042"/>
                    </a:cubicBezTo>
                    <a:cubicBezTo>
                      <a:pt x="695687" y="436775"/>
                      <a:pt x="686555" y="440558"/>
                      <a:pt x="677033" y="440558"/>
                    </a:cubicBezTo>
                    <a:lnTo>
                      <a:pt x="35903" y="440558"/>
                    </a:lnTo>
                    <a:cubicBezTo>
                      <a:pt x="16074" y="440558"/>
                      <a:pt x="0" y="424483"/>
                      <a:pt x="0" y="404655"/>
                    </a:cubicBezTo>
                    <a:lnTo>
                      <a:pt x="0" y="35903"/>
                    </a:lnTo>
                    <a:cubicBezTo>
                      <a:pt x="0" y="16074"/>
                      <a:pt x="16074" y="0"/>
                      <a:pt x="35903" y="0"/>
                    </a:cubicBezTo>
                    <a:lnTo>
                      <a:pt x="677033" y="0"/>
                    </a:lnTo>
                    <a:cubicBezTo>
                      <a:pt x="696862" y="0"/>
                      <a:pt x="712936" y="16074"/>
                      <a:pt x="712936" y="35903"/>
                    </a:cubicBezTo>
                    <a:close/>
                  </a:path>
                </a:pathLst>
              </a:custGeom>
              <a:ln w="47625" cap="sq">
                <a:solidFill>
                  <a:srgbClr val="EC9B19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712936" cy="4881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1987513" y="4609826"/>
              <a:ext cx="4103564" cy="4973276"/>
              <a:chOff x="0" y="0"/>
              <a:chExt cx="712936" cy="86368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712936" cy="863686"/>
              </a:xfrm>
              <a:custGeom>
                <a:avLst/>
                <a:gdLst/>
                <a:ahLst/>
                <a:cxnLst/>
                <a:rect r="r" b="b" t="t" l="l"/>
                <a:pathLst>
                  <a:path h="863686" w="712936">
                    <a:moveTo>
                      <a:pt x="712936" y="51510"/>
                    </a:moveTo>
                    <a:lnTo>
                      <a:pt x="712936" y="812176"/>
                    </a:lnTo>
                    <a:cubicBezTo>
                      <a:pt x="712936" y="840624"/>
                      <a:pt x="689874" y="863686"/>
                      <a:pt x="661426" y="863686"/>
                    </a:cubicBezTo>
                    <a:lnTo>
                      <a:pt x="51510" y="863686"/>
                    </a:lnTo>
                    <a:cubicBezTo>
                      <a:pt x="23062" y="863686"/>
                      <a:pt x="0" y="840624"/>
                      <a:pt x="0" y="812176"/>
                    </a:cubicBezTo>
                    <a:lnTo>
                      <a:pt x="0" y="51510"/>
                    </a:lnTo>
                    <a:cubicBezTo>
                      <a:pt x="0" y="23062"/>
                      <a:pt x="23062" y="0"/>
                      <a:pt x="51510" y="0"/>
                    </a:cubicBezTo>
                    <a:lnTo>
                      <a:pt x="661426" y="0"/>
                    </a:lnTo>
                    <a:cubicBezTo>
                      <a:pt x="689874" y="0"/>
                      <a:pt x="712936" y="23062"/>
                      <a:pt x="712936" y="51510"/>
                    </a:cubicBezTo>
                    <a:close/>
                  </a:path>
                </a:pathLst>
              </a:custGeom>
              <a:ln w="47625" cap="sq">
                <a:solidFill>
                  <a:srgbClr val="EC9B19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712936" cy="9113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140883" y="6145204"/>
              <a:ext cx="854133" cy="854133"/>
            </a:xfrm>
            <a:custGeom>
              <a:avLst/>
              <a:gdLst/>
              <a:ahLst/>
              <a:cxnLst/>
              <a:rect r="r" b="b" t="t" l="l"/>
              <a:pathLst>
                <a:path h="854133" w="854133">
                  <a:moveTo>
                    <a:pt x="0" y="0"/>
                  </a:moveTo>
                  <a:lnTo>
                    <a:pt x="854134" y="0"/>
                  </a:lnTo>
                  <a:lnTo>
                    <a:pt x="854134" y="854133"/>
                  </a:lnTo>
                  <a:lnTo>
                    <a:pt x="0" y="8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524118" y="7851789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7" y="0"/>
                  </a:lnTo>
                  <a:lnTo>
                    <a:pt x="678127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616514" y="8190852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65253" y="8703840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3182167" y="6098913"/>
              <a:ext cx="892984" cy="892984"/>
            </a:xfrm>
            <a:custGeom>
              <a:avLst/>
              <a:gdLst/>
              <a:ahLst/>
              <a:cxnLst/>
              <a:rect r="r" b="b" t="t" l="l"/>
              <a:pathLst>
                <a:path h="892984" w="892984">
                  <a:moveTo>
                    <a:pt x="0" y="0"/>
                  </a:moveTo>
                  <a:lnTo>
                    <a:pt x="892984" y="0"/>
                  </a:lnTo>
                  <a:lnTo>
                    <a:pt x="892984" y="892985"/>
                  </a:lnTo>
                  <a:lnTo>
                    <a:pt x="0" y="89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766545" y="8367877"/>
            <a:ext cx="1812003" cy="1559426"/>
            <a:chOff x="0" y="0"/>
            <a:chExt cx="2416004" cy="207923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524000" y="901700"/>
              <a:ext cx="892004" cy="892004"/>
            </a:xfrm>
            <a:custGeom>
              <a:avLst/>
              <a:gdLst/>
              <a:ahLst/>
              <a:cxnLst/>
              <a:rect r="r" b="b" t="t" l="l"/>
              <a:pathLst>
                <a:path h="892004" w="892004">
                  <a:moveTo>
                    <a:pt x="0" y="0"/>
                  </a:moveTo>
                  <a:lnTo>
                    <a:pt x="892004" y="0"/>
                  </a:lnTo>
                  <a:lnTo>
                    <a:pt x="892004" y="892004"/>
                  </a:lnTo>
                  <a:lnTo>
                    <a:pt x="0" y="892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28600" y="0"/>
              <a:ext cx="879304" cy="879304"/>
            </a:xfrm>
            <a:custGeom>
              <a:avLst/>
              <a:gdLst/>
              <a:ahLst/>
              <a:cxnLst/>
              <a:rect r="r" b="b" t="t" l="l"/>
              <a:pathLst>
                <a:path h="879304" w="879304">
                  <a:moveTo>
                    <a:pt x="0" y="0"/>
                  </a:moveTo>
                  <a:lnTo>
                    <a:pt x="879304" y="0"/>
                  </a:lnTo>
                  <a:lnTo>
                    <a:pt x="879304" y="879304"/>
                  </a:lnTo>
                  <a:lnTo>
                    <a:pt x="0" y="879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187231"/>
              <a:ext cx="892004" cy="892004"/>
            </a:xfrm>
            <a:custGeom>
              <a:avLst/>
              <a:gdLst/>
              <a:ahLst/>
              <a:cxnLst/>
              <a:rect r="r" b="b" t="t" l="l"/>
              <a:pathLst>
                <a:path h="892004" w="892004">
                  <a:moveTo>
                    <a:pt x="0" y="0"/>
                  </a:moveTo>
                  <a:lnTo>
                    <a:pt x="892004" y="0"/>
                  </a:lnTo>
                  <a:lnTo>
                    <a:pt x="892004" y="892004"/>
                  </a:lnTo>
                  <a:lnTo>
                    <a:pt x="0" y="892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109846" y="662792"/>
            <a:ext cx="2098159" cy="722776"/>
            <a:chOff x="0" y="0"/>
            <a:chExt cx="2797545" cy="963701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481851" y="326340"/>
              <a:ext cx="2315695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SOLUCIÓN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88757" y="86081"/>
              <a:ext cx="803592" cy="803592"/>
            </a:xfrm>
            <a:custGeom>
              <a:avLst/>
              <a:gdLst/>
              <a:ahLst/>
              <a:cxnLst/>
              <a:rect r="r" b="b" t="t" l="l"/>
              <a:pathLst>
                <a:path h="803592" w="803592">
                  <a:moveTo>
                    <a:pt x="0" y="0"/>
                  </a:moveTo>
                  <a:lnTo>
                    <a:pt x="803592" y="0"/>
                  </a:lnTo>
                  <a:lnTo>
                    <a:pt x="803592" y="803592"/>
                  </a:lnTo>
                  <a:lnTo>
                    <a:pt x="0" y="803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28700" y="1861026"/>
            <a:ext cx="11102713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EMBEDDINGS SEMÁNTICOS DESDE LLMS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975993"/>
            <a:ext cx="455364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b="true" sz="7500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LLM-ESR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589949" y="7264779"/>
            <a:ext cx="4002393" cy="1601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1"/>
              </a:lnSpc>
            </a:pPr>
            <a:r>
              <a:rPr lang="en-US" sz="231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text-embedding-ada-002: </a:t>
            </a:r>
          </a:p>
          <a:p>
            <a:pPr algn="just" marL="0" indent="0" lvl="0">
              <a:lnSpc>
                <a:spcPts val="3241"/>
              </a:lnSpc>
              <a:spcBef>
                <a:spcPct val="0"/>
              </a:spcBef>
            </a:pPr>
            <a:r>
              <a:rPr lang="en-US" sz="231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modelo de OpenAI que se usó para generar todos los embeddings semánticos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197" y="2758138"/>
            <a:ext cx="12316324" cy="7187327"/>
            <a:chOff x="0" y="0"/>
            <a:chExt cx="16421766" cy="95831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21766" cy="9583102"/>
            </a:xfrm>
            <a:custGeom>
              <a:avLst/>
              <a:gdLst/>
              <a:ahLst/>
              <a:cxnLst/>
              <a:rect r="r" b="b" t="t" l="l"/>
              <a:pathLst>
                <a:path h="9583102" w="16421766">
                  <a:moveTo>
                    <a:pt x="0" y="0"/>
                  </a:moveTo>
                  <a:lnTo>
                    <a:pt x="16421766" y="0"/>
                  </a:lnTo>
                  <a:lnTo>
                    <a:pt x="16421766" y="9583102"/>
                  </a:lnTo>
                  <a:lnTo>
                    <a:pt x="0" y="9583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4" r="0" b="-7073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2698037" y="3643482"/>
              <a:ext cx="3414235" cy="3785207"/>
              <a:chOff x="0" y="0"/>
              <a:chExt cx="712936" cy="79008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712936" cy="790080"/>
              </a:xfrm>
              <a:custGeom>
                <a:avLst/>
                <a:gdLst/>
                <a:ahLst/>
                <a:cxnLst/>
                <a:rect r="r" b="b" t="t" l="l"/>
                <a:pathLst>
                  <a:path h="790080" w="712936">
                    <a:moveTo>
                      <a:pt x="712936" y="61910"/>
                    </a:moveTo>
                    <a:lnTo>
                      <a:pt x="712936" y="728169"/>
                    </a:lnTo>
                    <a:cubicBezTo>
                      <a:pt x="712936" y="762362"/>
                      <a:pt x="685218" y="790080"/>
                      <a:pt x="651026" y="790080"/>
                    </a:cubicBezTo>
                    <a:lnTo>
                      <a:pt x="61910" y="790080"/>
                    </a:lnTo>
                    <a:cubicBezTo>
                      <a:pt x="27718" y="790080"/>
                      <a:pt x="0" y="762362"/>
                      <a:pt x="0" y="728169"/>
                    </a:cubicBezTo>
                    <a:lnTo>
                      <a:pt x="0" y="61910"/>
                    </a:lnTo>
                    <a:cubicBezTo>
                      <a:pt x="0" y="27718"/>
                      <a:pt x="27718" y="0"/>
                      <a:pt x="61910" y="0"/>
                    </a:cubicBezTo>
                    <a:lnTo>
                      <a:pt x="651026" y="0"/>
                    </a:lnTo>
                    <a:cubicBezTo>
                      <a:pt x="685218" y="0"/>
                      <a:pt x="712936" y="27718"/>
                      <a:pt x="712936" y="61910"/>
                    </a:cubicBezTo>
                    <a:close/>
                  </a:path>
                </a:pathLst>
              </a:custGeom>
              <a:ln w="47625" cap="sq">
                <a:solidFill>
                  <a:srgbClr val="EC9B19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712936" cy="8377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1140883" y="6145204"/>
              <a:ext cx="854133" cy="854133"/>
            </a:xfrm>
            <a:custGeom>
              <a:avLst/>
              <a:gdLst/>
              <a:ahLst/>
              <a:cxnLst/>
              <a:rect r="r" b="b" t="t" l="l"/>
              <a:pathLst>
                <a:path h="854133" w="854133">
                  <a:moveTo>
                    <a:pt x="0" y="0"/>
                  </a:moveTo>
                  <a:lnTo>
                    <a:pt x="854134" y="0"/>
                  </a:lnTo>
                  <a:lnTo>
                    <a:pt x="854134" y="854133"/>
                  </a:lnTo>
                  <a:lnTo>
                    <a:pt x="0" y="8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524118" y="7851789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7" y="0"/>
                  </a:lnTo>
                  <a:lnTo>
                    <a:pt x="678127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616514" y="8190852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65253" y="8703840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3182167" y="6098913"/>
              <a:ext cx="892984" cy="892984"/>
            </a:xfrm>
            <a:custGeom>
              <a:avLst/>
              <a:gdLst/>
              <a:ahLst/>
              <a:cxnLst/>
              <a:rect r="r" b="b" t="t" l="l"/>
              <a:pathLst>
                <a:path h="892984" w="892984">
                  <a:moveTo>
                    <a:pt x="0" y="0"/>
                  </a:moveTo>
                  <a:lnTo>
                    <a:pt x="892984" y="0"/>
                  </a:lnTo>
                  <a:lnTo>
                    <a:pt x="892984" y="892985"/>
                  </a:lnTo>
                  <a:lnTo>
                    <a:pt x="0" y="89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766545" y="8367877"/>
            <a:ext cx="1812003" cy="1559426"/>
            <a:chOff x="0" y="0"/>
            <a:chExt cx="2416004" cy="20792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524000" y="901700"/>
              <a:ext cx="892004" cy="892004"/>
            </a:xfrm>
            <a:custGeom>
              <a:avLst/>
              <a:gdLst/>
              <a:ahLst/>
              <a:cxnLst/>
              <a:rect r="r" b="b" t="t" l="l"/>
              <a:pathLst>
                <a:path h="892004" w="892004">
                  <a:moveTo>
                    <a:pt x="0" y="0"/>
                  </a:moveTo>
                  <a:lnTo>
                    <a:pt x="892004" y="0"/>
                  </a:lnTo>
                  <a:lnTo>
                    <a:pt x="892004" y="892004"/>
                  </a:lnTo>
                  <a:lnTo>
                    <a:pt x="0" y="892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28600" y="0"/>
              <a:ext cx="879304" cy="879304"/>
            </a:xfrm>
            <a:custGeom>
              <a:avLst/>
              <a:gdLst/>
              <a:ahLst/>
              <a:cxnLst/>
              <a:rect r="r" b="b" t="t" l="l"/>
              <a:pathLst>
                <a:path h="879304" w="879304">
                  <a:moveTo>
                    <a:pt x="0" y="0"/>
                  </a:moveTo>
                  <a:lnTo>
                    <a:pt x="879304" y="0"/>
                  </a:lnTo>
                  <a:lnTo>
                    <a:pt x="879304" y="879304"/>
                  </a:lnTo>
                  <a:lnTo>
                    <a:pt x="0" y="879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187231"/>
              <a:ext cx="892004" cy="892004"/>
            </a:xfrm>
            <a:custGeom>
              <a:avLst/>
              <a:gdLst/>
              <a:ahLst/>
              <a:cxnLst/>
              <a:rect r="r" b="b" t="t" l="l"/>
              <a:pathLst>
                <a:path h="892004" w="892004">
                  <a:moveTo>
                    <a:pt x="0" y="0"/>
                  </a:moveTo>
                  <a:lnTo>
                    <a:pt x="892004" y="0"/>
                  </a:lnTo>
                  <a:lnTo>
                    <a:pt x="892004" y="892004"/>
                  </a:lnTo>
                  <a:lnTo>
                    <a:pt x="0" y="892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109846" y="662792"/>
            <a:ext cx="2098159" cy="722776"/>
            <a:chOff x="0" y="0"/>
            <a:chExt cx="2797545" cy="96370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81851" y="326340"/>
              <a:ext cx="2315695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SOLUCIÓN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88757" y="86081"/>
              <a:ext cx="803592" cy="803592"/>
            </a:xfrm>
            <a:custGeom>
              <a:avLst/>
              <a:gdLst/>
              <a:ahLst/>
              <a:cxnLst/>
              <a:rect r="r" b="b" t="t" l="l"/>
              <a:pathLst>
                <a:path h="803592" w="803592">
                  <a:moveTo>
                    <a:pt x="0" y="0"/>
                  </a:moveTo>
                  <a:lnTo>
                    <a:pt x="803592" y="0"/>
                  </a:lnTo>
                  <a:lnTo>
                    <a:pt x="803592" y="803592"/>
                  </a:lnTo>
                  <a:lnTo>
                    <a:pt x="0" y="803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28700" y="1851501"/>
            <a:ext cx="1515728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spc="-27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PRESERVAR SEMÁNTICA, ADAPTAR AL RECOMENDADOR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975993"/>
            <a:ext cx="455364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b="true" sz="7500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LLM-ESR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64868" y="2804001"/>
            <a:ext cx="4777191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lang="en-US" b="true" sz="21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no congelar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los embeddings pone en riesgo el</a:t>
            </a:r>
            <a:r>
              <a:rPr lang="en-US" b="true" sz="21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perder las relaciones semánticas.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164868" y="4255611"/>
            <a:ext cx="4777191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Congelar </a:t>
            </a: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genera que el espacio de LLM no necesariamente coincida con el SRS.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64868" y="5829998"/>
            <a:ext cx="4777191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El Adapter transforma el embedding del LLM al SRS.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164868" y="7910075"/>
            <a:ext cx="4842170" cy="1986807"/>
            <a:chOff x="0" y="0"/>
            <a:chExt cx="6456227" cy="264907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456227" cy="2649076"/>
              <a:chOff x="0" y="0"/>
              <a:chExt cx="1275304" cy="523274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75304" cy="523274"/>
              </a:xfrm>
              <a:custGeom>
                <a:avLst/>
                <a:gdLst/>
                <a:ahLst/>
                <a:cxnLst/>
                <a:rect r="r" b="b" t="t" l="l"/>
                <a:pathLst>
                  <a:path h="523274" w="1275304">
                    <a:moveTo>
                      <a:pt x="39971" y="0"/>
                    </a:moveTo>
                    <a:lnTo>
                      <a:pt x="1235333" y="0"/>
                    </a:lnTo>
                    <a:cubicBezTo>
                      <a:pt x="1245934" y="0"/>
                      <a:pt x="1256101" y="4211"/>
                      <a:pt x="1263597" y="11707"/>
                    </a:cubicBezTo>
                    <a:cubicBezTo>
                      <a:pt x="1271093" y="19203"/>
                      <a:pt x="1275304" y="29370"/>
                      <a:pt x="1275304" y="39971"/>
                    </a:cubicBezTo>
                    <a:lnTo>
                      <a:pt x="1275304" y="483303"/>
                    </a:lnTo>
                    <a:cubicBezTo>
                      <a:pt x="1275304" y="505379"/>
                      <a:pt x="1257408" y="523274"/>
                      <a:pt x="1235333" y="523274"/>
                    </a:cubicBezTo>
                    <a:lnTo>
                      <a:pt x="39971" y="523274"/>
                    </a:lnTo>
                    <a:cubicBezTo>
                      <a:pt x="17896" y="523274"/>
                      <a:pt x="0" y="505379"/>
                      <a:pt x="0" y="483303"/>
                    </a:cubicBezTo>
                    <a:lnTo>
                      <a:pt x="0" y="39971"/>
                    </a:lnTo>
                    <a:cubicBezTo>
                      <a:pt x="0" y="17896"/>
                      <a:pt x="17896" y="0"/>
                      <a:pt x="39971" y="0"/>
                    </a:cubicBezTo>
                    <a:close/>
                  </a:path>
                </a:pathLst>
              </a:custGeom>
              <a:ln w="38100" cap="rnd">
                <a:solidFill>
                  <a:srgbClr val="C22829"/>
                </a:solidFill>
                <a:prstDash val="solid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28575"/>
                <a:ext cx="1275304" cy="5518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84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0"/>
              <a:ext cx="6456227" cy="716768"/>
              <a:chOff x="0" y="0"/>
              <a:chExt cx="1275304" cy="141584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75304" cy="141584"/>
              </a:xfrm>
              <a:custGeom>
                <a:avLst/>
                <a:gdLst/>
                <a:ahLst/>
                <a:cxnLst/>
                <a:rect r="r" b="b" t="t" l="l"/>
                <a:pathLst>
                  <a:path h="141584" w="1275304">
                    <a:moveTo>
                      <a:pt x="39971" y="0"/>
                    </a:moveTo>
                    <a:lnTo>
                      <a:pt x="1235333" y="0"/>
                    </a:lnTo>
                    <a:cubicBezTo>
                      <a:pt x="1245934" y="0"/>
                      <a:pt x="1256101" y="4211"/>
                      <a:pt x="1263597" y="11707"/>
                    </a:cubicBezTo>
                    <a:cubicBezTo>
                      <a:pt x="1271093" y="19203"/>
                      <a:pt x="1275304" y="29370"/>
                      <a:pt x="1275304" y="39971"/>
                    </a:cubicBezTo>
                    <a:lnTo>
                      <a:pt x="1275304" y="101613"/>
                    </a:lnTo>
                    <a:cubicBezTo>
                      <a:pt x="1275304" y="123688"/>
                      <a:pt x="1257408" y="141584"/>
                      <a:pt x="1235333" y="141584"/>
                    </a:cubicBezTo>
                    <a:lnTo>
                      <a:pt x="39971" y="141584"/>
                    </a:lnTo>
                    <a:cubicBezTo>
                      <a:pt x="17896" y="141584"/>
                      <a:pt x="0" y="123688"/>
                      <a:pt x="0" y="101613"/>
                    </a:cubicBezTo>
                    <a:lnTo>
                      <a:pt x="0" y="39971"/>
                    </a:lnTo>
                    <a:cubicBezTo>
                      <a:pt x="0" y="17896"/>
                      <a:pt x="17896" y="0"/>
                      <a:pt x="39971" y="0"/>
                    </a:cubicBezTo>
                    <a:close/>
                  </a:path>
                </a:pathLst>
              </a:custGeom>
              <a:solidFill>
                <a:srgbClr val="C22829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28575"/>
                <a:ext cx="1275304" cy="1701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84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3319" y="358384"/>
              <a:ext cx="6412908" cy="358384"/>
              <a:chOff x="0" y="0"/>
              <a:chExt cx="1266747" cy="70792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266747" cy="70792"/>
              </a:xfrm>
              <a:custGeom>
                <a:avLst/>
                <a:gdLst/>
                <a:ahLst/>
                <a:cxnLst/>
                <a:rect r="r" b="b" t="t" l="l"/>
                <a:pathLst>
                  <a:path h="70792" w="1266747">
                    <a:moveTo>
                      <a:pt x="0" y="0"/>
                    </a:moveTo>
                    <a:lnTo>
                      <a:pt x="1266747" y="0"/>
                    </a:lnTo>
                    <a:lnTo>
                      <a:pt x="1266747" y="70792"/>
                    </a:lnTo>
                    <a:lnTo>
                      <a:pt x="0" y="70792"/>
                    </a:lnTo>
                    <a:close/>
                  </a:path>
                </a:pathLst>
              </a:custGeom>
              <a:solidFill>
                <a:srgbClr val="C228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28575"/>
                <a:ext cx="1266747" cy="993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84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424223" y="98669"/>
              <a:ext cx="56511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Item prompt template (Amazon)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243351" y="866185"/>
              <a:ext cx="5969526" cy="1569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932"/>
                </a:lnSpc>
                <a:spcBef>
                  <a:spcPct val="0"/>
                </a:spcBef>
              </a:pPr>
              <a:r>
                <a:rPr lang="en-US" sz="138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The fashi</a:t>
              </a:r>
              <a:r>
                <a:rPr lang="en-US" sz="138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on/beauty item has the following attributes: name is &lt;TITLE&gt;; brand is &lt;BRAND&gt;; price is &lt;PRICE&gt;. The item has the following features: &lt;CATEGORIES/FEATURE&gt;. The item has the following descriptions: &lt;DESCRIPTION&gt;.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197" y="2758138"/>
            <a:ext cx="12316324" cy="7187327"/>
            <a:chOff x="0" y="0"/>
            <a:chExt cx="16421766" cy="95831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21766" cy="9583102"/>
            </a:xfrm>
            <a:custGeom>
              <a:avLst/>
              <a:gdLst/>
              <a:ahLst/>
              <a:cxnLst/>
              <a:rect r="r" b="b" t="t" l="l"/>
              <a:pathLst>
                <a:path h="9583102" w="16421766">
                  <a:moveTo>
                    <a:pt x="0" y="0"/>
                  </a:moveTo>
                  <a:lnTo>
                    <a:pt x="16421766" y="0"/>
                  </a:lnTo>
                  <a:lnTo>
                    <a:pt x="16421766" y="9583102"/>
                  </a:lnTo>
                  <a:lnTo>
                    <a:pt x="0" y="9583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4" r="0" b="-7073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1004316" y="4126082"/>
              <a:ext cx="11691614" cy="4742896"/>
              <a:chOff x="0" y="0"/>
              <a:chExt cx="2005387" cy="81318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005387" cy="813189"/>
              </a:xfrm>
              <a:custGeom>
                <a:avLst/>
                <a:gdLst/>
                <a:ahLst/>
                <a:cxnLst/>
                <a:rect r="r" b="b" t="t" l="l"/>
                <a:pathLst>
                  <a:path h="813189" w="2005387">
                    <a:moveTo>
                      <a:pt x="2005387" y="18079"/>
                    </a:moveTo>
                    <a:lnTo>
                      <a:pt x="2005387" y="795110"/>
                    </a:lnTo>
                    <a:cubicBezTo>
                      <a:pt x="2005387" y="805095"/>
                      <a:pt x="1997293" y="813189"/>
                      <a:pt x="1987308" y="813189"/>
                    </a:cubicBezTo>
                    <a:lnTo>
                      <a:pt x="18079" y="813189"/>
                    </a:lnTo>
                    <a:cubicBezTo>
                      <a:pt x="8094" y="813189"/>
                      <a:pt x="0" y="805095"/>
                      <a:pt x="0" y="795110"/>
                    </a:cubicBezTo>
                    <a:lnTo>
                      <a:pt x="0" y="18079"/>
                    </a:lnTo>
                    <a:cubicBezTo>
                      <a:pt x="0" y="8094"/>
                      <a:pt x="8094" y="0"/>
                      <a:pt x="18079" y="0"/>
                    </a:cubicBezTo>
                    <a:lnTo>
                      <a:pt x="1987308" y="0"/>
                    </a:lnTo>
                    <a:cubicBezTo>
                      <a:pt x="1997293" y="0"/>
                      <a:pt x="2005387" y="8094"/>
                      <a:pt x="2005387" y="18079"/>
                    </a:cubicBezTo>
                    <a:close/>
                  </a:path>
                </a:pathLst>
              </a:custGeom>
              <a:ln w="47625" cap="sq">
                <a:solidFill>
                  <a:srgbClr val="EC9B19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2005387" cy="8608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1140883" y="6145204"/>
              <a:ext cx="854133" cy="854133"/>
            </a:xfrm>
            <a:custGeom>
              <a:avLst/>
              <a:gdLst/>
              <a:ahLst/>
              <a:cxnLst/>
              <a:rect r="r" b="b" t="t" l="l"/>
              <a:pathLst>
                <a:path h="854133" w="854133">
                  <a:moveTo>
                    <a:pt x="0" y="0"/>
                  </a:moveTo>
                  <a:lnTo>
                    <a:pt x="854134" y="0"/>
                  </a:lnTo>
                  <a:lnTo>
                    <a:pt x="854134" y="854133"/>
                  </a:lnTo>
                  <a:lnTo>
                    <a:pt x="0" y="8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524118" y="7851789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7" y="0"/>
                  </a:lnTo>
                  <a:lnTo>
                    <a:pt x="678127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616514" y="8190852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65253" y="8703840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3182167" y="6098913"/>
              <a:ext cx="892984" cy="892984"/>
            </a:xfrm>
            <a:custGeom>
              <a:avLst/>
              <a:gdLst/>
              <a:ahLst/>
              <a:cxnLst/>
              <a:rect r="r" b="b" t="t" l="l"/>
              <a:pathLst>
                <a:path h="892984" w="892984">
                  <a:moveTo>
                    <a:pt x="0" y="0"/>
                  </a:moveTo>
                  <a:lnTo>
                    <a:pt x="892984" y="0"/>
                  </a:lnTo>
                  <a:lnTo>
                    <a:pt x="892984" y="892985"/>
                  </a:lnTo>
                  <a:lnTo>
                    <a:pt x="0" y="89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3657797" y="8381352"/>
              <a:ext cx="892004" cy="892004"/>
            </a:xfrm>
            <a:custGeom>
              <a:avLst/>
              <a:gdLst/>
              <a:ahLst/>
              <a:cxnLst/>
              <a:rect r="r" b="b" t="t" l="l"/>
              <a:pathLst>
                <a:path h="892004" w="892004">
                  <a:moveTo>
                    <a:pt x="0" y="0"/>
                  </a:moveTo>
                  <a:lnTo>
                    <a:pt x="892005" y="0"/>
                  </a:lnTo>
                  <a:lnTo>
                    <a:pt x="892005" y="892004"/>
                  </a:lnTo>
                  <a:lnTo>
                    <a:pt x="0" y="892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362397" y="7479652"/>
              <a:ext cx="879304" cy="879304"/>
            </a:xfrm>
            <a:custGeom>
              <a:avLst/>
              <a:gdLst/>
              <a:ahLst/>
              <a:cxnLst/>
              <a:rect r="r" b="b" t="t" l="l"/>
              <a:pathLst>
                <a:path h="879304" w="879304">
                  <a:moveTo>
                    <a:pt x="0" y="0"/>
                  </a:moveTo>
                  <a:lnTo>
                    <a:pt x="879305" y="0"/>
                  </a:lnTo>
                  <a:lnTo>
                    <a:pt x="879305" y="879304"/>
                  </a:lnTo>
                  <a:lnTo>
                    <a:pt x="0" y="879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2249927" y="8596900"/>
              <a:ext cx="892004" cy="892004"/>
            </a:xfrm>
            <a:custGeom>
              <a:avLst/>
              <a:gdLst/>
              <a:ahLst/>
              <a:cxnLst/>
              <a:rect r="r" b="b" t="t" l="l"/>
              <a:pathLst>
                <a:path h="892004" w="892004">
                  <a:moveTo>
                    <a:pt x="0" y="0"/>
                  </a:moveTo>
                  <a:lnTo>
                    <a:pt x="892005" y="0"/>
                  </a:lnTo>
                  <a:lnTo>
                    <a:pt x="892005" y="892005"/>
                  </a:lnTo>
                  <a:lnTo>
                    <a:pt x="0" y="892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969314" y="8327820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215795" y="8327820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532757" y="8327820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28700" y="1851501"/>
            <a:ext cx="1515728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spc="-27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DUAL-VIEW MODELING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975993"/>
            <a:ext cx="455364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b="true" sz="7500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LLM-ESR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02550" y="7260559"/>
            <a:ext cx="4777191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semántica ayuda cuando la señal colaborativa es escasa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La vista semántica aporta significado textual, mientras que la vista colaborativa aporta comportamiento real de usuarios.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541449" y="8070963"/>
            <a:ext cx="1021428" cy="1021428"/>
          </a:xfrm>
          <a:custGeom>
            <a:avLst/>
            <a:gdLst/>
            <a:ahLst/>
            <a:cxnLst/>
            <a:rect r="r" b="b" t="t" l="l"/>
            <a:pathLst>
              <a:path h="1021428" w="1021428">
                <a:moveTo>
                  <a:pt x="0" y="0"/>
                </a:moveTo>
                <a:lnTo>
                  <a:pt x="1021428" y="0"/>
                </a:lnTo>
                <a:lnTo>
                  <a:pt x="1021428" y="1021428"/>
                </a:lnTo>
                <a:lnTo>
                  <a:pt x="0" y="1021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3202550" y="3091815"/>
            <a:ext cx="5085450" cy="1391881"/>
            <a:chOff x="0" y="0"/>
            <a:chExt cx="6780600" cy="1855841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47625"/>
              <a:ext cx="63695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Vista semántica: 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LLM embeddings + adapter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894776" y="1275451"/>
              <a:ext cx="5885825" cy="580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331B0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Representación semántica</a:t>
              </a:r>
            </a:p>
          </p:txBody>
        </p:sp>
        <p:sp>
          <p:nvSpPr>
            <p:cNvPr name="Freeform 25" id="25"/>
            <p:cNvSpPr/>
            <p:nvPr/>
          </p:nvSpPr>
          <p:spPr>
            <a:xfrm>
              <a:off x="205479" y="1115640"/>
              <a:ext cx="519220" cy="497631"/>
            </a:xfrm>
            <a:custGeom>
              <a:avLst/>
              <a:gdLst/>
              <a:ahLst/>
              <a:cxnLst/>
              <a:rect r="r" b="b" t="t" l="l"/>
              <a:pathLst>
                <a:path h="497631" w="519220">
                  <a:moveTo>
                    <a:pt x="0" y="0"/>
                  </a:moveTo>
                  <a:lnTo>
                    <a:pt x="0" y="248816"/>
                  </a:lnTo>
                  <a:cubicBezTo>
                    <a:pt x="0" y="314806"/>
                    <a:pt x="26214" y="378093"/>
                    <a:pt x="72876" y="424755"/>
                  </a:cubicBezTo>
                  <a:cubicBezTo>
                    <a:pt x="119538" y="471417"/>
                    <a:pt x="182825" y="497631"/>
                    <a:pt x="248815" y="497631"/>
                  </a:cubicBezTo>
                  <a:lnTo>
                    <a:pt x="519219" y="497631"/>
                  </a:lnTo>
                </a:path>
              </a:pathLst>
            </a:cu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202550" y="4874221"/>
            <a:ext cx="5085450" cy="1763952"/>
            <a:chOff x="0" y="0"/>
            <a:chExt cx="6780600" cy="2351936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-47625"/>
              <a:ext cx="6369589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Vista colaborativa: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Collaborative embeddings aprendidos por interación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894776" y="1771546"/>
              <a:ext cx="5885825" cy="580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331B0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Representación colaborativa</a:t>
              </a:r>
            </a:p>
          </p:txBody>
        </p:sp>
        <p:sp>
          <p:nvSpPr>
            <p:cNvPr name="Freeform 29" id="29"/>
            <p:cNvSpPr/>
            <p:nvPr/>
          </p:nvSpPr>
          <p:spPr>
            <a:xfrm>
              <a:off x="230879" y="1605280"/>
              <a:ext cx="519220" cy="497631"/>
            </a:xfrm>
            <a:custGeom>
              <a:avLst/>
              <a:gdLst/>
              <a:ahLst/>
              <a:cxnLst/>
              <a:rect r="r" b="b" t="t" l="l"/>
              <a:pathLst>
                <a:path h="497631" w="519220">
                  <a:moveTo>
                    <a:pt x="0" y="0"/>
                  </a:moveTo>
                  <a:lnTo>
                    <a:pt x="0" y="248816"/>
                  </a:lnTo>
                  <a:cubicBezTo>
                    <a:pt x="0" y="314806"/>
                    <a:pt x="26214" y="378093"/>
                    <a:pt x="72876" y="424755"/>
                  </a:cubicBezTo>
                  <a:cubicBezTo>
                    <a:pt x="119538" y="471417"/>
                    <a:pt x="182825" y="497631"/>
                    <a:pt x="248815" y="497631"/>
                  </a:cubicBezTo>
                  <a:lnTo>
                    <a:pt x="519219" y="497631"/>
                  </a:lnTo>
                </a:path>
              </a:pathLst>
            </a:cu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5109846" y="662792"/>
            <a:ext cx="2098159" cy="722776"/>
            <a:chOff x="0" y="0"/>
            <a:chExt cx="2797545" cy="963701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481851" y="326340"/>
              <a:ext cx="2315695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SOLUCIÓN</a:t>
              </a:r>
            </a:p>
          </p:txBody>
        </p:sp>
        <p:sp>
          <p:nvSpPr>
            <p:cNvPr name="Freeform 35" id="35"/>
            <p:cNvSpPr/>
            <p:nvPr/>
          </p:nvSpPr>
          <p:spPr>
            <a:xfrm flipH="false" flipV="false" rot="0">
              <a:off x="88757" y="86081"/>
              <a:ext cx="803592" cy="803592"/>
            </a:xfrm>
            <a:custGeom>
              <a:avLst/>
              <a:gdLst/>
              <a:ahLst/>
              <a:cxnLst/>
              <a:rect r="r" b="b" t="t" l="l"/>
              <a:pathLst>
                <a:path h="803592" w="803592">
                  <a:moveTo>
                    <a:pt x="0" y="0"/>
                  </a:moveTo>
                  <a:lnTo>
                    <a:pt x="803592" y="0"/>
                  </a:lnTo>
                  <a:lnTo>
                    <a:pt x="803592" y="803592"/>
                  </a:lnTo>
                  <a:lnTo>
                    <a:pt x="0" y="803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851501"/>
            <a:ext cx="1515728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spc="-27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FUSIÓN SEMÁNTICA + COLABORATIVA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75993"/>
            <a:ext cx="455364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b="true" sz="7500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LLM-ESR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907400" y="6107472"/>
            <a:ext cx="340559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CROSS-ATTENTION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383961" y="3591507"/>
            <a:ext cx="4414369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331B0D"/>
                </a:solidFill>
                <a:latin typeface="Inter Bold"/>
                <a:ea typeface="Inter Bold"/>
                <a:cs typeface="Inter Bold"/>
                <a:sym typeface="Inter Bold"/>
              </a:rPr>
              <a:t>Representación semántica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83961" y="4217511"/>
            <a:ext cx="4414369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331B0D"/>
                </a:solidFill>
                <a:latin typeface="Inter Bold"/>
                <a:ea typeface="Inter Bold"/>
                <a:cs typeface="Inter Bold"/>
                <a:sym typeface="Inter Bold"/>
              </a:rPr>
              <a:t>Representación colaborativa</a:t>
            </a:r>
          </a:p>
        </p:txBody>
      </p:sp>
      <p:sp>
        <p:nvSpPr>
          <p:cNvPr name="Freeform 7" id="7"/>
          <p:cNvSpPr/>
          <p:nvPr/>
        </p:nvSpPr>
        <p:spPr>
          <a:xfrm>
            <a:off x="15610196" y="5477769"/>
            <a:ext cx="0" cy="410628"/>
          </a:xfrm>
          <a:custGeom>
            <a:avLst/>
            <a:gdLst/>
            <a:ahLst/>
            <a:cxnLst/>
            <a:rect r="r" b="b" t="t" l="l"/>
            <a:pathLst>
              <a:path h="410628" w="0">
                <a:moveTo>
                  <a:pt x="0" y="0"/>
                </a:moveTo>
                <a:lnTo>
                  <a:pt x="0" y="410628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" id="8"/>
          <p:cNvGrpSpPr/>
          <p:nvPr/>
        </p:nvGrpSpPr>
        <p:grpSpPr>
          <a:xfrm rot="0">
            <a:off x="13194949" y="7100862"/>
            <a:ext cx="4971150" cy="2564135"/>
            <a:chOff x="0" y="0"/>
            <a:chExt cx="1309274" cy="6753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09274" cy="675328"/>
            </a:xfrm>
            <a:custGeom>
              <a:avLst/>
              <a:gdLst/>
              <a:ahLst/>
              <a:cxnLst/>
              <a:rect r="r" b="b" t="t" l="l"/>
              <a:pathLst>
                <a:path h="675328" w="1309274">
                  <a:moveTo>
                    <a:pt x="28033" y="0"/>
                  </a:moveTo>
                  <a:lnTo>
                    <a:pt x="1281241" y="0"/>
                  </a:lnTo>
                  <a:cubicBezTo>
                    <a:pt x="1296723" y="0"/>
                    <a:pt x="1309274" y="12551"/>
                    <a:pt x="1309274" y="28033"/>
                  </a:cubicBezTo>
                  <a:lnTo>
                    <a:pt x="1309274" y="647295"/>
                  </a:lnTo>
                  <a:cubicBezTo>
                    <a:pt x="1309274" y="654730"/>
                    <a:pt x="1306321" y="661860"/>
                    <a:pt x="1301064" y="667117"/>
                  </a:cubicBezTo>
                  <a:cubicBezTo>
                    <a:pt x="1295806" y="672374"/>
                    <a:pt x="1288676" y="675328"/>
                    <a:pt x="1281241" y="675328"/>
                  </a:cubicBezTo>
                  <a:lnTo>
                    <a:pt x="28033" y="675328"/>
                  </a:lnTo>
                  <a:cubicBezTo>
                    <a:pt x="12551" y="675328"/>
                    <a:pt x="0" y="662777"/>
                    <a:pt x="0" y="647295"/>
                  </a:cubicBezTo>
                  <a:lnTo>
                    <a:pt x="0" y="28033"/>
                  </a:lnTo>
                  <a:cubicBezTo>
                    <a:pt x="0" y="20598"/>
                    <a:pt x="2953" y="13468"/>
                    <a:pt x="8211" y="8211"/>
                  </a:cubicBezTo>
                  <a:cubicBezTo>
                    <a:pt x="13468" y="2953"/>
                    <a:pt x="20598" y="0"/>
                    <a:pt x="28033" y="0"/>
                  </a:cubicBezTo>
                  <a:close/>
                </a:path>
              </a:pathLst>
            </a:custGeom>
            <a:solidFill>
              <a:srgbClr val="004717">
                <a:alpha val="19608"/>
              </a:srgbClr>
            </a:solidFill>
            <a:ln w="142875" cap="sq">
              <a:solidFill>
                <a:srgbClr val="004717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09274" cy="722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405392" y="7413714"/>
            <a:ext cx="4763337" cy="2580793"/>
            <a:chOff x="0" y="0"/>
            <a:chExt cx="6351116" cy="3441058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21231"/>
              <a:ext cx="4005279" cy="996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09"/>
                </a:lnSpc>
              </a:pPr>
              <a:r>
                <a:rPr lang="en-US" sz="2221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Representación </a:t>
              </a:r>
            </a:p>
            <a:p>
              <a:pPr algn="l" marL="0" indent="0" lvl="0">
                <a:lnSpc>
                  <a:spcPts val="3109"/>
                </a:lnSpc>
                <a:spcBef>
                  <a:spcPct val="0"/>
                </a:spcBef>
              </a:pPr>
              <a:r>
                <a:rPr lang="en-US" sz="2221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final del usuario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3336157" y="0"/>
              <a:ext cx="2699358" cy="975202"/>
            </a:xfrm>
            <a:custGeom>
              <a:avLst/>
              <a:gdLst/>
              <a:ahLst/>
              <a:cxnLst/>
              <a:rect r="r" b="b" t="t" l="l"/>
              <a:pathLst>
                <a:path h="975202" w="2699358">
                  <a:moveTo>
                    <a:pt x="0" y="0"/>
                  </a:moveTo>
                  <a:lnTo>
                    <a:pt x="2699358" y="0"/>
                  </a:lnTo>
                  <a:lnTo>
                    <a:pt x="2699358" y="975202"/>
                  </a:lnTo>
                  <a:lnTo>
                    <a:pt x="0" y="975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1571274"/>
              <a:ext cx="4005279" cy="996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09"/>
                </a:lnSpc>
              </a:pPr>
              <a:r>
                <a:rPr lang="en-US" sz="2221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Representación </a:t>
              </a:r>
            </a:p>
            <a:p>
              <a:pPr algn="l" marL="0" indent="0" lvl="0">
                <a:lnSpc>
                  <a:spcPts val="3109"/>
                </a:lnSpc>
                <a:spcBef>
                  <a:spcPct val="0"/>
                </a:spcBef>
              </a:pPr>
              <a:r>
                <a:rPr lang="en-US" sz="2221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final del item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3336157" y="1609374"/>
              <a:ext cx="2699358" cy="990590"/>
            </a:xfrm>
            <a:custGeom>
              <a:avLst/>
              <a:gdLst/>
              <a:ahLst/>
              <a:cxnLst/>
              <a:rect r="r" b="b" t="t" l="l"/>
              <a:pathLst>
                <a:path h="990590" w="2699358">
                  <a:moveTo>
                    <a:pt x="0" y="0"/>
                  </a:moveTo>
                  <a:lnTo>
                    <a:pt x="2699358" y="0"/>
                  </a:lnTo>
                  <a:lnTo>
                    <a:pt x="2699358" y="990590"/>
                  </a:lnTo>
                  <a:lnTo>
                    <a:pt x="0" y="990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2699759" y="2961407"/>
              <a:ext cx="3651357" cy="4796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09"/>
                </a:lnSpc>
                <a:spcBef>
                  <a:spcPct val="0"/>
                </a:spcBef>
              </a:pPr>
              <a:r>
                <a:rPr lang="en-US" sz="2221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“:” = concatenación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66197" y="2758138"/>
            <a:ext cx="12316324" cy="7187327"/>
            <a:chOff x="0" y="0"/>
            <a:chExt cx="16421766" cy="95831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421766" cy="9583102"/>
            </a:xfrm>
            <a:custGeom>
              <a:avLst/>
              <a:gdLst/>
              <a:ahLst/>
              <a:cxnLst/>
              <a:rect r="r" b="b" t="t" l="l"/>
              <a:pathLst>
                <a:path h="9583102" w="16421766">
                  <a:moveTo>
                    <a:pt x="0" y="0"/>
                  </a:moveTo>
                  <a:lnTo>
                    <a:pt x="16421766" y="0"/>
                  </a:lnTo>
                  <a:lnTo>
                    <a:pt x="16421766" y="9583102"/>
                  </a:lnTo>
                  <a:lnTo>
                    <a:pt x="0" y="9583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64" r="0" b="-7073"/>
              </a:stretch>
            </a:blipFill>
          </p:spPr>
        </p:sp>
        <p:grpSp>
          <p:nvGrpSpPr>
            <p:cNvPr name="Group 19" id="19"/>
            <p:cNvGrpSpPr/>
            <p:nvPr/>
          </p:nvGrpSpPr>
          <p:grpSpPr>
            <a:xfrm rot="0">
              <a:off x="3089371" y="935696"/>
              <a:ext cx="7245170" cy="3310990"/>
              <a:chOff x="0" y="0"/>
              <a:chExt cx="1242718" cy="56768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42718" cy="567683"/>
              </a:xfrm>
              <a:custGeom>
                <a:avLst/>
                <a:gdLst/>
                <a:ahLst/>
                <a:cxnLst/>
                <a:rect r="r" b="b" t="t" l="l"/>
                <a:pathLst>
                  <a:path h="567683" w="1242718">
                    <a:moveTo>
                      <a:pt x="1242718" y="29175"/>
                    </a:moveTo>
                    <a:lnTo>
                      <a:pt x="1242718" y="538508"/>
                    </a:lnTo>
                    <a:cubicBezTo>
                      <a:pt x="1242718" y="546246"/>
                      <a:pt x="1239644" y="553667"/>
                      <a:pt x="1234172" y="559138"/>
                    </a:cubicBezTo>
                    <a:cubicBezTo>
                      <a:pt x="1228701" y="564609"/>
                      <a:pt x="1221280" y="567683"/>
                      <a:pt x="1213543" y="567683"/>
                    </a:cubicBezTo>
                    <a:lnTo>
                      <a:pt x="29175" y="567683"/>
                    </a:lnTo>
                    <a:cubicBezTo>
                      <a:pt x="21437" y="567683"/>
                      <a:pt x="14016" y="564609"/>
                      <a:pt x="8545" y="559138"/>
                    </a:cubicBezTo>
                    <a:cubicBezTo>
                      <a:pt x="3074" y="553667"/>
                      <a:pt x="0" y="546246"/>
                      <a:pt x="0" y="538508"/>
                    </a:cubicBezTo>
                    <a:lnTo>
                      <a:pt x="0" y="29175"/>
                    </a:lnTo>
                    <a:cubicBezTo>
                      <a:pt x="0" y="21437"/>
                      <a:pt x="3074" y="14016"/>
                      <a:pt x="8545" y="8545"/>
                    </a:cubicBezTo>
                    <a:cubicBezTo>
                      <a:pt x="14016" y="3074"/>
                      <a:pt x="21437" y="0"/>
                      <a:pt x="29175" y="0"/>
                    </a:cubicBezTo>
                    <a:lnTo>
                      <a:pt x="1213543" y="0"/>
                    </a:lnTo>
                    <a:cubicBezTo>
                      <a:pt x="1229656" y="0"/>
                      <a:pt x="1242718" y="13062"/>
                      <a:pt x="1242718" y="29175"/>
                    </a:cubicBezTo>
                    <a:close/>
                  </a:path>
                </a:pathLst>
              </a:custGeom>
              <a:ln w="47625" cap="sq">
                <a:solidFill>
                  <a:srgbClr val="EC9B19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1242718" cy="6153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1140883" y="6145204"/>
              <a:ext cx="854133" cy="854133"/>
            </a:xfrm>
            <a:custGeom>
              <a:avLst/>
              <a:gdLst/>
              <a:ahLst/>
              <a:cxnLst/>
              <a:rect r="r" b="b" t="t" l="l"/>
              <a:pathLst>
                <a:path h="854133" w="854133">
                  <a:moveTo>
                    <a:pt x="0" y="0"/>
                  </a:moveTo>
                  <a:lnTo>
                    <a:pt x="854134" y="0"/>
                  </a:lnTo>
                  <a:lnTo>
                    <a:pt x="854134" y="854133"/>
                  </a:lnTo>
                  <a:lnTo>
                    <a:pt x="0" y="8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524118" y="7851789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7" y="0"/>
                  </a:lnTo>
                  <a:lnTo>
                    <a:pt x="678127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616514" y="8190852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65253" y="8703840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3182167" y="6098913"/>
              <a:ext cx="892984" cy="892984"/>
            </a:xfrm>
            <a:custGeom>
              <a:avLst/>
              <a:gdLst/>
              <a:ahLst/>
              <a:cxnLst/>
              <a:rect r="r" b="b" t="t" l="l"/>
              <a:pathLst>
                <a:path h="892984" w="892984">
                  <a:moveTo>
                    <a:pt x="0" y="0"/>
                  </a:moveTo>
                  <a:lnTo>
                    <a:pt x="892984" y="0"/>
                  </a:lnTo>
                  <a:lnTo>
                    <a:pt x="892984" y="892985"/>
                  </a:lnTo>
                  <a:lnTo>
                    <a:pt x="0" y="89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3657797" y="8381352"/>
              <a:ext cx="892004" cy="892004"/>
            </a:xfrm>
            <a:custGeom>
              <a:avLst/>
              <a:gdLst/>
              <a:ahLst/>
              <a:cxnLst/>
              <a:rect r="r" b="b" t="t" l="l"/>
              <a:pathLst>
                <a:path h="892004" w="892004">
                  <a:moveTo>
                    <a:pt x="0" y="0"/>
                  </a:moveTo>
                  <a:lnTo>
                    <a:pt x="892005" y="0"/>
                  </a:lnTo>
                  <a:lnTo>
                    <a:pt x="892005" y="892004"/>
                  </a:lnTo>
                  <a:lnTo>
                    <a:pt x="0" y="892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2362397" y="7479652"/>
              <a:ext cx="879304" cy="879304"/>
            </a:xfrm>
            <a:custGeom>
              <a:avLst/>
              <a:gdLst/>
              <a:ahLst/>
              <a:cxnLst/>
              <a:rect r="r" b="b" t="t" l="l"/>
              <a:pathLst>
                <a:path h="879304" w="879304">
                  <a:moveTo>
                    <a:pt x="0" y="0"/>
                  </a:moveTo>
                  <a:lnTo>
                    <a:pt x="879305" y="0"/>
                  </a:lnTo>
                  <a:lnTo>
                    <a:pt x="879305" y="879304"/>
                  </a:lnTo>
                  <a:lnTo>
                    <a:pt x="0" y="879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2249927" y="8596900"/>
              <a:ext cx="892004" cy="892004"/>
            </a:xfrm>
            <a:custGeom>
              <a:avLst/>
              <a:gdLst/>
              <a:ahLst/>
              <a:cxnLst/>
              <a:rect r="r" b="b" t="t" l="l"/>
              <a:pathLst>
                <a:path h="892004" w="892004">
                  <a:moveTo>
                    <a:pt x="0" y="0"/>
                  </a:moveTo>
                  <a:lnTo>
                    <a:pt x="892005" y="0"/>
                  </a:lnTo>
                  <a:lnTo>
                    <a:pt x="892005" y="892005"/>
                  </a:lnTo>
                  <a:lnTo>
                    <a:pt x="0" y="892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4969314" y="8327820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6215795" y="8327820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7532757" y="8327820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0500336" y="7083766"/>
              <a:ext cx="1361904" cy="1361904"/>
            </a:xfrm>
            <a:custGeom>
              <a:avLst/>
              <a:gdLst/>
              <a:ahLst/>
              <a:cxnLst/>
              <a:rect r="r" b="b" t="t" l="l"/>
              <a:pathLst>
                <a:path h="1361904" w="1361904">
                  <a:moveTo>
                    <a:pt x="0" y="0"/>
                  </a:moveTo>
                  <a:lnTo>
                    <a:pt x="1361905" y="0"/>
                  </a:lnTo>
                  <a:lnTo>
                    <a:pt x="1361905" y="1361905"/>
                  </a:lnTo>
                  <a:lnTo>
                    <a:pt x="0" y="1361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109846" y="662792"/>
            <a:ext cx="2098159" cy="722776"/>
            <a:chOff x="0" y="0"/>
            <a:chExt cx="2797545" cy="963701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481851" y="326340"/>
              <a:ext cx="2315695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SOLUCIÓN</a:t>
              </a:r>
            </a:p>
          </p:txBody>
        </p:sp>
        <p:sp>
          <p:nvSpPr>
            <p:cNvPr name="Freeform 39" id="39"/>
            <p:cNvSpPr/>
            <p:nvPr/>
          </p:nvSpPr>
          <p:spPr>
            <a:xfrm flipH="false" flipV="false" rot="0">
              <a:off x="88757" y="86081"/>
              <a:ext cx="803592" cy="803592"/>
            </a:xfrm>
            <a:custGeom>
              <a:avLst/>
              <a:gdLst/>
              <a:ahLst/>
              <a:cxnLst/>
              <a:rect r="r" b="b" t="t" l="l"/>
              <a:pathLst>
                <a:path h="803592" w="803592">
                  <a:moveTo>
                    <a:pt x="0" y="0"/>
                  </a:moveTo>
                  <a:lnTo>
                    <a:pt x="803592" y="0"/>
                  </a:lnTo>
                  <a:lnTo>
                    <a:pt x="803592" y="803592"/>
                  </a:lnTo>
                  <a:lnTo>
                    <a:pt x="0" y="803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851501"/>
            <a:ext cx="1515728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spc="-27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RECUPERAR USUARIOS SIMILARES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75993"/>
            <a:ext cx="455364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b="true" sz="7500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LLM-ESR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197" y="2758138"/>
            <a:ext cx="12316324" cy="7187327"/>
            <a:chOff x="0" y="0"/>
            <a:chExt cx="16421766" cy="95831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21766" cy="9583102"/>
            </a:xfrm>
            <a:custGeom>
              <a:avLst/>
              <a:gdLst/>
              <a:ahLst/>
              <a:cxnLst/>
              <a:rect r="r" b="b" t="t" l="l"/>
              <a:pathLst>
                <a:path h="9583102" w="16421766">
                  <a:moveTo>
                    <a:pt x="0" y="0"/>
                  </a:moveTo>
                  <a:lnTo>
                    <a:pt x="16421766" y="0"/>
                  </a:lnTo>
                  <a:lnTo>
                    <a:pt x="16421766" y="9583102"/>
                  </a:lnTo>
                  <a:lnTo>
                    <a:pt x="0" y="9583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4" r="0" b="-7073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0">
              <a:off x="10500336" y="2961864"/>
              <a:ext cx="5726207" cy="3137049"/>
              <a:chOff x="0" y="0"/>
              <a:chExt cx="541674" cy="29663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41674" cy="296631"/>
              </a:xfrm>
              <a:custGeom>
                <a:avLst/>
                <a:gdLst/>
                <a:ahLst/>
                <a:cxnLst/>
                <a:rect r="r" b="b" t="t" l="l"/>
                <a:pathLst>
                  <a:path h="296631" w="541674">
                    <a:moveTo>
                      <a:pt x="541674" y="36914"/>
                    </a:moveTo>
                    <a:lnTo>
                      <a:pt x="541674" y="259717"/>
                    </a:lnTo>
                    <a:cubicBezTo>
                      <a:pt x="541674" y="269507"/>
                      <a:pt x="537784" y="278896"/>
                      <a:pt x="530862" y="285819"/>
                    </a:cubicBezTo>
                    <a:cubicBezTo>
                      <a:pt x="523939" y="292741"/>
                      <a:pt x="514550" y="296631"/>
                      <a:pt x="504760" y="296631"/>
                    </a:cubicBezTo>
                    <a:lnTo>
                      <a:pt x="36914" y="296631"/>
                    </a:lnTo>
                    <a:cubicBezTo>
                      <a:pt x="27124" y="296631"/>
                      <a:pt x="17734" y="292741"/>
                      <a:pt x="10812" y="285819"/>
                    </a:cubicBezTo>
                    <a:cubicBezTo>
                      <a:pt x="3889" y="278896"/>
                      <a:pt x="0" y="269507"/>
                      <a:pt x="0" y="259717"/>
                    </a:cubicBezTo>
                    <a:lnTo>
                      <a:pt x="0" y="36914"/>
                    </a:lnTo>
                    <a:cubicBezTo>
                      <a:pt x="0" y="27124"/>
                      <a:pt x="3889" y="17734"/>
                      <a:pt x="10812" y="10812"/>
                    </a:cubicBezTo>
                    <a:cubicBezTo>
                      <a:pt x="17734" y="3889"/>
                      <a:pt x="27124" y="0"/>
                      <a:pt x="36914" y="0"/>
                    </a:cubicBezTo>
                    <a:lnTo>
                      <a:pt x="504760" y="0"/>
                    </a:lnTo>
                    <a:cubicBezTo>
                      <a:pt x="514550" y="0"/>
                      <a:pt x="523939" y="3889"/>
                      <a:pt x="530862" y="10812"/>
                    </a:cubicBezTo>
                    <a:cubicBezTo>
                      <a:pt x="537784" y="17734"/>
                      <a:pt x="541674" y="27124"/>
                      <a:pt x="541674" y="36914"/>
                    </a:cubicBezTo>
                    <a:close/>
                  </a:path>
                </a:pathLst>
              </a:custGeom>
              <a:ln w="47625" cap="sq">
                <a:solidFill>
                  <a:srgbClr val="EC9B19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541674" cy="3442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140883" y="6145204"/>
              <a:ext cx="854133" cy="854133"/>
            </a:xfrm>
            <a:custGeom>
              <a:avLst/>
              <a:gdLst/>
              <a:ahLst/>
              <a:cxnLst/>
              <a:rect r="r" b="b" t="t" l="l"/>
              <a:pathLst>
                <a:path h="854133" w="854133">
                  <a:moveTo>
                    <a:pt x="0" y="0"/>
                  </a:moveTo>
                  <a:lnTo>
                    <a:pt x="854134" y="0"/>
                  </a:lnTo>
                  <a:lnTo>
                    <a:pt x="854134" y="854133"/>
                  </a:lnTo>
                  <a:lnTo>
                    <a:pt x="0" y="8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24118" y="7851789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7" y="0"/>
                  </a:lnTo>
                  <a:lnTo>
                    <a:pt x="678127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616514" y="8190852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65253" y="8703840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3182167" y="6098913"/>
              <a:ext cx="892984" cy="892984"/>
            </a:xfrm>
            <a:custGeom>
              <a:avLst/>
              <a:gdLst/>
              <a:ahLst/>
              <a:cxnLst/>
              <a:rect r="r" b="b" t="t" l="l"/>
              <a:pathLst>
                <a:path h="892984" w="892984">
                  <a:moveTo>
                    <a:pt x="0" y="0"/>
                  </a:moveTo>
                  <a:lnTo>
                    <a:pt x="892984" y="0"/>
                  </a:lnTo>
                  <a:lnTo>
                    <a:pt x="892984" y="892985"/>
                  </a:lnTo>
                  <a:lnTo>
                    <a:pt x="0" y="89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3657797" y="8381352"/>
              <a:ext cx="892004" cy="892004"/>
            </a:xfrm>
            <a:custGeom>
              <a:avLst/>
              <a:gdLst/>
              <a:ahLst/>
              <a:cxnLst/>
              <a:rect r="r" b="b" t="t" l="l"/>
              <a:pathLst>
                <a:path h="892004" w="892004">
                  <a:moveTo>
                    <a:pt x="0" y="0"/>
                  </a:moveTo>
                  <a:lnTo>
                    <a:pt x="892005" y="0"/>
                  </a:lnTo>
                  <a:lnTo>
                    <a:pt x="892005" y="892004"/>
                  </a:lnTo>
                  <a:lnTo>
                    <a:pt x="0" y="892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2362397" y="7479652"/>
              <a:ext cx="879304" cy="879304"/>
            </a:xfrm>
            <a:custGeom>
              <a:avLst/>
              <a:gdLst/>
              <a:ahLst/>
              <a:cxnLst/>
              <a:rect r="r" b="b" t="t" l="l"/>
              <a:pathLst>
                <a:path h="879304" w="879304">
                  <a:moveTo>
                    <a:pt x="0" y="0"/>
                  </a:moveTo>
                  <a:lnTo>
                    <a:pt x="879305" y="0"/>
                  </a:lnTo>
                  <a:lnTo>
                    <a:pt x="879305" y="879304"/>
                  </a:lnTo>
                  <a:lnTo>
                    <a:pt x="0" y="879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2249927" y="8596900"/>
              <a:ext cx="892004" cy="892004"/>
            </a:xfrm>
            <a:custGeom>
              <a:avLst/>
              <a:gdLst/>
              <a:ahLst/>
              <a:cxnLst/>
              <a:rect r="r" b="b" t="t" l="l"/>
              <a:pathLst>
                <a:path h="892004" w="892004">
                  <a:moveTo>
                    <a:pt x="0" y="0"/>
                  </a:moveTo>
                  <a:lnTo>
                    <a:pt x="892005" y="0"/>
                  </a:lnTo>
                  <a:lnTo>
                    <a:pt x="892005" y="892005"/>
                  </a:lnTo>
                  <a:lnTo>
                    <a:pt x="0" y="892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969314" y="8327820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215795" y="8327820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7532757" y="8327820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0500336" y="7083766"/>
              <a:ext cx="1361904" cy="1361904"/>
            </a:xfrm>
            <a:custGeom>
              <a:avLst/>
              <a:gdLst/>
              <a:ahLst/>
              <a:cxnLst/>
              <a:rect r="r" b="b" t="t" l="l"/>
              <a:pathLst>
                <a:path h="1361904" w="1361904">
                  <a:moveTo>
                    <a:pt x="0" y="0"/>
                  </a:moveTo>
                  <a:lnTo>
                    <a:pt x="1361905" y="0"/>
                  </a:lnTo>
                  <a:lnTo>
                    <a:pt x="1361905" y="1361905"/>
                  </a:lnTo>
                  <a:lnTo>
                    <a:pt x="0" y="1361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164868" y="2851626"/>
            <a:ext cx="4948340" cy="3593171"/>
            <a:chOff x="0" y="0"/>
            <a:chExt cx="6597786" cy="4790895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95250"/>
              <a:ext cx="6538718" cy="580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84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331B0D"/>
                  </a:solidFill>
                  <a:latin typeface="Inter"/>
                  <a:ea typeface="Inter"/>
                  <a:cs typeface="Inter"/>
                  <a:sym typeface="Inter"/>
                </a:rPr>
                <a:t>Usuario objetivo (historial corto)</a:t>
              </a:r>
            </a:p>
          </p:txBody>
        </p:sp>
        <p:sp>
          <p:nvSpPr>
            <p:cNvPr name="Freeform 23" id="23"/>
            <p:cNvSpPr/>
            <p:nvPr/>
          </p:nvSpPr>
          <p:spPr>
            <a:xfrm>
              <a:off x="3328427" y="831674"/>
              <a:ext cx="0" cy="346534"/>
            </a:xfrm>
            <a:custGeom>
              <a:avLst/>
              <a:gdLst/>
              <a:ahLst/>
              <a:cxnLst/>
              <a:rect r="r" b="b" t="t" l="l"/>
              <a:pathLst>
                <a:path h="346534" w="0">
                  <a:moveTo>
                    <a:pt x="0" y="0"/>
                  </a:moveTo>
                  <a:lnTo>
                    <a:pt x="0" y="346535"/>
                  </a:lnTo>
                </a:path>
              </a:pathLst>
            </a:cu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24" id="24"/>
            <p:cNvSpPr txBox="true"/>
            <p:nvPr/>
          </p:nvSpPr>
          <p:spPr>
            <a:xfrm rot="0">
              <a:off x="59068" y="1238402"/>
              <a:ext cx="6538718" cy="580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84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331B0D"/>
                  </a:solidFill>
                  <a:latin typeface="Inter"/>
                  <a:ea typeface="Inter"/>
                  <a:cs typeface="Inter"/>
                  <a:sym typeface="Inter"/>
                </a:rPr>
                <a:t>Embedding semántico usuario</a:t>
              </a:r>
            </a:p>
          </p:txBody>
        </p:sp>
        <p:sp>
          <p:nvSpPr>
            <p:cNvPr name="Freeform 25" id="25"/>
            <p:cNvSpPr/>
            <p:nvPr/>
          </p:nvSpPr>
          <p:spPr>
            <a:xfrm>
              <a:off x="3328427" y="2317726"/>
              <a:ext cx="0" cy="346534"/>
            </a:xfrm>
            <a:custGeom>
              <a:avLst/>
              <a:gdLst/>
              <a:ahLst/>
              <a:cxnLst/>
              <a:rect r="r" b="b" t="t" l="l"/>
              <a:pathLst>
                <a:path h="346534" w="0">
                  <a:moveTo>
                    <a:pt x="0" y="0"/>
                  </a:moveTo>
                  <a:lnTo>
                    <a:pt x="0" y="346534"/>
                  </a:lnTo>
                </a:path>
              </a:pathLst>
            </a:cu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26" id="26"/>
            <p:cNvSpPr txBox="true"/>
            <p:nvPr/>
          </p:nvSpPr>
          <p:spPr>
            <a:xfrm rot="0">
              <a:off x="59068" y="2724453"/>
              <a:ext cx="6538718" cy="580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84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331B0D"/>
                  </a:solidFill>
                  <a:latin typeface="Inter"/>
                  <a:ea typeface="Inter"/>
                  <a:cs typeface="Inter"/>
                  <a:sym typeface="Inter"/>
                </a:rPr>
                <a:t>Similitud coseno</a:t>
              </a:r>
            </a:p>
          </p:txBody>
        </p:sp>
        <p:sp>
          <p:nvSpPr>
            <p:cNvPr name="Freeform 27" id="27"/>
            <p:cNvSpPr/>
            <p:nvPr/>
          </p:nvSpPr>
          <p:spPr>
            <a:xfrm>
              <a:off x="3303027" y="3803778"/>
              <a:ext cx="0" cy="346534"/>
            </a:xfrm>
            <a:custGeom>
              <a:avLst/>
              <a:gdLst/>
              <a:ahLst/>
              <a:cxnLst/>
              <a:rect r="r" b="b" t="t" l="l"/>
              <a:pathLst>
                <a:path h="346534" w="0">
                  <a:moveTo>
                    <a:pt x="0" y="0"/>
                  </a:moveTo>
                  <a:lnTo>
                    <a:pt x="0" y="346534"/>
                  </a:lnTo>
                </a:path>
              </a:pathLst>
            </a:cu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28" id="28"/>
            <p:cNvSpPr txBox="true"/>
            <p:nvPr/>
          </p:nvSpPr>
          <p:spPr>
            <a:xfrm rot="0">
              <a:off x="33668" y="4210505"/>
              <a:ext cx="6538718" cy="580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84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331B0D"/>
                  </a:solidFill>
                  <a:latin typeface="Inter"/>
                  <a:ea typeface="Inter"/>
                  <a:cs typeface="Inter"/>
                  <a:sym typeface="Inter"/>
                </a:rPr>
                <a:t>TOP-N usuarios similares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109846" y="662792"/>
            <a:ext cx="2098159" cy="722776"/>
            <a:chOff x="0" y="0"/>
            <a:chExt cx="2797545" cy="963701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481851" y="326340"/>
              <a:ext cx="2315695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SOLUCIÓN</a:t>
              </a:r>
            </a:p>
          </p:txBody>
        </p:sp>
        <p:sp>
          <p:nvSpPr>
            <p:cNvPr name="Freeform 34" id="34"/>
            <p:cNvSpPr/>
            <p:nvPr/>
          </p:nvSpPr>
          <p:spPr>
            <a:xfrm flipH="false" flipV="false" rot="0">
              <a:off x="88757" y="86081"/>
              <a:ext cx="803592" cy="803592"/>
            </a:xfrm>
            <a:custGeom>
              <a:avLst/>
              <a:gdLst/>
              <a:ahLst/>
              <a:cxnLst/>
              <a:rect r="r" b="b" t="t" l="l"/>
              <a:pathLst>
                <a:path h="803592" w="803592">
                  <a:moveTo>
                    <a:pt x="0" y="0"/>
                  </a:moveTo>
                  <a:lnTo>
                    <a:pt x="803592" y="0"/>
                  </a:lnTo>
                  <a:lnTo>
                    <a:pt x="803592" y="803592"/>
                  </a:lnTo>
                  <a:lnTo>
                    <a:pt x="0" y="803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217953" y="7908089"/>
            <a:ext cx="4842170" cy="1714452"/>
            <a:chOff x="0" y="0"/>
            <a:chExt cx="6456227" cy="2285936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6456227" cy="2285936"/>
              <a:chOff x="0" y="0"/>
              <a:chExt cx="1275304" cy="45154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275304" cy="451543"/>
              </a:xfrm>
              <a:custGeom>
                <a:avLst/>
                <a:gdLst/>
                <a:ahLst/>
                <a:cxnLst/>
                <a:rect r="r" b="b" t="t" l="l"/>
                <a:pathLst>
                  <a:path h="451543" w="1275304">
                    <a:moveTo>
                      <a:pt x="39971" y="0"/>
                    </a:moveTo>
                    <a:lnTo>
                      <a:pt x="1235333" y="0"/>
                    </a:lnTo>
                    <a:cubicBezTo>
                      <a:pt x="1245934" y="0"/>
                      <a:pt x="1256101" y="4211"/>
                      <a:pt x="1263597" y="11707"/>
                    </a:cubicBezTo>
                    <a:cubicBezTo>
                      <a:pt x="1271093" y="19203"/>
                      <a:pt x="1275304" y="29370"/>
                      <a:pt x="1275304" y="39971"/>
                    </a:cubicBezTo>
                    <a:lnTo>
                      <a:pt x="1275304" y="411572"/>
                    </a:lnTo>
                    <a:cubicBezTo>
                      <a:pt x="1275304" y="433647"/>
                      <a:pt x="1257408" y="451543"/>
                      <a:pt x="1235333" y="451543"/>
                    </a:cubicBezTo>
                    <a:lnTo>
                      <a:pt x="39971" y="451543"/>
                    </a:lnTo>
                    <a:cubicBezTo>
                      <a:pt x="17896" y="451543"/>
                      <a:pt x="0" y="433647"/>
                      <a:pt x="0" y="411572"/>
                    </a:cubicBezTo>
                    <a:lnTo>
                      <a:pt x="0" y="39971"/>
                    </a:lnTo>
                    <a:cubicBezTo>
                      <a:pt x="0" y="17896"/>
                      <a:pt x="17896" y="0"/>
                      <a:pt x="39971" y="0"/>
                    </a:cubicBezTo>
                    <a:close/>
                  </a:path>
                </a:pathLst>
              </a:custGeom>
              <a:ln w="38100" cap="rnd">
                <a:solidFill>
                  <a:srgbClr val="C22829"/>
                </a:solidFill>
                <a:prstDash val="solid"/>
                <a:round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28575"/>
                <a:ext cx="1275304" cy="4801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84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0"/>
              <a:ext cx="6456227" cy="716768"/>
              <a:chOff x="0" y="0"/>
              <a:chExt cx="1275304" cy="141584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275304" cy="141584"/>
              </a:xfrm>
              <a:custGeom>
                <a:avLst/>
                <a:gdLst/>
                <a:ahLst/>
                <a:cxnLst/>
                <a:rect r="r" b="b" t="t" l="l"/>
                <a:pathLst>
                  <a:path h="141584" w="1275304">
                    <a:moveTo>
                      <a:pt x="39971" y="0"/>
                    </a:moveTo>
                    <a:lnTo>
                      <a:pt x="1235333" y="0"/>
                    </a:lnTo>
                    <a:cubicBezTo>
                      <a:pt x="1245934" y="0"/>
                      <a:pt x="1256101" y="4211"/>
                      <a:pt x="1263597" y="11707"/>
                    </a:cubicBezTo>
                    <a:cubicBezTo>
                      <a:pt x="1271093" y="19203"/>
                      <a:pt x="1275304" y="29370"/>
                      <a:pt x="1275304" y="39971"/>
                    </a:cubicBezTo>
                    <a:lnTo>
                      <a:pt x="1275304" y="101613"/>
                    </a:lnTo>
                    <a:cubicBezTo>
                      <a:pt x="1275304" y="123688"/>
                      <a:pt x="1257408" y="141584"/>
                      <a:pt x="1235333" y="141584"/>
                    </a:cubicBezTo>
                    <a:lnTo>
                      <a:pt x="39971" y="141584"/>
                    </a:lnTo>
                    <a:cubicBezTo>
                      <a:pt x="17896" y="141584"/>
                      <a:pt x="0" y="123688"/>
                      <a:pt x="0" y="101613"/>
                    </a:cubicBezTo>
                    <a:lnTo>
                      <a:pt x="0" y="39971"/>
                    </a:lnTo>
                    <a:cubicBezTo>
                      <a:pt x="0" y="17896"/>
                      <a:pt x="17896" y="0"/>
                      <a:pt x="39971" y="0"/>
                    </a:cubicBezTo>
                    <a:close/>
                  </a:path>
                </a:pathLst>
              </a:custGeom>
              <a:solidFill>
                <a:srgbClr val="C22829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28575"/>
                <a:ext cx="1275304" cy="1701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84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43319" y="358384"/>
              <a:ext cx="6412908" cy="358384"/>
              <a:chOff x="0" y="0"/>
              <a:chExt cx="1266747" cy="70792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266747" cy="70792"/>
              </a:xfrm>
              <a:custGeom>
                <a:avLst/>
                <a:gdLst/>
                <a:ahLst/>
                <a:cxnLst/>
                <a:rect r="r" b="b" t="t" l="l"/>
                <a:pathLst>
                  <a:path h="70792" w="1266747">
                    <a:moveTo>
                      <a:pt x="0" y="0"/>
                    </a:moveTo>
                    <a:lnTo>
                      <a:pt x="1266747" y="0"/>
                    </a:lnTo>
                    <a:lnTo>
                      <a:pt x="1266747" y="70792"/>
                    </a:lnTo>
                    <a:lnTo>
                      <a:pt x="0" y="70792"/>
                    </a:lnTo>
                    <a:close/>
                  </a:path>
                </a:pathLst>
              </a:custGeom>
              <a:solidFill>
                <a:srgbClr val="C228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28575"/>
                <a:ext cx="1266747" cy="993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84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424223" y="98669"/>
              <a:ext cx="56511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User </a:t>
              </a:r>
              <a:r>
                <a:rPr lang="en-US" b="true" sz="21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prompt template 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243351" y="856660"/>
              <a:ext cx="5961325" cy="1135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41"/>
                </a:lnSpc>
                <a:spcBef>
                  <a:spcPct val="0"/>
                </a:spcBef>
              </a:pPr>
              <a:r>
                <a:rPr lang="en-US" sz="167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The user h</a:t>
              </a:r>
              <a:r>
                <a:rPr lang="en-US" sz="167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as visited the following items: &lt;ITEM1_TITLE&gt;, &lt;ITEM2_TITLE&gt;, ... please conclude the user's preference.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164868" y="6626022"/>
            <a:ext cx="4971150" cy="1136868"/>
            <a:chOff x="0" y="0"/>
            <a:chExt cx="1309274" cy="29942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09274" cy="299422"/>
            </a:xfrm>
            <a:custGeom>
              <a:avLst/>
              <a:gdLst/>
              <a:ahLst/>
              <a:cxnLst/>
              <a:rect r="r" b="b" t="t" l="l"/>
              <a:pathLst>
                <a:path h="299422" w="1309274">
                  <a:moveTo>
                    <a:pt x="28033" y="0"/>
                  </a:moveTo>
                  <a:lnTo>
                    <a:pt x="1281241" y="0"/>
                  </a:lnTo>
                  <a:cubicBezTo>
                    <a:pt x="1296723" y="0"/>
                    <a:pt x="1309274" y="12551"/>
                    <a:pt x="1309274" y="28033"/>
                  </a:cubicBezTo>
                  <a:lnTo>
                    <a:pt x="1309274" y="271389"/>
                  </a:lnTo>
                  <a:cubicBezTo>
                    <a:pt x="1309274" y="286871"/>
                    <a:pt x="1296723" y="299422"/>
                    <a:pt x="1281241" y="299422"/>
                  </a:cubicBezTo>
                  <a:lnTo>
                    <a:pt x="28033" y="299422"/>
                  </a:lnTo>
                  <a:cubicBezTo>
                    <a:pt x="20598" y="299422"/>
                    <a:pt x="13468" y="296469"/>
                    <a:pt x="8211" y="291211"/>
                  </a:cubicBezTo>
                  <a:cubicBezTo>
                    <a:pt x="2953" y="285954"/>
                    <a:pt x="0" y="278824"/>
                    <a:pt x="0" y="271389"/>
                  </a:cubicBezTo>
                  <a:lnTo>
                    <a:pt x="0" y="28033"/>
                  </a:lnTo>
                  <a:cubicBezTo>
                    <a:pt x="0" y="20598"/>
                    <a:pt x="2953" y="13468"/>
                    <a:pt x="8211" y="8211"/>
                  </a:cubicBezTo>
                  <a:cubicBezTo>
                    <a:pt x="13468" y="2953"/>
                    <a:pt x="20598" y="0"/>
                    <a:pt x="28033" y="0"/>
                  </a:cubicBezTo>
                  <a:close/>
                </a:path>
              </a:pathLst>
            </a:custGeom>
            <a:solidFill>
              <a:srgbClr val="004717">
                <a:alpha val="19608"/>
              </a:srgbClr>
            </a:solidFill>
            <a:ln w="142875" cap="sq">
              <a:solidFill>
                <a:srgbClr val="004717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309274" cy="347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13345576" y="6846833"/>
            <a:ext cx="4714547" cy="661206"/>
          </a:xfrm>
          <a:custGeom>
            <a:avLst/>
            <a:gdLst/>
            <a:ahLst/>
            <a:cxnLst/>
            <a:rect r="r" b="b" t="t" l="l"/>
            <a:pathLst>
              <a:path h="661206" w="4714547">
                <a:moveTo>
                  <a:pt x="0" y="0"/>
                </a:moveTo>
                <a:lnTo>
                  <a:pt x="4714547" y="0"/>
                </a:lnTo>
                <a:lnTo>
                  <a:pt x="4714547" y="661206"/>
                </a:lnTo>
                <a:lnTo>
                  <a:pt x="0" y="6612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177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851501"/>
            <a:ext cx="1515728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spc="-27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SELF-DISTILLATION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75993"/>
            <a:ext cx="455364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b="true" sz="7500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LLM-ESR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197" y="2758138"/>
            <a:ext cx="12316324" cy="7187327"/>
            <a:chOff x="0" y="0"/>
            <a:chExt cx="16421766" cy="95831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21766" cy="9583102"/>
            </a:xfrm>
            <a:custGeom>
              <a:avLst/>
              <a:gdLst/>
              <a:ahLst/>
              <a:cxnLst/>
              <a:rect r="r" b="b" t="t" l="l"/>
              <a:pathLst>
                <a:path h="9583102" w="16421766">
                  <a:moveTo>
                    <a:pt x="0" y="0"/>
                  </a:moveTo>
                  <a:lnTo>
                    <a:pt x="16421766" y="0"/>
                  </a:lnTo>
                  <a:lnTo>
                    <a:pt x="16421766" y="9583102"/>
                  </a:lnTo>
                  <a:lnTo>
                    <a:pt x="0" y="9583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4" r="0" b="-7073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0">
              <a:off x="11181289" y="1563725"/>
              <a:ext cx="5045255" cy="1953823"/>
              <a:chOff x="0" y="0"/>
              <a:chExt cx="477259" cy="18474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77259" cy="184748"/>
              </a:xfrm>
              <a:custGeom>
                <a:avLst/>
                <a:gdLst/>
                <a:ahLst/>
                <a:cxnLst/>
                <a:rect r="r" b="b" t="t" l="l"/>
                <a:pathLst>
                  <a:path h="184748" w="477259">
                    <a:moveTo>
                      <a:pt x="477259" y="41896"/>
                    </a:moveTo>
                    <a:lnTo>
                      <a:pt x="477259" y="142852"/>
                    </a:lnTo>
                    <a:cubicBezTo>
                      <a:pt x="477259" y="153964"/>
                      <a:pt x="472844" y="164620"/>
                      <a:pt x="464987" y="172477"/>
                    </a:cubicBezTo>
                    <a:cubicBezTo>
                      <a:pt x="457130" y="180334"/>
                      <a:pt x="446474" y="184748"/>
                      <a:pt x="435363" y="184748"/>
                    </a:cubicBezTo>
                    <a:lnTo>
                      <a:pt x="41896" y="184748"/>
                    </a:lnTo>
                    <a:cubicBezTo>
                      <a:pt x="30784" y="184748"/>
                      <a:pt x="20128" y="180334"/>
                      <a:pt x="12271" y="172477"/>
                    </a:cubicBezTo>
                    <a:cubicBezTo>
                      <a:pt x="4414" y="164620"/>
                      <a:pt x="0" y="153964"/>
                      <a:pt x="0" y="142852"/>
                    </a:cubicBezTo>
                    <a:lnTo>
                      <a:pt x="0" y="41896"/>
                    </a:lnTo>
                    <a:cubicBezTo>
                      <a:pt x="0" y="30784"/>
                      <a:pt x="4414" y="20128"/>
                      <a:pt x="12271" y="12271"/>
                    </a:cubicBezTo>
                    <a:cubicBezTo>
                      <a:pt x="20128" y="4414"/>
                      <a:pt x="30784" y="0"/>
                      <a:pt x="41896" y="0"/>
                    </a:cubicBezTo>
                    <a:lnTo>
                      <a:pt x="435363" y="0"/>
                    </a:lnTo>
                    <a:cubicBezTo>
                      <a:pt x="446474" y="0"/>
                      <a:pt x="457130" y="4414"/>
                      <a:pt x="464987" y="12271"/>
                    </a:cubicBezTo>
                    <a:cubicBezTo>
                      <a:pt x="472844" y="20128"/>
                      <a:pt x="477259" y="30784"/>
                      <a:pt x="477259" y="41896"/>
                    </a:cubicBezTo>
                    <a:close/>
                  </a:path>
                </a:pathLst>
              </a:custGeom>
              <a:ln w="47625" cap="sq">
                <a:solidFill>
                  <a:srgbClr val="EC9B19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77259" cy="2323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140883" y="6145204"/>
              <a:ext cx="854133" cy="854133"/>
            </a:xfrm>
            <a:custGeom>
              <a:avLst/>
              <a:gdLst/>
              <a:ahLst/>
              <a:cxnLst/>
              <a:rect r="r" b="b" t="t" l="l"/>
              <a:pathLst>
                <a:path h="854133" w="854133">
                  <a:moveTo>
                    <a:pt x="0" y="0"/>
                  </a:moveTo>
                  <a:lnTo>
                    <a:pt x="854134" y="0"/>
                  </a:lnTo>
                  <a:lnTo>
                    <a:pt x="854134" y="854133"/>
                  </a:lnTo>
                  <a:lnTo>
                    <a:pt x="0" y="85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24118" y="7851789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7" y="0"/>
                  </a:lnTo>
                  <a:lnTo>
                    <a:pt x="678127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616514" y="8190852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65253" y="8703840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3182167" y="6098913"/>
              <a:ext cx="892984" cy="892984"/>
            </a:xfrm>
            <a:custGeom>
              <a:avLst/>
              <a:gdLst/>
              <a:ahLst/>
              <a:cxnLst/>
              <a:rect r="r" b="b" t="t" l="l"/>
              <a:pathLst>
                <a:path h="892984" w="892984">
                  <a:moveTo>
                    <a:pt x="0" y="0"/>
                  </a:moveTo>
                  <a:lnTo>
                    <a:pt x="892984" y="0"/>
                  </a:lnTo>
                  <a:lnTo>
                    <a:pt x="892984" y="892985"/>
                  </a:lnTo>
                  <a:lnTo>
                    <a:pt x="0" y="89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3657797" y="8381352"/>
              <a:ext cx="892004" cy="892004"/>
            </a:xfrm>
            <a:custGeom>
              <a:avLst/>
              <a:gdLst/>
              <a:ahLst/>
              <a:cxnLst/>
              <a:rect r="r" b="b" t="t" l="l"/>
              <a:pathLst>
                <a:path h="892004" w="892004">
                  <a:moveTo>
                    <a:pt x="0" y="0"/>
                  </a:moveTo>
                  <a:lnTo>
                    <a:pt x="892005" y="0"/>
                  </a:lnTo>
                  <a:lnTo>
                    <a:pt x="892005" y="892004"/>
                  </a:lnTo>
                  <a:lnTo>
                    <a:pt x="0" y="892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2362397" y="7479652"/>
              <a:ext cx="879304" cy="879304"/>
            </a:xfrm>
            <a:custGeom>
              <a:avLst/>
              <a:gdLst/>
              <a:ahLst/>
              <a:cxnLst/>
              <a:rect r="r" b="b" t="t" l="l"/>
              <a:pathLst>
                <a:path h="879304" w="879304">
                  <a:moveTo>
                    <a:pt x="0" y="0"/>
                  </a:moveTo>
                  <a:lnTo>
                    <a:pt x="879305" y="0"/>
                  </a:lnTo>
                  <a:lnTo>
                    <a:pt x="879305" y="879304"/>
                  </a:lnTo>
                  <a:lnTo>
                    <a:pt x="0" y="879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2249927" y="8596900"/>
              <a:ext cx="892004" cy="892004"/>
            </a:xfrm>
            <a:custGeom>
              <a:avLst/>
              <a:gdLst/>
              <a:ahLst/>
              <a:cxnLst/>
              <a:rect r="r" b="b" t="t" l="l"/>
              <a:pathLst>
                <a:path h="892004" w="892004">
                  <a:moveTo>
                    <a:pt x="0" y="0"/>
                  </a:moveTo>
                  <a:lnTo>
                    <a:pt x="892005" y="0"/>
                  </a:lnTo>
                  <a:lnTo>
                    <a:pt x="892005" y="892005"/>
                  </a:lnTo>
                  <a:lnTo>
                    <a:pt x="0" y="892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969314" y="8327820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215795" y="8327820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7532757" y="8327820"/>
              <a:ext cx="678126" cy="678126"/>
            </a:xfrm>
            <a:custGeom>
              <a:avLst/>
              <a:gdLst/>
              <a:ahLst/>
              <a:cxnLst/>
              <a:rect r="r" b="b" t="t" l="l"/>
              <a:pathLst>
                <a:path h="678126" w="678126">
                  <a:moveTo>
                    <a:pt x="0" y="0"/>
                  </a:moveTo>
                  <a:lnTo>
                    <a:pt x="678126" y="0"/>
                  </a:lnTo>
                  <a:lnTo>
                    <a:pt x="678126" y="678126"/>
                  </a:lnTo>
                  <a:lnTo>
                    <a:pt x="0" y="678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0500336" y="7083766"/>
              <a:ext cx="1361904" cy="1361904"/>
            </a:xfrm>
            <a:custGeom>
              <a:avLst/>
              <a:gdLst/>
              <a:ahLst/>
              <a:cxnLst/>
              <a:rect r="r" b="b" t="t" l="l"/>
              <a:pathLst>
                <a:path h="1361904" w="1361904">
                  <a:moveTo>
                    <a:pt x="0" y="0"/>
                  </a:moveTo>
                  <a:lnTo>
                    <a:pt x="1361905" y="0"/>
                  </a:lnTo>
                  <a:lnTo>
                    <a:pt x="1361905" y="1361905"/>
                  </a:lnTo>
                  <a:lnTo>
                    <a:pt x="0" y="1361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164868" y="8118828"/>
            <a:ext cx="4904039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Se transfiere conocimiento desde usuarios similares al usuario con historial corto.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5109846" y="662792"/>
            <a:ext cx="2098159" cy="722776"/>
            <a:chOff x="0" y="0"/>
            <a:chExt cx="2797545" cy="96370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481851" y="326340"/>
              <a:ext cx="2315695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SOLUCIÓN</a:t>
              </a:r>
            </a:p>
          </p:txBody>
        </p:sp>
        <p:sp>
          <p:nvSpPr>
            <p:cNvPr name="Freeform 27" id="27"/>
            <p:cNvSpPr/>
            <p:nvPr/>
          </p:nvSpPr>
          <p:spPr>
            <a:xfrm flipH="false" flipV="false" rot="0">
              <a:off x="88757" y="86081"/>
              <a:ext cx="803592" cy="803592"/>
            </a:xfrm>
            <a:custGeom>
              <a:avLst/>
              <a:gdLst/>
              <a:ahLst/>
              <a:cxnLst/>
              <a:rect r="r" b="b" t="t" l="l"/>
              <a:pathLst>
                <a:path h="803592" w="803592">
                  <a:moveTo>
                    <a:pt x="0" y="0"/>
                  </a:moveTo>
                  <a:lnTo>
                    <a:pt x="803592" y="0"/>
                  </a:lnTo>
                  <a:lnTo>
                    <a:pt x="803592" y="803592"/>
                  </a:lnTo>
                  <a:lnTo>
                    <a:pt x="0" y="803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164868" y="6116873"/>
            <a:ext cx="5062619" cy="1557871"/>
            <a:chOff x="0" y="0"/>
            <a:chExt cx="6750158" cy="2077162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6750158" cy="2077162"/>
              <a:chOff x="0" y="0"/>
              <a:chExt cx="1333365" cy="410304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333365" cy="410304"/>
              </a:xfrm>
              <a:custGeom>
                <a:avLst/>
                <a:gdLst/>
                <a:ahLst/>
                <a:cxnLst/>
                <a:rect r="r" b="b" t="t" l="l"/>
                <a:pathLst>
                  <a:path h="410304" w="1333365">
                    <a:moveTo>
                      <a:pt x="27526" y="0"/>
                    </a:moveTo>
                    <a:lnTo>
                      <a:pt x="1305838" y="0"/>
                    </a:lnTo>
                    <a:cubicBezTo>
                      <a:pt x="1313139" y="0"/>
                      <a:pt x="1320140" y="2900"/>
                      <a:pt x="1325302" y="8062"/>
                    </a:cubicBezTo>
                    <a:cubicBezTo>
                      <a:pt x="1330465" y="13224"/>
                      <a:pt x="1333365" y="20226"/>
                      <a:pt x="1333365" y="27526"/>
                    </a:cubicBezTo>
                    <a:lnTo>
                      <a:pt x="1333365" y="382777"/>
                    </a:lnTo>
                    <a:cubicBezTo>
                      <a:pt x="1333365" y="397980"/>
                      <a:pt x="1321041" y="410304"/>
                      <a:pt x="1305838" y="410304"/>
                    </a:cubicBezTo>
                    <a:lnTo>
                      <a:pt x="27526" y="410304"/>
                    </a:lnTo>
                    <a:cubicBezTo>
                      <a:pt x="20226" y="410304"/>
                      <a:pt x="13224" y="407404"/>
                      <a:pt x="8062" y="402241"/>
                    </a:cubicBezTo>
                    <a:cubicBezTo>
                      <a:pt x="2900" y="397079"/>
                      <a:pt x="0" y="390078"/>
                      <a:pt x="0" y="382777"/>
                    </a:cubicBezTo>
                    <a:lnTo>
                      <a:pt x="0" y="27526"/>
                    </a:lnTo>
                    <a:cubicBezTo>
                      <a:pt x="0" y="20226"/>
                      <a:pt x="2900" y="13224"/>
                      <a:pt x="8062" y="8062"/>
                    </a:cubicBezTo>
                    <a:cubicBezTo>
                      <a:pt x="13224" y="2900"/>
                      <a:pt x="20226" y="0"/>
                      <a:pt x="27526" y="0"/>
                    </a:cubicBezTo>
                    <a:close/>
                  </a:path>
                </a:pathLst>
              </a:custGeom>
              <a:solidFill>
                <a:srgbClr val="004717">
                  <a:alpha val="19608"/>
                </a:srgbClr>
              </a:solidFill>
              <a:ln w="142875" cap="sq">
                <a:solidFill>
                  <a:srgbClr val="004717">
                    <a:alpha val="19608"/>
                  </a:srgbClr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1333365" cy="4579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Freeform 32" id="32"/>
            <p:cNvSpPr/>
            <p:nvPr/>
          </p:nvSpPr>
          <p:spPr>
            <a:xfrm flipH="false" flipV="false" rot="0">
              <a:off x="190865" y="302718"/>
              <a:ext cx="6368429" cy="1440857"/>
            </a:xfrm>
            <a:custGeom>
              <a:avLst/>
              <a:gdLst/>
              <a:ahLst/>
              <a:cxnLst/>
              <a:rect r="r" b="b" t="t" l="l"/>
              <a:pathLst>
                <a:path h="1440857" w="6368429">
                  <a:moveTo>
                    <a:pt x="0" y="0"/>
                  </a:moveTo>
                  <a:lnTo>
                    <a:pt x="6368428" y="0"/>
                  </a:lnTo>
                  <a:lnTo>
                    <a:pt x="6368428" y="1440857"/>
                  </a:lnTo>
                  <a:lnTo>
                    <a:pt x="0" y="1440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3784975" y="5586012"/>
            <a:ext cx="3822404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331B0D"/>
                </a:solidFill>
                <a:latin typeface="Inter Bold"/>
                <a:ea typeface="Inter Bold"/>
                <a:cs typeface="Inter Bold"/>
                <a:sym typeface="Inter Bold"/>
              </a:rPr>
              <a:t>Distillation loss: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164868" y="3540639"/>
            <a:ext cx="4904039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Usuarios similares - Profesor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164868" y="4018794"/>
            <a:ext cx="4904039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Usuario objetivo - Estudiante</a:t>
            </a:r>
          </a:p>
        </p:txBody>
      </p:sp>
      <p:sp>
        <p:nvSpPr>
          <p:cNvPr name="Freeform 36" id="36"/>
          <p:cNvSpPr/>
          <p:nvPr/>
        </p:nvSpPr>
        <p:spPr>
          <a:xfrm>
            <a:off x="17083559" y="3817817"/>
            <a:ext cx="1070884" cy="1710514"/>
          </a:xfrm>
          <a:custGeom>
            <a:avLst/>
            <a:gdLst/>
            <a:ahLst/>
            <a:cxnLst/>
            <a:rect r="r" b="b" t="t" l="l"/>
            <a:pathLst>
              <a:path h="1710514" w="1070884">
                <a:moveTo>
                  <a:pt x="382858" y="0"/>
                </a:moveTo>
                <a:quadBezTo>
                  <a:pt x="1929253" y="434856"/>
                  <a:pt x="0" y="1710514"/>
                </a:quadBezTo>
              </a:path>
            </a:pathLst>
          </a:custGeom>
          <a:ln cap="flat" w="57150">
            <a:solidFill>
              <a:srgbClr val="331B0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37" id="37"/>
          <p:cNvSpPr/>
          <p:nvPr/>
        </p:nvSpPr>
        <p:spPr>
          <a:xfrm>
            <a:off x="17083559" y="4295972"/>
            <a:ext cx="725960" cy="1232359"/>
          </a:xfrm>
          <a:custGeom>
            <a:avLst/>
            <a:gdLst/>
            <a:ahLst/>
            <a:cxnLst/>
            <a:rect r="r" b="b" t="t" l="l"/>
            <a:pathLst>
              <a:path h="1232359" w="725960">
                <a:moveTo>
                  <a:pt x="382858" y="0"/>
                </a:moveTo>
                <a:quadBezTo>
                  <a:pt x="1225037" y="484200"/>
                  <a:pt x="0" y="1232359"/>
                </a:quadBezTo>
              </a:path>
            </a:pathLst>
          </a:custGeom>
          <a:ln cap="flat" w="57150">
            <a:solidFill>
              <a:srgbClr val="331B0D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0381" y="8583510"/>
            <a:ext cx="15467238" cy="1113994"/>
            <a:chOff x="0" y="0"/>
            <a:chExt cx="20622984" cy="148532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775867" y="0"/>
              <a:ext cx="17317570" cy="1485326"/>
              <a:chOff x="0" y="0"/>
              <a:chExt cx="3420755" cy="29339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420755" cy="293398"/>
              </a:xfrm>
              <a:custGeom>
                <a:avLst/>
                <a:gdLst/>
                <a:ahLst/>
                <a:cxnLst/>
                <a:rect r="r" b="b" t="t" l="l"/>
                <a:pathLst>
                  <a:path h="293398" w="3420755">
                    <a:moveTo>
                      <a:pt x="10729" y="0"/>
                    </a:moveTo>
                    <a:lnTo>
                      <a:pt x="3410026" y="0"/>
                    </a:lnTo>
                    <a:cubicBezTo>
                      <a:pt x="3415951" y="0"/>
                      <a:pt x="3420755" y="4804"/>
                      <a:pt x="3420755" y="10729"/>
                    </a:cubicBezTo>
                    <a:lnTo>
                      <a:pt x="3420755" y="282668"/>
                    </a:lnTo>
                    <a:cubicBezTo>
                      <a:pt x="3420755" y="285514"/>
                      <a:pt x="3419624" y="288243"/>
                      <a:pt x="3417612" y="290255"/>
                    </a:cubicBezTo>
                    <a:cubicBezTo>
                      <a:pt x="3415600" y="292267"/>
                      <a:pt x="3412871" y="293398"/>
                      <a:pt x="3410026" y="293398"/>
                    </a:cubicBezTo>
                    <a:lnTo>
                      <a:pt x="10729" y="293398"/>
                    </a:lnTo>
                    <a:cubicBezTo>
                      <a:pt x="7884" y="293398"/>
                      <a:pt x="5155" y="292267"/>
                      <a:pt x="3143" y="290255"/>
                    </a:cubicBezTo>
                    <a:cubicBezTo>
                      <a:pt x="1130" y="288243"/>
                      <a:pt x="0" y="285514"/>
                      <a:pt x="0" y="282668"/>
                    </a:cubicBezTo>
                    <a:lnTo>
                      <a:pt x="0" y="10729"/>
                    </a:lnTo>
                    <a:cubicBezTo>
                      <a:pt x="0" y="7884"/>
                      <a:pt x="1130" y="5155"/>
                      <a:pt x="3143" y="3143"/>
                    </a:cubicBezTo>
                    <a:cubicBezTo>
                      <a:pt x="5155" y="1130"/>
                      <a:pt x="7884" y="0"/>
                      <a:pt x="10729" y="0"/>
                    </a:cubicBezTo>
                    <a:close/>
                  </a:path>
                </a:pathLst>
              </a:custGeom>
              <a:solidFill>
                <a:srgbClr val="004717">
                  <a:alpha val="19608"/>
                </a:srgbClr>
              </a:solidFill>
              <a:ln w="142875" cap="sq">
                <a:solidFill>
                  <a:srgbClr val="004717">
                    <a:alpha val="19608"/>
                  </a:srgbClr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3420755" cy="3410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388798"/>
              <a:ext cx="20622984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 i="true">
                  <a:solidFill>
                    <a:srgbClr val="000000"/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“El LLM no recomienda online: solo genera embeddings previamente.”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4625262" y="3851431"/>
            <a:ext cx="0" cy="635983"/>
          </a:xfrm>
          <a:prstGeom prst="line">
            <a:avLst/>
          </a:prstGeom>
          <a:ln cap="flat" w="57150">
            <a:solidFill>
              <a:srgbClr val="331B0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" id="8"/>
          <p:cNvSpPr/>
          <p:nvPr/>
        </p:nvSpPr>
        <p:spPr>
          <a:xfrm>
            <a:off x="4625262" y="5391788"/>
            <a:ext cx="0" cy="635983"/>
          </a:xfrm>
          <a:prstGeom prst="line">
            <a:avLst/>
          </a:prstGeom>
          <a:ln cap="flat" w="57150">
            <a:solidFill>
              <a:srgbClr val="331B0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" id="9"/>
          <p:cNvSpPr/>
          <p:nvPr/>
        </p:nvSpPr>
        <p:spPr>
          <a:xfrm>
            <a:off x="13064306" y="3852373"/>
            <a:ext cx="0" cy="635983"/>
          </a:xfrm>
          <a:prstGeom prst="line">
            <a:avLst/>
          </a:prstGeom>
          <a:ln cap="flat" w="57150">
            <a:solidFill>
              <a:srgbClr val="331B0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0" id="10"/>
          <p:cNvSpPr/>
          <p:nvPr/>
        </p:nvSpPr>
        <p:spPr>
          <a:xfrm>
            <a:off x="13064306" y="5392730"/>
            <a:ext cx="0" cy="635983"/>
          </a:xfrm>
          <a:prstGeom prst="line">
            <a:avLst/>
          </a:prstGeom>
          <a:ln cap="flat" w="57150">
            <a:solidFill>
              <a:srgbClr val="331B0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1" id="11"/>
          <p:cNvSpPr txBox="true"/>
          <p:nvPr/>
        </p:nvSpPr>
        <p:spPr>
          <a:xfrm rot="0">
            <a:off x="2664342" y="2988800"/>
            <a:ext cx="3921840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ENTRENAMIENTO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95504" y="6863843"/>
            <a:ext cx="5059515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Self-distillation loss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03386" y="2930988"/>
            <a:ext cx="3921840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INFERENCIA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13009" y="4640757"/>
            <a:ext cx="5702594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Score final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95504" y="7464939"/>
            <a:ext cx="5059515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Embeddings congelados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26271" y="6181114"/>
            <a:ext cx="4276069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Dual-view modeling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26271" y="6864374"/>
            <a:ext cx="4276069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Sin LLM online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836537" y="4618068"/>
            <a:ext cx="3577449" cy="643067"/>
          </a:xfrm>
          <a:custGeom>
            <a:avLst/>
            <a:gdLst/>
            <a:ahLst/>
            <a:cxnLst/>
            <a:rect r="r" b="b" t="t" l="l"/>
            <a:pathLst>
              <a:path h="643067" w="3577449">
                <a:moveTo>
                  <a:pt x="0" y="0"/>
                </a:moveTo>
                <a:lnTo>
                  <a:pt x="3577450" y="0"/>
                </a:lnTo>
                <a:lnTo>
                  <a:pt x="3577450" y="643067"/>
                </a:lnTo>
                <a:lnTo>
                  <a:pt x="0" y="6430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095504" y="6266307"/>
            <a:ext cx="5059515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Ranking loss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26271" y="7547635"/>
            <a:ext cx="4276069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Sin self-distillation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1851501"/>
            <a:ext cx="1515728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spc="-27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ENTRENAMIENTO E INFERENCIA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975993"/>
            <a:ext cx="455364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b="true" sz="7500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LLM-ESR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5109846" y="662792"/>
            <a:ext cx="2098159" cy="722776"/>
            <a:chOff x="0" y="0"/>
            <a:chExt cx="2797545" cy="963701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481851" y="326340"/>
              <a:ext cx="2315695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SOLUCIÓN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88757" y="86081"/>
              <a:ext cx="803592" cy="803592"/>
            </a:xfrm>
            <a:custGeom>
              <a:avLst/>
              <a:gdLst/>
              <a:ahLst/>
              <a:cxnLst/>
              <a:rect r="r" b="b" t="t" l="l"/>
              <a:pathLst>
                <a:path h="803592" w="803592">
                  <a:moveTo>
                    <a:pt x="0" y="0"/>
                  </a:moveTo>
                  <a:lnTo>
                    <a:pt x="803592" y="0"/>
                  </a:lnTo>
                  <a:lnTo>
                    <a:pt x="803592" y="803592"/>
                  </a:lnTo>
                  <a:lnTo>
                    <a:pt x="0" y="803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846" y="662792"/>
            <a:ext cx="2426113" cy="722776"/>
            <a:chOff x="0" y="0"/>
            <a:chExt cx="3234818" cy="96370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481851" y="326340"/>
              <a:ext cx="2752967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EVALUACIÓN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77682" y="77682"/>
              <a:ext cx="808337" cy="808337"/>
            </a:xfrm>
            <a:custGeom>
              <a:avLst/>
              <a:gdLst/>
              <a:ahLst/>
              <a:cxnLst/>
              <a:rect r="r" b="b" t="t" l="l"/>
              <a:pathLst>
                <a:path h="808337" w="808337">
                  <a:moveTo>
                    <a:pt x="0" y="0"/>
                  </a:moveTo>
                  <a:lnTo>
                    <a:pt x="808337" y="0"/>
                  </a:lnTo>
                  <a:lnTo>
                    <a:pt x="808337" y="808337"/>
                  </a:lnTo>
                  <a:lnTo>
                    <a:pt x="0" y="808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64705" y="4429317"/>
            <a:ext cx="8044238" cy="3274679"/>
            <a:chOff x="0" y="0"/>
            <a:chExt cx="2118647" cy="862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18647" cy="862467"/>
            </a:xfrm>
            <a:custGeom>
              <a:avLst/>
              <a:gdLst/>
              <a:ahLst/>
              <a:cxnLst/>
              <a:rect r="r" b="b" t="t" l="l"/>
              <a:pathLst>
                <a:path h="862467" w="2118647">
                  <a:moveTo>
                    <a:pt x="17324" y="0"/>
                  </a:moveTo>
                  <a:lnTo>
                    <a:pt x="2101323" y="0"/>
                  </a:lnTo>
                  <a:cubicBezTo>
                    <a:pt x="2105918" y="0"/>
                    <a:pt x="2110324" y="1825"/>
                    <a:pt x="2113573" y="5074"/>
                  </a:cubicBezTo>
                  <a:cubicBezTo>
                    <a:pt x="2116822" y="8323"/>
                    <a:pt x="2118647" y="12729"/>
                    <a:pt x="2118647" y="17324"/>
                  </a:cubicBezTo>
                  <a:lnTo>
                    <a:pt x="2118647" y="845143"/>
                  </a:lnTo>
                  <a:cubicBezTo>
                    <a:pt x="2118647" y="849738"/>
                    <a:pt x="2116822" y="854144"/>
                    <a:pt x="2113573" y="857393"/>
                  </a:cubicBezTo>
                  <a:cubicBezTo>
                    <a:pt x="2110324" y="860642"/>
                    <a:pt x="2105918" y="862467"/>
                    <a:pt x="2101323" y="862467"/>
                  </a:cubicBezTo>
                  <a:lnTo>
                    <a:pt x="17324" y="862467"/>
                  </a:lnTo>
                  <a:cubicBezTo>
                    <a:pt x="12729" y="862467"/>
                    <a:pt x="8323" y="860642"/>
                    <a:pt x="5074" y="857393"/>
                  </a:cubicBezTo>
                  <a:cubicBezTo>
                    <a:pt x="1825" y="854144"/>
                    <a:pt x="0" y="849738"/>
                    <a:pt x="0" y="845143"/>
                  </a:cubicBezTo>
                  <a:lnTo>
                    <a:pt x="0" y="17324"/>
                  </a:lnTo>
                  <a:cubicBezTo>
                    <a:pt x="0" y="12729"/>
                    <a:pt x="1825" y="8323"/>
                    <a:pt x="5074" y="5074"/>
                  </a:cubicBezTo>
                  <a:cubicBezTo>
                    <a:pt x="8323" y="1825"/>
                    <a:pt x="12729" y="0"/>
                    <a:pt x="17324" y="0"/>
                  </a:cubicBezTo>
                  <a:close/>
                </a:path>
              </a:pathLst>
            </a:custGeom>
            <a:solidFill>
              <a:srgbClr val="004717">
                <a:alpha val="19608"/>
              </a:srgbClr>
            </a:solidFill>
            <a:ln w="142875" cap="sq">
              <a:solidFill>
                <a:srgbClr val="004717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18647" cy="910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4746309"/>
            <a:ext cx="7415452" cy="2637185"/>
          </a:xfrm>
          <a:custGeom>
            <a:avLst/>
            <a:gdLst/>
            <a:ahLst/>
            <a:cxnLst/>
            <a:rect r="r" b="b" t="t" l="l"/>
            <a:pathLst>
              <a:path h="2637185" w="7415452">
                <a:moveTo>
                  <a:pt x="0" y="0"/>
                </a:moveTo>
                <a:lnTo>
                  <a:pt x="7415452" y="0"/>
                </a:lnTo>
                <a:lnTo>
                  <a:pt x="7415452" y="2637185"/>
                </a:lnTo>
                <a:lnTo>
                  <a:pt x="0" y="26371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03947" y="1547493"/>
            <a:ext cx="8115300" cy="98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b="true" sz="7500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EXPERIMENTOS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332631" y="2685153"/>
            <a:ext cx="7075151" cy="6573147"/>
            <a:chOff x="0" y="0"/>
            <a:chExt cx="9433535" cy="8764196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61925"/>
              <a:ext cx="2847192" cy="766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79"/>
                </a:lnSpc>
              </a:pPr>
              <a:r>
                <a:rPr lang="en-US" b="true" sz="2999">
                  <a:solidFill>
                    <a:srgbClr val="00471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DATASET: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643056"/>
              <a:ext cx="9433535" cy="1159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6"/>
                </a:lnSpc>
              </a:pPr>
              <a:r>
                <a:rPr lang="en-US" sz="21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Yelp (datos de check-in en establecimientos), Amazon fashion y Amazon beauty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2374870"/>
              <a:ext cx="3140166" cy="766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79"/>
                </a:lnSpc>
              </a:pPr>
              <a:r>
                <a:rPr lang="en-US" sz="2999" b="true">
                  <a:solidFill>
                    <a:srgbClr val="00471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BASELINES: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3179417"/>
              <a:ext cx="9433535" cy="1159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6"/>
                </a:lnSpc>
              </a:pPr>
              <a:r>
                <a:rPr lang="en-US" sz="21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Tradicionales (sin LLMs): CITIES y MELT</a:t>
              </a:r>
            </a:p>
            <a:p>
              <a:pPr algn="l">
                <a:lnSpc>
                  <a:spcPts val="3696"/>
                </a:lnSpc>
              </a:pPr>
              <a:r>
                <a:rPr lang="en-US" sz="21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Basados en LLMs: RLMRec y LLMInit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4913856"/>
              <a:ext cx="5996664" cy="766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79"/>
                </a:lnSpc>
              </a:pPr>
              <a:r>
                <a:rPr lang="en-US" sz="2999" b="true">
                  <a:solidFill>
                    <a:srgbClr val="00471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MODELOS BACKBONE: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5718403"/>
              <a:ext cx="9433535" cy="5374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6"/>
                </a:lnSpc>
              </a:pPr>
              <a:r>
                <a:rPr lang="en-US" sz="21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GRU4Rec, Bert4Rec y SASRec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6830542"/>
              <a:ext cx="7339463" cy="766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79"/>
                </a:lnSpc>
              </a:pPr>
              <a:r>
                <a:rPr lang="en-US" sz="2999" b="true">
                  <a:solidFill>
                    <a:srgbClr val="00471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MÉTRICAS DE EVALUACIÓN: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7604432"/>
              <a:ext cx="9433535" cy="1159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6"/>
                </a:lnSpc>
              </a:pPr>
              <a:r>
                <a:rPr lang="en-US" sz="21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HR@10 (Hit Rate at 10) y NDCG@10 (Normalized Discounted Cumulative Gain at 10)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03947" y="7903018"/>
            <a:ext cx="6976449" cy="352830"/>
            <a:chOff x="0" y="0"/>
            <a:chExt cx="9301931" cy="47044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710972" y="-76221"/>
              <a:ext cx="8590959" cy="508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24"/>
                </a:lnSpc>
              </a:pPr>
              <a:r>
                <a:rPr lang="en-US" sz="2002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Sparsity: </a:t>
              </a:r>
              <a:r>
                <a:rPr lang="en-US" sz="200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qué tan vacía está la matriz usuario-ítem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2842" cy="470440"/>
            </a:xfrm>
            <a:custGeom>
              <a:avLst/>
              <a:gdLst/>
              <a:ahLst/>
              <a:cxnLst/>
              <a:rect r="r" b="b" t="t" l="l"/>
              <a:pathLst>
                <a:path h="470440" w="492842">
                  <a:moveTo>
                    <a:pt x="0" y="0"/>
                  </a:moveTo>
                  <a:lnTo>
                    <a:pt x="492842" y="0"/>
                  </a:lnTo>
                  <a:lnTo>
                    <a:pt x="492842" y="470440"/>
                  </a:lnTo>
                  <a:lnTo>
                    <a:pt x="0" y="470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846" y="662792"/>
            <a:ext cx="2426113" cy="722776"/>
            <a:chOff x="0" y="0"/>
            <a:chExt cx="3234818" cy="96370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481851" y="326340"/>
              <a:ext cx="2752967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EVALUACIÓN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77682" y="77682"/>
              <a:ext cx="808337" cy="808337"/>
            </a:xfrm>
            <a:custGeom>
              <a:avLst/>
              <a:gdLst/>
              <a:ahLst/>
              <a:cxnLst/>
              <a:rect r="r" b="b" t="t" l="l"/>
              <a:pathLst>
                <a:path h="808337" w="808337">
                  <a:moveTo>
                    <a:pt x="0" y="0"/>
                  </a:moveTo>
                  <a:lnTo>
                    <a:pt x="808337" y="0"/>
                  </a:lnTo>
                  <a:lnTo>
                    <a:pt x="808337" y="808337"/>
                  </a:lnTo>
                  <a:lnTo>
                    <a:pt x="0" y="808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210383" y="2418543"/>
            <a:ext cx="4262762" cy="4721639"/>
            <a:chOff x="0" y="0"/>
            <a:chExt cx="5683682" cy="62955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3682" cy="6295518"/>
            </a:xfrm>
            <a:custGeom>
              <a:avLst/>
              <a:gdLst/>
              <a:ahLst/>
              <a:cxnLst/>
              <a:rect r="r" b="b" t="t" l="l"/>
              <a:pathLst>
                <a:path h="6295518" w="5683682">
                  <a:moveTo>
                    <a:pt x="0" y="0"/>
                  </a:moveTo>
                  <a:lnTo>
                    <a:pt x="5683682" y="0"/>
                  </a:lnTo>
                  <a:lnTo>
                    <a:pt x="5683682" y="6295518"/>
                  </a:lnTo>
                  <a:lnTo>
                    <a:pt x="0" y="6295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931" r="-164103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3251449" y="0"/>
              <a:ext cx="2396648" cy="6295518"/>
              <a:chOff x="0" y="0"/>
              <a:chExt cx="227581" cy="59756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27581" cy="597568"/>
              </a:xfrm>
              <a:custGeom>
                <a:avLst/>
                <a:gdLst/>
                <a:ahLst/>
                <a:cxnLst/>
                <a:rect r="r" b="b" t="t" l="l"/>
                <a:pathLst>
                  <a:path h="597568" w="227581">
                    <a:moveTo>
                      <a:pt x="227581" y="85813"/>
                    </a:moveTo>
                    <a:lnTo>
                      <a:pt x="227581" y="511755"/>
                    </a:lnTo>
                    <a:cubicBezTo>
                      <a:pt x="227581" y="534514"/>
                      <a:pt x="218540" y="556341"/>
                      <a:pt x="202447" y="572434"/>
                    </a:cubicBezTo>
                    <a:cubicBezTo>
                      <a:pt x="186354" y="588527"/>
                      <a:pt x="164527" y="597568"/>
                      <a:pt x="141768" y="597568"/>
                    </a:cubicBezTo>
                    <a:lnTo>
                      <a:pt x="85813" y="597568"/>
                    </a:lnTo>
                    <a:cubicBezTo>
                      <a:pt x="63054" y="597568"/>
                      <a:pt x="41227" y="588527"/>
                      <a:pt x="25134" y="572434"/>
                    </a:cubicBezTo>
                    <a:cubicBezTo>
                      <a:pt x="9041" y="556341"/>
                      <a:pt x="0" y="534514"/>
                      <a:pt x="0" y="511755"/>
                    </a:cubicBezTo>
                    <a:lnTo>
                      <a:pt x="0" y="85813"/>
                    </a:lnTo>
                    <a:cubicBezTo>
                      <a:pt x="0" y="63054"/>
                      <a:pt x="9041" y="41227"/>
                      <a:pt x="25134" y="25134"/>
                    </a:cubicBezTo>
                    <a:cubicBezTo>
                      <a:pt x="41227" y="9041"/>
                      <a:pt x="63054" y="0"/>
                      <a:pt x="85813" y="0"/>
                    </a:cubicBezTo>
                    <a:lnTo>
                      <a:pt x="141768" y="0"/>
                    </a:lnTo>
                    <a:cubicBezTo>
                      <a:pt x="164527" y="0"/>
                      <a:pt x="186354" y="9041"/>
                      <a:pt x="202447" y="25134"/>
                    </a:cubicBezTo>
                    <a:cubicBezTo>
                      <a:pt x="218540" y="41227"/>
                      <a:pt x="227581" y="63054"/>
                      <a:pt x="227581" y="85813"/>
                    </a:cubicBezTo>
                    <a:close/>
                  </a:path>
                </a:pathLst>
              </a:custGeom>
              <a:ln w="57150" cap="sq">
                <a:solidFill>
                  <a:srgbClr val="EC9B19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227581" cy="645193"/>
              </a:xfrm>
              <a:prstGeom prst="rect">
                <a:avLst/>
              </a:prstGeom>
            </p:spPr>
            <p:txBody>
              <a:bodyPr anchor="ctr" rtlCol="false" tIns="57791" lIns="57791" bIns="57791" rIns="57791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1028700" y="824717"/>
            <a:ext cx="8115300" cy="98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7500" b="true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RESULTADOS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814856" y="2418543"/>
            <a:ext cx="4262762" cy="4721639"/>
            <a:chOff x="0" y="0"/>
            <a:chExt cx="5683682" cy="62955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83682" cy="6295518"/>
            </a:xfrm>
            <a:custGeom>
              <a:avLst/>
              <a:gdLst/>
              <a:ahLst/>
              <a:cxnLst/>
              <a:rect r="r" b="b" t="t" l="l"/>
              <a:pathLst>
                <a:path h="6295518" w="5683682">
                  <a:moveTo>
                    <a:pt x="0" y="0"/>
                  </a:moveTo>
                  <a:lnTo>
                    <a:pt x="5683682" y="0"/>
                  </a:lnTo>
                  <a:lnTo>
                    <a:pt x="5683682" y="6295518"/>
                  </a:lnTo>
                  <a:lnTo>
                    <a:pt x="0" y="6295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570" t="-3468" r="-188498" b="-99998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0">
              <a:off x="3062848" y="0"/>
              <a:ext cx="2620834" cy="6295518"/>
              <a:chOff x="0" y="0"/>
              <a:chExt cx="248869" cy="59756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48869" cy="597568"/>
              </a:xfrm>
              <a:custGeom>
                <a:avLst/>
                <a:gdLst/>
                <a:ahLst/>
                <a:cxnLst/>
                <a:rect r="r" b="b" t="t" l="l"/>
                <a:pathLst>
                  <a:path h="597568" w="248869">
                    <a:moveTo>
                      <a:pt x="248869" y="76854"/>
                    </a:moveTo>
                    <a:lnTo>
                      <a:pt x="248869" y="520714"/>
                    </a:lnTo>
                    <a:cubicBezTo>
                      <a:pt x="248869" y="541097"/>
                      <a:pt x="240772" y="560645"/>
                      <a:pt x="226359" y="575058"/>
                    </a:cubicBezTo>
                    <a:cubicBezTo>
                      <a:pt x="211946" y="589471"/>
                      <a:pt x="192398" y="597568"/>
                      <a:pt x="172015" y="597568"/>
                    </a:cubicBezTo>
                    <a:lnTo>
                      <a:pt x="76854" y="597568"/>
                    </a:lnTo>
                    <a:cubicBezTo>
                      <a:pt x="34409" y="597568"/>
                      <a:pt x="0" y="563159"/>
                      <a:pt x="0" y="520714"/>
                    </a:cubicBezTo>
                    <a:lnTo>
                      <a:pt x="0" y="76854"/>
                    </a:lnTo>
                    <a:cubicBezTo>
                      <a:pt x="0" y="56471"/>
                      <a:pt x="8097" y="36923"/>
                      <a:pt x="22510" y="22510"/>
                    </a:cubicBezTo>
                    <a:cubicBezTo>
                      <a:pt x="36923" y="8097"/>
                      <a:pt x="56471" y="0"/>
                      <a:pt x="76854" y="0"/>
                    </a:cubicBezTo>
                    <a:lnTo>
                      <a:pt x="172015" y="0"/>
                    </a:lnTo>
                    <a:cubicBezTo>
                      <a:pt x="192398" y="0"/>
                      <a:pt x="211946" y="8097"/>
                      <a:pt x="226359" y="22510"/>
                    </a:cubicBezTo>
                    <a:cubicBezTo>
                      <a:pt x="240772" y="36923"/>
                      <a:pt x="248869" y="56471"/>
                      <a:pt x="248869" y="76854"/>
                    </a:cubicBezTo>
                    <a:close/>
                  </a:path>
                </a:pathLst>
              </a:custGeom>
              <a:ln w="47625" cap="sq">
                <a:solidFill>
                  <a:srgbClr val="EC9B19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248869" cy="645193"/>
              </a:xfrm>
              <a:prstGeom prst="rect">
                <a:avLst/>
              </a:prstGeom>
            </p:spPr>
            <p:txBody>
              <a:bodyPr anchor="ctr" rtlCol="false" tIns="50157" lIns="50157" bIns="50157" rIns="50157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6867796" y="2418543"/>
            <a:ext cx="4553475" cy="4721639"/>
            <a:chOff x="0" y="0"/>
            <a:chExt cx="6071301" cy="629551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71301" cy="6295518"/>
            </a:xfrm>
            <a:custGeom>
              <a:avLst/>
              <a:gdLst/>
              <a:ahLst/>
              <a:cxnLst/>
              <a:rect r="r" b="b" t="t" l="l"/>
              <a:pathLst>
                <a:path h="6295518" w="6071301">
                  <a:moveTo>
                    <a:pt x="0" y="0"/>
                  </a:moveTo>
                  <a:lnTo>
                    <a:pt x="6071301" y="0"/>
                  </a:lnTo>
                  <a:lnTo>
                    <a:pt x="6071301" y="6295518"/>
                  </a:lnTo>
                  <a:lnTo>
                    <a:pt x="0" y="6295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01" t="-99052" r="-169193" b="0"/>
              </a:stretch>
            </a:blipFill>
          </p:spPr>
        </p:sp>
        <p:grpSp>
          <p:nvGrpSpPr>
            <p:cNvPr name="Group 21" id="21"/>
            <p:cNvGrpSpPr/>
            <p:nvPr/>
          </p:nvGrpSpPr>
          <p:grpSpPr>
            <a:xfrm rot="0">
              <a:off x="3229350" y="0"/>
              <a:ext cx="2841950" cy="6295518"/>
              <a:chOff x="0" y="0"/>
              <a:chExt cx="269866" cy="597568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69866" cy="597568"/>
              </a:xfrm>
              <a:custGeom>
                <a:avLst/>
                <a:gdLst/>
                <a:ahLst/>
                <a:cxnLst/>
                <a:rect r="r" b="b" t="t" l="l"/>
                <a:pathLst>
                  <a:path h="597568" w="269866">
                    <a:moveTo>
                      <a:pt x="269866" y="70875"/>
                    </a:moveTo>
                    <a:lnTo>
                      <a:pt x="269866" y="526693"/>
                    </a:lnTo>
                    <a:cubicBezTo>
                      <a:pt x="269866" y="545491"/>
                      <a:pt x="262399" y="563518"/>
                      <a:pt x="249107" y="576809"/>
                    </a:cubicBezTo>
                    <a:cubicBezTo>
                      <a:pt x="235816" y="590101"/>
                      <a:pt x="217789" y="597568"/>
                      <a:pt x="198992" y="597568"/>
                    </a:cubicBezTo>
                    <a:lnTo>
                      <a:pt x="70875" y="597568"/>
                    </a:lnTo>
                    <a:cubicBezTo>
                      <a:pt x="31732" y="597568"/>
                      <a:pt x="0" y="565836"/>
                      <a:pt x="0" y="526693"/>
                    </a:cubicBezTo>
                    <a:lnTo>
                      <a:pt x="0" y="70875"/>
                    </a:lnTo>
                    <a:cubicBezTo>
                      <a:pt x="0" y="31732"/>
                      <a:pt x="31732" y="0"/>
                      <a:pt x="70875" y="0"/>
                    </a:cubicBezTo>
                    <a:lnTo>
                      <a:pt x="198992" y="0"/>
                    </a:lnTo>
                    <a:cubicBezTo>
                      <a:pt x="238134" y="0"/>
                      <a:pt x="269866" y="31732"/>
                      <a:pt x="269866" y="70875"/>
                    </a:cubicBezTo>
                    <a:close/>
                  </a:path>
                </a:pathLst>
              </a:custGeom>
              <a:ln w="47625" cap="sq">
                <a:solidFill>
                  <a:srgbClr val="EC9B19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269866" cy="645193"/>
              </a:xfrm>
              <a:prstGeom prst="rect">
                <a:avLst/>
              </a:prstGeom>
            </p:spPr>
            <p:txBody>
              <a:bodyPr anchor="ctr" rtlCol="false" tIns="50157" lIns="50157" bIns="50157" rIns="50157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24" id="24"/>
          <p:cNvSpPr txBox="true"/>
          <p:nvPr/>
        </p:nvSpPr>
        <p:spPr>
          <a:xfrm rot="0">
            <a:off x="1028700" y="7578331"/>
            <a:ext cx="12883378" cy="61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1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COMPARACIÓN GENERAL:</a:t>
            </a:r>
          </a:p>
          <a:p>
            <a:pPr algn="l">
              <a:lnSpc>
                <a:spcPts val="2457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LLM-ESR lidera el rendimiento general de ambas métricas, lo que indica mejores efectos de mejora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1665518"/>
            <a:ext cx="15157289" cy="53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spc="-24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GENERAL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8231251"/>
            <a:ext cx="8507075" cy="31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100">
                <a:solidFill>
                  <a:srgbClr val="C22829"/>
                </a:solidFill>
                <a:latin typeface="Inter"/>
                <a:ea typeface="Inter"/>
                <a:cs typeface="Inter"/>
                <a:sym typeface="Inter"/>
              </a:rPr>
              <a:t>LLM-ESR mejor en un 12,3% en comparación a SASRec en general 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846" y="662792"/>
            <a:ext cx="2426113" cy="722776"/>
            <a:chOff x="0" y="0"/>
            <a:chExt cx="3234818" cy="96370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481851" y="326340"/>
              <a:ext cx="2752967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EVALUACIÓN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77682" y="77682"/>
              <a:ext cx="808337" cy="808337"/>
            </a:xfrm>
            <a:custGeom>
              <a:avLst/>
              <a:gdLst/>
              <a:ahLst/>
              <a:cxnLst/>
              <a:rect r="r" b="b" t="t" l="l"/>
              <a:pathLst>
                <a:path h="808337" w="808337">
                  <a:moveTo>
                    <a:pt x="0" y="0"/>
                  </a:moveTo>
                  <a:lnTo>
                    <a:pt x="808337" y="0"/>
                  </a:lnTo>
                  <a:lnTo>
                    <a:pt x="808337" y="808337"/>
                  </a:lnTo>
                  <a:lnTo>
                    <a:pt x="0" y="808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210383" y="2418543"/>
            <a:ext cx="4262762" cy="4721639"/>
          </a:xfrm>
          <a:custGeom>
            <a:avLst/>
            <a:gdLst/>
            <a:ahLst/>
            <a:cxnLst/>
            <a:rect r="r" b="b" t="t" l="l"/>
            <a:pathLst>
              <a:path h="4721639" w="4262762">
                <a:moveTo>
                  <a:pt x="0" y="0"/>
                </a:moveTo>
                <a:lnTo>
                  <a:pt x="4262761" y="0"/>
                </a:lnTo>
                <a:lnTo>
                  <a:pt x="4262761" y="4721638"/>
                </a:lnTo>
                <a:lnTo>
                  <a:pt x="0" y="47216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31" r="-164103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440451" y="3791859"/>
            <a:ext cx="3006005" cy="729865"/>
            <a:chOff x="0" y="0"/>
            <a:chExt cx="380592" cy="923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0592" cy="92371"/>
            </a:xfrm>
            <a:custGeom>
              <a:avLst/>
              <a:gdLst/>
              <a:ahLst/>
              <a:cxnLst/>
              <a:rect r="r" b="b" t="t" l="l"/>
              <a:pathLst>
                <a:path h="92371" w="380592">
                  <a:moveTo>
                    <a:pt x="380592" y="46186"/>
                  </a:moveTo>
                  <a:lnTo>
                    <a:pt x="380592" y="46186"/>
                  </a:lnTo>
                  <a:cubicBezTo>
                    <a:pt x="380592" y="58435"/>
                    <a:pt x="375726" y="70182"/>
                    <a:pt x="367065" y="78844"/>
                  </a:cubicBezTo>
                  <a:cubicBezTo>
                    <a:pt x="358403" y="87505"/>
                    <a:pt x="346656" y="92371"/>
                    <a:pt x="334407" y="92371"/>
                  </a:cubicBezTo>
                  <a:lnTo>
                    <a:pt x="46186" y="92371"/>
                  </a:lnTo>
                  <a:cubicBezTo>
                    <a:pt x="33936" y="92371"/>
                    <a:pt x="22189" y="87505"/>
                    <a:pt x="13527" y="78844"/>
                  </a:cubicBezTo>
                  <a:cubicBezTo>
                    <a:pt x="4866" y="70182"/>
                    <a:pt x="0" y="58435"/>
                    <a:pt x="0" y="46186"/>
                  </a:cubicBezTo>
                  <a:lnTo>
                    <a:pt x="0" y="46186"/>
                  </a:lnTo>
                  <a:cubicBezTo>
                    <a:pt x="0" y="33936"/>
                    <a:pt x="4866" y="22189"/>
                    <a:pt x="13527" y="13527"/>
                  </a:cubicBezTo>
                  <a:cubicBezTo>
                    <a:pt x="22189" y="4866"/>
                    <a:pt x="33936" y="0"/>
                    <a:pt x="46186" y="0"/>
                  </a:cubicBezTo>
                  <a:lnTo>
                    <a:pt x="334407" y="0"/>
                  </a:lnTo>
                  <a:cubicBezTo>
                    <a:pt x="346656" y="0"/>
                    <a:pt x="358403" y="4866"/>
                    <a:pt x="367065" y="13527"/>
                  </a:cubicBezTo>
                  <a:cubicBezTo>
                    <a:pt x="375726" y="22189"/>
                    <a:pt x="380592" y="33936"/>
                    <a:pt x="380592" y="46186"/>
                  </a:cubicBezTo>
                  <a:close/>
                </a:path>
              </a:pathLst>
            </a:custGeom>
            <a:ln w="57150" cap="sq">
              <a:solidFill>
                <a:srgbClr val="EC9B19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80592" cy="139996"/>
            </a:xfrm>
            <a:prstGeom prst="rect">
              <a:avLst/>
            </a:prstGeom>
          </p:spPr>
          <p:txBody>
            <a:bodyPr anchor="ctr" rtlCol="false" tIns="57570" lIns="57570" bIns="57570" rIns="5757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467140" y="5078953"/>
            <a:ext cx="3006005" cy="729865"/>
            <a:chOff x="0" y="0"/>
            <a:chExt cx="380592" cy="923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0592" cy="92371"/>
            </a:xfrm>
            <a:custGeom>
              <a:avLst/>
              <a:gdLst/>
              <a:ahLst/>
              <a:cxnLst/>
              <a:rect r="r" b="b" t="t" l="l"/>
              <a:pathLst>
                <a:path h="92371" w="380592">
                  <a:moveTo>
                    <a:pt x="380592" y="46186"/>
                  </a:moveTo>
                  <a:lnTo>
                    <a:pt x="380592" y="46186"/>
                  </a:lnTo>
                  <a:cubicBezTo>
                    <a:pt x="380592" y="58435"/>
                    <a:pt x="375726" y="70182"/>
                    <a:pt x="367065" y="78844"/>
                  </a:cubicBezTo>
                  <a:cubicBezTo>
                    <a:pt x="358403" y="87505"/>
                    <a:pt x="346656" y="92371"/>
                    <a:pt x="334407" y="92371"/>
                  </a:cubicBezTo>
                  <a:lnTo>
                    <a:pt x="46186" y="92371"/>
                  </a:lnTo>
                  <a:cubicBezTo>
                    <a:pt x="33936" y="92371"/>
                    <a:pt x="22189" y="87505"/>
                    <a:pt x="13527" y="78844"/>
                  </a:cubicBezTo>
                  <a:cubicBezTo>
                    <a:pt x="4866" y="70182"/>
                    <a:pt x="0" y="58435"/>
                    <a:pt x="0" y="46186"/>
                  </a:cubicBezTo>
                  <a:lnTo>
                    <a:pt x="0" y="46186"/>
                  </a:lnTo>
                  <a:cubicBezTo>
                    <a:pt x="0" y="33936"/>
                    <a:pt x="4866" y="22189"/>
                    <a:pt x="13527" y="13527"/>
                  </a:cubicBezTo>
                  <a:cubicBezTo>
                    <a:pt x="22189" y="4866"/>
                    <a:pt x="33936" y="0"/>
                    <a:pt x="46186" y="0"/>
                  </a:cubicBezTo>
                  <a:lnTo>
                    <a:pt x="334407" y="0"/>
                  </a:lnTo>
                  <a:cubicBezTo>
                    <a:pt x="346656" y="0"/>
                    <a:pt x="358403" y="4866"/>
                    <a:pt x="367065" y="13527"/>
                  </a:cubicBezTo>
                  <a:cubicBezTo>
                    <a:pt x="375726" y="22189"/>
                    <a:pt x="380592" y="33936"/>
                    <a:pt x="380592" y="46186"/>
                  </a:cubicBezTo>
                  <a:close/>
                </a:path>
              </a:pathLst>
            </a:custGeom>
            <a:ln w="57150" cap="sq">
              <a:solidFill>
                <a:srgbClr val="EC9B19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80592" cy="139996"/>
            </a:xfrm>
            <a:prstGeom prst="rect">
              <a:avLst/>
            </a:prstGeom>
          </p:spPr>
          <p:txBody>
            <a:bodyPr anchor="ctr" rtlCol="false" tIns="57570" lIns="57570" bIns="57570" rIns="5757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467140" y="6410316"/>
            <a:ext cx="3006005" cy="729865"/>
            <a:chOff x="0" y="0"/>
            <a:chExt cx="380592" cy="923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0592" cy="92371"/>
            </a:xfrm>
            <a:custGeom>
              <a:avLst/>
              <a:gdLst/>
              <a:ahLst/>
              <a:cxnLst/>
              <a:rect r="r" b="b" t="t" l="l"/>
              <a:pathLst>
                <a:path h="92371" w="380592">
                  <a:moveTo>
                    <a:pt x="380592" y="46186"/>
                  </a:moveTo>
                  <a:lnTo>
                    <a:pt x="380592" y="46186"/>
                  </a:lnTo>
                  <a:cubicBezTo>
                    <a:pt x="380592" y="58435"/>
                    <a:pt x="375726" y="70182"/>
                    <a:pt x="367065" y="78844"/>
                  </a:cubicBezTo>
                  <a:cubicBezTo>
                    <a:pt x="358403" y="87505"/>
                    <a:pt x="346656" y="92371"/>
                    <a:pt x="334407" y="92371"/>
                  </a:cubicBezTo>
                  <a:lnTo>
                    <a:pt x="46186" y="92371"/>
                  </a:lnTo>
                  <a:cubicBezTo>
                    <a:pt x="33936" y="92371"/>
                    <a:pt x="22189" y="87505"/>
                    <a:pt x="13527" y="78844"/>
                  </a:cubicBezTo>
                  <a:cubicBezTo>
                    <a:pt x="4866" y="70182"/>
                    <a:pt x="0" y="58435"/>
                    <a:pt x="0" y="46186"/>
                  </a:cubicBezTo>
                  <a:lnTo>
                    <a:pt x="0" y="46186"/>
                  </a:lnTo>
                  <a:cubicBezTo>
                    <a:pt x="0" y="33936"/>
                    <a:pt x="4866" y="22189"/>
                    <a:pt x="13527" y="13527"/>
                  </a:cubicBezTo>
                  <a:cubicBezTo>
                    <a:pt x="22189" y="4866"/>
                    <a:pt x="33936" y="0"/>
                    <a:pt x="46186" y="0"/>
                  </a:cubicBezTo>
                  <a:lnTo>
                    <a:pt x="334407" y="0"/>
                  </a:lnTo>
                  <a:cubicBezTo>
                    <a:pt x="346656" y="0"/>
                    <a:pt x="358403" y="4866"/>
                    <a:pt x="367065" y="13527"/>
                  </a:cubicBezTo>
                  <a:cubicBezTo>
                    <a:pt x="375726" y="22189"/>
                    <a:pt x="380592" y="33936"/>
                    <a:pt x="380592" y="46186"/>
                  </a:cubicBezTo>
                  <a:close/>
                </a:path>
              </a:pathLst>
            </a:custGeom>
            <a:ln w="57150" cap="sq">
              <a:solidFill>
                <a:srgbClr val="EC9B19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80592" cy="139996"/>
            </a:xfrm>
            <a:prstGeom prst="rect">
              <a:avLst/>
            </a:prstGeom>
          </p:spPr>
          <p:txBody>
            <a:bodyPr anchor="ctr" rtlCol="false" tIns="57570" lIns="57570" bIns="57570" rIns="5757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1814856" y="2418543"/>
            <a:ext cx="4262762" cy="4721639"/>
          </a:xfrm>
          <a:custGeom>
            <a:avLst/>
            <a:gdLst/>
            <a:ahLst/>
            <a:cxnLst/>
            <a:rect r="r" b="b" t="t" l="l"/>
            <a:pathLst>
              <a:path h="4721639" w="4262762">
                <a:moveTo>
                  <a:pt x="0" y="0"/>
                </a:moveTo>
                <a:lnTo>
                  <a:pt x="4262761" y="0"/>
                </a:lnTo>
                <a:lnTo>
                  <a:pt x="4262761" y="4721638"/>
                </a:lnTo>
                <a:lnTo>
                  <a:pt x="0" y="47216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570" t="-3468" r="-188498" b="-99998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867796" y="2418543"/>
            <a:ext cx="4553475" cy="4721639"/>
          </a:xfrm>
          <a:custGeom>
            <a:avLst/>
            <a:gdLst/>
            <a:ahLst/>
            <a:cxnLst/>
            <a:rect r="r" b="b" t="t" l="l"/>
            <a:pathLst>
              <a:path h="4721639" w="4553475">
                <a:moveTo>
                  <a:pt x="0" y="0"/>
                </a:moveTo>
                <a:lnTo>
                  <a:pt x="4553475" y="0"/>
                </a:lnTo>
                <a:lnTo>
                  <a:pt x="4553475" y="4721638"/>
                </a:lnTo>
                <a:lnTo>
                  <a:pt x="0" y="47216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01" t="-99052" r="-169193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8252195" y="3256753"/>
            <a:ext cx="3006005" cy="729865"/>
            <a:chOff x="0" y="0"/>
            <a:chExt cx="380592" cy="923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0592" cy="92371"/>
            </a:xfrm>
            <a:custGeom>
              <a:avLst/>
              <a:gdLst/>
              <a:ahLst/>
              <a:cxnLst/>
              <a:rect r="r" b="b" t="t" l="l"/>
              <a:pathLst>
                <a:path h="92371" w="380592">
                  <a:moveTo>
                    <a:pt x="380592" y="46186"/>
                  </a:moveTo>
                  <a:lnTo>
                    <a:pt x="380592" y="46186"/>
                  </a:lnTo>
                  <a:cubicBezTo>
                    <a:pt x="380592" y="58435"/>
                    <a:pt x="375726" y="70182"/>
                    <a:pt x="367065" y="78844"/>
                  </a:cubicBezTo>
                  <a:cubicBezTo>
                    <a:pt x="358403" y="87505"/>
                    <a:pt x="346656" y="92371"/>
                    <a:pt x="334407" y="92371"/>
                  </a:cubicBezTo>
                  <a:lnTo>
                    <a:pt x="46186" y="92371"/>
                  </a:lnTo>
                  <a:cubicBezTo>
                    <a:pt x="33936" y="92371"/>
                    <a:pt x="22189" y="87505"/>
                    <a:pt x="13527" y="78844"/>
                  </a:cubicBezTo>
                  <a:cubicBezTo>
                    <a:pt x="4866" y="70182"/>
                    <a:pt x="0" y="58435"/>
                    <a:pt x="0" y="46186"/>
                  </a:cubicBezTo>
                  <a:lnTo>
                    <a:pt x="0" y="46186"/>
                  </a:lnTo>
                  <a:cubicBezTo>
                    <a:pt x="0" y="33936"/>
                    <a:pt x="4866" y="22189"/>
                    <a:pt x="13527" y="13527"/>
                  </a:cubicBezTo>
                  <a:cubicBezTo>
                    <a:pt x="22189" y="4866"/>
                    <a:pt x="33936" y="0"/>
                    <a:pt x="46186" y="0"/>
                  </a:cubicBezTo>
                  <a:lnTo>
                    <a:pt x="334407" y="0"/>
                  </a:lnTo>
                  <a:cubicBezTo>
                    <a:pt x="346656" y="0"/>
                    <a:pt x="358403" y="4866"/>
                    <a:pt x="367065" y="13527"/>
                  </a:cubicBezTo>
                  <a:cubicBezTo>
                    <a:pt x="375726" y="22189"/>
                    <a:pt x="380592" y="33936"/>
                    <a:pt x="380592" y="46186"/>
                  </a:cubicBezTo>
                  <a:close/>
                </a:path>
              </a:pathLst>
            </a:custGeom>
            <a:ln w="57150" cap="sq">
              <a:solidFill>
                <a:srgbClr val="EC9B19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80592" cy="139996"/>
            </a:xfrm>
            <a:prstGeom prst="rect">
              <a:avLst/>
            </a:prstGeom>
          </p:spPr>
          <p:txBody>
            <a:bodyPr anchor="ctr" rtlCol="false" tIns="57570" lIns="57570" bIns="57570" rIns="5757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52195" y="4714020"/>
            <a:ext cx="3006005" cy="729865"/>
            <a:chOff x="0" y="0"/>
            <a:chExt cx="380592" cy="923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0592" cy="92371"/>
            </a:xfrm>
            <a:custGeom>
              <a:avLst/>
              <a:gdLst/>
              <a:ahLst/>
              <a:cxnLst/>
              <a:rect r="r" b="b" t="t" l="l"/>
              <a:pathLst>
                <a:path h="92371" w="380592">
                  <a:moveTo>
                    <a:pt x="380592" y="46186"/>
                  </a:moveTo>
                  <a:lnTo>
                    <a:pt x="380592" y="46186"/>
                  </a:lnTo>
                  <a:cubicBezTo>
                    <a:pt x="380592" y="58435"/>
                    <a:pt x="375726" y="70182"/>
                    <a:pt x="367065" y="78844"/>
                  </a:cubicBezTo>
                  <a:cubicBezTo>
                    <a:pt x="358403" y="87505"/>
                    <a:pt x="346656" y="92371"/>
                    <a:pt x="334407" y="92371"/>
                  </a:cubicBezTo>
                  <a:lnTo>
                    <a:pt x="46186" y="92371"/>
                  </a:lnTo>
                  <a:cubicBezTo>
                    <a:pt x="33936" y="92371"/>
                    <a:pt x="22189" y="87505"/>
                    <a:pt x="13527" y="78844"/>
                  </a:cubicBezTo>
                  <a:cubicBezTo>
                    <a:pt x="4866" y="70182"/>
                    <a:pt x="0" y="58435"/>
                    <a:pt x="0" y="46186"/>
                  </a:cubicBezTo>
                  <a:lnTo>
                    <a:pt x="0" y="46186"/>
                  </a:lnTo>
                  <a:cubicBezTo>
                    <a:pt x="0" y="33936"/>
                    <a:pt x="4866" y="22189"/>
                    <a:pt x="13527" y="13527"/>
                  </a:cubicBezTo>
                  <a:cubicBezTo>
                    <a:pt x="22189" y="4866"/>
                    <a:pt x="33936" y="0"/>
                    <a:pt x="46186" y="0"/>
                  </a:cubicBezTo>
                  <a:lnTo>
                    <a:pt x="334407" y="0"/>
                  </a:lnTo>
                  <a:cubicBezTo>
                    <a:pt x="346656" y="0"/>
                    <a:pt x="358403" y="4866"/>
                    <a:pt x="367065" y="13527"/>
                  </a:cubicBezTo>
                  <a:cubicBezTo>
                    <a:pt x="375726" y="22189"/>
                    <a:pt x="380592" y="33936"/>
                    <a:pt x="380592" y="46186"/>
                  </a:cubicBezTo>
                  <a:close/>
                </a:path>
              </a:pathLst>
            </a:custGeom>
            <a:ln w="57150" cap="sq">
              <a:solidFill>
                <a:srgbClr val="EC9B19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380592" cy="139996"/>
            </a:xfrm>
            <a:prstGeom prst="rect">
              <a:avLst/>
            </a:prstGeom>
          </p:spPr>
          <p:txBody>
            <a:bodyPr anchor="ctr" rtlCol="false" tIns="57570" lIns="57570" bIns="57570" rIns="5757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52195" y="6251431"/>
            <a:ext cx="3006005" cy="729865"/>
            <a:chOff x="0" y="0"/>
            <a:chExt cx="380592" cy="923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0592" cy="92371"/>
            </a:xfrm>
            <a:custGeom>
              <a:avLst/>
              <a:gdLst/>
              <a:ahLst/>
              <a:cxnLst/>
              <a:rect r="r" b="b" t="t" l="l"/>
              <a:pathLst>
                <a:path h="92371" w="380592">
                  <a:moveTo>
                    <a:pt x="380592" y="46186"/>
                  </a:moveTo>
                  <a:lnTo>
                    <a:pt x="380592" y="46186"/>
                  </a:lnTo>
                  <a:cubicBezTo>
                    <a:pt x="380592" y="58435"/>
                    <a:pt x="375726" y="70182"/>
                    <a:pt x="367065" y="78844"/>
                  </a:cubicBezTo>
                  <a:cubicBezTo>
                    <a:pt x="358403" y="87505"/>
                    <a:pt x="346656" y="92371"/>
                    <a:pt x="334407" y="92371"/>
                  </a:cubicBezTo>
                  <a:lnTo>
                    <a:pt x="46186" y="92371"/>
                  </a:lnTo>
                  <a:cubicBezTo>
                    <a:pt x="33936" y="92371"/>
                    <a:pt x="22189" y="87505"/>
                    <a:pt x="13527" y="78844"/>
                  </a:cubicBezTo>
                  <a:cubicBezTo>
                    <a:pt x="4866" y="70182"/>
                    <a:pt x="0" y="58435"/>
                    <a:pt x="0" y="46186"/>
                  </a:cubicBezTo>
                  <a:lnTo>
                    <a:pt x="0" y="46186"/>
                  </a:lnTo>
                  <a:cubicBezTo>
                    <a:pt x="0" y="33936"/>
                    <a:pt x="4866" y="22189"/>
                    <a:pt x="13527" y="13527"/>
                  </a:cubicBezTo>
                  <a:cubicBezTo>
                    <a:pt x="22189" y="4866"/>
                    <a:pt x="33936" y="0"/>
                    <a:pt x="46186" y="0"/>
                  </a:cubicBezTo>
                  <a:lnTo>
                    <a:pt x="334407" y="0"/>
                  </a:lnTo>
                  <a:cubicBezTo>
                    <a:pt x="346656" y="0"/>
                    <a:pt x="358403" y="4866"/>
                    <a:pt x="367065" y="13527"/>
                  </a:cubicBezTo>
                  <a:cubicBezTo>
                    <a:pt x="375726" y="22189"/>
                    <a:pt x="380592" y="33936"/>
                    <a:pt x="380592" y="46186"/>
                  </a:cubicBezTo>
                  <a:close/>
                </a:path>
              </a:pathLst>
            </a:custGeom>
            <a:ln w="57150" cap="sq">
              <a:solidFill>
                <a:srgbClr val="EC9B19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380592" cy="139996"/>
            </a:xfrm>
            <a:prstGeom prst="rect">
              <a:avLst/>
            </a:prstGeom>
          </p:spPr>
          <p:txBody>
            <a:bodyPr anchor="ctr" rtlCol="false" tIns="57570" lIns="57570" bIns="57570" rIns="5757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958093" y="3426927"/>
            <a:ext cx="3119525" cy="729865"/>
            <a:chOff x="0" y="0"/>
            <a:chExt cx="394965" cy="923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4965" cy="92371"/>
            </a:xfrm>
            <a:custGeom>
              <a:avLst/>
              <a:gdLst/>
              <a:ahLst/>
              <a:cxnLst/>
              <a:rect r="r" b="b" t="t" l="l"/>
              <a:pathLst>
                <a:path h="92371" w="394965">
                  <a:moveTo>
                    <a:pt x="394965" y="46186"/>
                  </a:moveTo>
                  <a:lnTo>
                    <a:pt x="394965" y="46186"/>
                  </a:lnTo>
                  <a:cubicBezTo>
                    <a:pt x="394965" y="58435"/>
                    <a:pt x="390099" y="70182"/>
                    <a:pt x="381438" y="78844"/>
                  </a:cubicBezTo>
                  <a:cubicBezTo>
                    <a:pt x="372776" y="87505"/>
                    <a:pt x="361029" y="92371"/>
                    <a:pt x="348780" y="92371"/>
                  </a:cubicBezTo>
                  <a:lnTo>
                    <a:pt x="46186" y="92371"/>
                  </a:lnTo>
                  <a:cubicBezTo>
                    <a:pt x="33936" y="92371"/>
                    <a:pt x="22189" y="87505"/>
                    <a:pt x="13527" y="78844"/>
                  </a:cubicBezTo>
                  <a:cubicBezTo>
                    <a:pt x="4866" y="70182"/>
                    <a:pt x="0" y="58435"/>
                    <a:pt x="0" y="46186"/>
                  </a:cubicBezTo>
                  <a:lnTo>
                    <a:pt x="0" y="46186"/>
                  </a:lnTo>
                  <a:cubicBezTo>
                    <a:pt x="0" y="33936"/>
                    <a:pt x="4866" y="22189"/>
                    <a:pt x="13527" y="13527"/>
                  </a:cubicBezTo>
                  <a:cubicBezTo>
                    <a:pt x="22189" y="4866"/>
                    <a:pt x="33936" y="0"/>
                    <a:pt x="46186" y="0"/>
                  </a:cubicBezTo>
                  <a:lnTo>
                    <a:pt x="348780" y="0"/>
                  </a:lnTo>
                  <a:cubicBezTo>
                    <a:pt x="361029" y="0"/>
                    <a:pt x="372776" y="4866"/>
                    <a:pt x="381438" y="13527"/>
                  </a:cubicBezTo>
                  <a:cubicBezTo>
                    <a:pt x="390099" y="22189"/>
                    <a:pt x="394965" y="33936"/>
                    <a:pt x="394965" y="46186"/>
                  </a:cubicBezTo>
                  <a:close/>
                </a:path>
              </a:pathLst>
            </a:custGeom>
            <a:ln w="57150" cap="sq">
              <a:solidFill>
                <a:srgbClr val="EC9B19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394965" cy="139996"/>
            </a:xfrm>
            <a:prstGeom prst="rect">
              <a:avLst/>
            </a:prstGeom>
          </p:spPr>
          <p:txBody>
            <a:bodyPr anchor="ctr" rtlCol="false" tIns="57570" lIns="57570" bIns="57570" rIns="5757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958093" y="4858216"/>
            <a:ext cx="3119525" cy="729865"/>
            <a:chOff x="0" y="0"/>
            <a:chExt cx="394965" cy="923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4965" cy="92371"/>
            </a:xfrm>
            <a:custGeom>
              <a:avLst/>
              <a:gdLst/>
              <a:ahLst/>
              <a:cxnLst/>
              <a:rect r="r" b="b" t="t" l="l"/>
              <a:pathLst>
                <a:path h="92371" w="394965">
                  <a:moveTo>
                    <a:pt x="394965" y="46186"/>
                  </a:moveTo>
                  <a:lnTo>
                    <a:pt x="394965" y="46186"/>
                  </a:lnTo>
                  <a:cubicBezTo>
                    <a:pt x="394965" y="58435"/>
                    <a:pt x="390099" y="70182"/>
                    <a:pt x="381438" y="78844"/>
                  </a:cubicBezTo>
                  <a:cubicBezTo>
                    <a:pt x="372776" y="87505"/>
                    <a:pt x="361029" y="92371"/>
                    <a:pt x="348780" y="92371"/>
                  </a:cubicBezTo>
                  <a:lnTo>
                    <a:pt x="46186" y="92371"/>
                  </a:lnTo>
                  <a:cubicBezTo>
                    <a:pt x="33936" y="92371"/>
                    <a:pt x="22189" y="87505"/>
                    <a:pt x="13527" y="78844"/>
                  </a:cubicBezTo>
                  <a:cubicBezTo>
                    <a:pt x="4866" y="70182"/>
                    <a:pt x="0" y="58435"/>
                    <a:pt x="0" y="46186"/>
                  </a:cubicBezTo>
                  <a:lnTo>
                    <a:pt x="0" y="46186"/>
                  </a:lnTo>
                  <a:cubicBezTo>
                    <a:pt x="0" y="33936"/>
                    <a:pt x="4866" y="22189"/>
                    <a:pt x="13527" y="13527"/>
                  </a:cubicBezTo>
                  <a:cubicBezTo>
                    <a:pt x="22189" y="4866"/>
                    <a:pt x="33936" y="0"/>
                    <a:pt x="46186" y="0"/>
                  </a:cubicBezTo>
                  <a:lnTo>
                    <a:pt x="348780" y="0"/>
                  </a:lnTo>
                  <a:cubicBezTo>
                    <a:pt x="361029" y="0"/>
                    <a:pt x="372776" y="4866"/>
                    <a:pt x="381438" y="13527"/>
                  </a:cubicBezTo>
                  <a:cubicBezTo>
                    <a:pt x="390099" y="22189"/>
                    <a:pt x="394965" y="33936"/>
                    <a:pt x="394965" y="46186"/>
                  </a:cubicBezTo>
                  <a:close/>
                </a:path>
              </a:pathLst>
            </a:custGeom>
            <a:ln w="57150" cap="sq">
              <a:solidFill>
                <a:srgbClr val="EC9B19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394965" cy="139996"/>
            </a:xfrm>
            <a:prstGeom prst="rect">
              <a:avLst/>
            </a:prstGeom>
          </p:spPr>
          <p:txBody>
            <a:bodyPr anchor="ctr" rtlCol="false" tIns="57570" lIns="57570" bIns="57570" rIns="5757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958093" y="6387510"/>
            <a:ext cx="3119525" cy="729865"/>
            <a:chOff x="0" y="0"/>
            <a:chExt cx="394965" cy="923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4965" cy="92371"/>
            </a:xfrm>
            <a:custGeom>
              <a:avLst/>
              <a:gdLst/>
              <a:ahLst/>
              <a:cxnLst/>
              <a:rect r="r" b="b" t="t" l="l"/>
              <a:pathLst>
                <a:path h="92371" w="394965">
                  <a:moveTo>
                    <a:pt x="394965" y="46186"/>
                  </a:moveTo>
                  <a:lnTo>
                    <a:pt x="394965" y="46186"/>
                  </a:lnTo>
                  <a:cubicBezTo>
                    <a:pt x="394965" y="58435"/>
                    <a:pt x="390099" y="70182"/>
                    <a:pt x="381438" y="78844"/>
                  </a:cubicBezTo>
                  <a:cubicBezTo>
                    <a:pt x="372776" y="87505"/>
                    <a:pt x="361029" y="92371"/>
                    <a:pt x="348780" y="92371"/>
                  </a:cubicBezTo>
                  <a:lnTo>
                    <a:pt x="46186" y="92371"/>
                  </a:lnTo>
                  <a:cubicBezTo>
                    <a:pt x="33936" y="92371"/>
                    <a:pt x="22189" y="87505"/>
                    <a:pt x="13527" y="78844"/>
                  </a:cubicBezTo>
                  <a:cubicBezTo>
                    <a:pt x="4866" y="70182"/>
                    <a:pt x="0" y="58435"/>
                    <a:pt x="0" y="46186"/>
                  </a:cubicBezTo>
                  <a:lnTo>
                    <a:pt x="0" y="46186"/>
                  </a:lnTo>
                  <a:cubicBezTo>
                    <a:pt x="0" y="33936"/>
                    <a:pt x="4866" y="22189"/>
                    <a:pt x="13527" y="13527"/>
                  </a:cubicBezTo>
                  <a:cubicBezTo>
                    <a:pt x="22189" y="4866"/>
                    <a:pt x="33936" y="0"/>
                    <a:pt x="46186" y="0"/>
                  </a:cubicBezTo>
                  <a:lnTo>
                    <a:pt x="348780" y="0"/>
                  </a:lnTo>
                  <a:cubicBezTo>
                    <a:pt x="361029" y="0"/>
                    <a:pt x="372776" y="4866"/>
                    <a:pt x="381438" y="13527"/>
                  </a:cubicBezTo>
                  <a:cubicBezTo>
                    <a:pt x="390099" y="22189"/>
                    <a:pt x="394965" y="33936"/>
                    <a:pt x="394965" y="46186"/>
                  </a:cubicBezTo>
                  <a:close/>
                </a:path>
              </a:pathLst>
            </a:custGeom>
            <a:ln w="57150" cap="sq">
              <a:solidFill>
                <a:srgbClr val="EC9B19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394965" cy="139996"/>
            </a:xfrm>
            <a:prstGeom prst="rect">
              <a:avLst/>
            </a:prstGeom>
          </p:spPr>
          <p:txBody>
            <a:bodyPr anchor="ctr" rtlCol="false" tIns="57570" lIns="57570" bIns="57570" rIns="5757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28700" y="8753602"/>
            <a:ext cx="13489155" cy="61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1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EFECTOS DE LOS LLMs:</a:t>
            </a:r>
          </a:p>
          <a:p>
            <a:pPr algn="l">
              <a:lnSpc>
                <a:spcPts val="2457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LLMInit es el segundo mejor, lo que indica que agregar semántica de LLMs efectivamente mejora los SRS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28700" y="824717"/>
            <a:ext cx="8115300" cy="98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7500" b="true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RESULTADOS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8700" y="1665518"/>
            <a:ext cx="15157289" cy="53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spc="-24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LLMINIT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28700" y="7578331"/>
            <a:ext cx="12883378" cy="61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1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COMPARACIÓN GENERAL:</a:t>
            </a:r>
          </a:p>
          <a:p>
            <a:pPr algn="l">
              <a:lnSpc>
                <a:spcPts val="2457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LLM-ESR lidera el rendimiento general de ambas métricas, lo que indica mejores efectos de mejora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8700" y="8231251"/>
            <a:ext cx="8433832" cy="31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100">
                <a:solidFill>
                  <a:srgbClr val="C22829"/>
                </a:solidFill>
                <a:latin typeface="Inter"/>
                <a:ea typeface="Inter"/>
                <a:cs typeface="Inter"/>
                <a:sym typeface="Inter"/>
              </a:rPr>
              <a:t>LLM-ESR mejor en un 12,3% en comparación a SASRec en general 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846" y="662792"/>
            <a:ext cx="2426113" cy="722776"/>
            <a:chOff x="0" y="0"/>
            <a:chExt cx="3234818" cy="96370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481851" y="326340"/>
              <a:ext cx="2752967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EVALUACIÓN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77682" y="77682"/>
              <a:ext cx="808337" cy="808337"/>
            </a:xfrm>
            <a:custGeom>
              <a:avLst/>
              <a:gdLst/>
              <a:ahLst/>
              <a:cxnLst/>
              <a:rect r="r" b="b" t="t" l="l"/>
              <a:pathLst>
                <a:path h="808337" w="808337">
                  <a:moveTo>
                    <a:pt x="0" y="0"/>
                  </a:moveTo>
                  <a:lnTo>
                    <a:pt x="808337" y="0"/>
                  </a:lnTo>
                  <a:lnTo>
                    <a:pt x="808337" y="808337"/>
                  </a:lnTo>
                  <a:lnTo>
                    <a:pt x="0" y="808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5311" y="2418543"/>
            <a:ext cx="5258362" cy="4246725"/>
            <a:chOff x="0" y="0"/>
            <a:chExt cx="7011150" cy="5662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28065" cy="5662300"/>
            </a:xfrm>
            <a:custGeom>
              <a:avLst/>
              <a:gdLst/>
              <a:ahLst/>
              <a:cxnLst/>
              <a:rect r="r" b="b" t="t" l="l"/>
              <a:pathLst>
                <a:path h="5662300" w="5128065">
                  <a:moveTo>
                    <a:pt x="0" y="0"/>
                  </a:moveTo>
                  <a:lnTo>
                    <a:pt x="5128065" y="0"/>
                  </a:lnTo>
                  <a:lnTo>
                    <a:pt x="5128065" y="5662300"/>
                  </a:lnTo>
                  <a:lnTo>
                    <a:pt x="0" y="566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094" r="-164103" b="-157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916478" y="0"/>
              <a:ext cx="4094672" cy="5595492"/>
            </a:xfrm>
            <a:custGeom>
              <a:avLst/>
              <a:gdLst/>
              <a:ahLst/>
              <a:cxnLst/>
              <a:rect r="r" b="b" t="t" l="l"/>
              <a:pathLst>
                <a:path h="5595492" w="4094672">
                  <a:moveTo>
                    <a:pt x="0" y="0"/>
                  </a:moveTo>
                  <a:lnTo>
                    <a:pt x="4094672" y="0"/>
                  </a:lnTo>
                  <a:lnTo>
                    <a:pt x="4094672" y="5595492"/>
                  </a:lnTo>
                  <a:lnTo>
                    <a:pt x="0" y="559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0506" t="-1954" r="-109214" b="-119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650099" y="2418543"/>
            <a:ext cx="3122291" cy="4246725"/>
            <a:chOff x="0" y="0"/>
            <a:chExt cx="416863" cy="5667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6863" cy="566759"/>
            </a:xfrm>
            <a:custGeom>
              <a:avLst/>
              <a:gdLst/>
              <a:ahLst/>
              <a:cxnLst/>
              <a:rect r="r" b="b" t="t" l="l"/>
              <a:pathLst>
                <a:path h="566759" w="416863">
                  <a:moveTo>
                    <a:pt x="416863" y="49591"/>
                  </a:moveTo>
                  <a:lnTo>
                    <a:pt x="416863" y="517168"/>
                  </a:lnTo>
                  <a:cubicBezTo>
                    <a:pt x="416863" y="530320"/>
                    <a:pt x="411638" y="542934"/>
                    <a:pt x="402338" y="552234"/>
                  </a:cubicBezTo>
                  <a:cubicBezTo>
                    <a:pt x="393038" y="561534"/>
                    <a:pt x="380424" y="566759"/>
                    <a:pt x="367272" y="566759"/>
                  </a:cubicBezTo>
                  <a:lnTo>
                    <a:pt x="49591" y="566759"/>
                  </a:lnTo>
                  <a:cubicBezTo>
                    <a:pt x="36439" y="566759"/>
                    <a:pt x="23825" y="561534"/>
                    <a:pt x="14525" y="552234"/>
                  </a:cubicBezTo>
                  <a:cubicBezTo>
                    <a:pt x="5225" y="542934"/>
                    <a:pt x="0" y="530320"/>
                    <a:pt x="0" y="517168"/>
                  </a:cubicBezTo>
                  <a:lnTo>
                    <a:pt x="0" y="49591"/>
                  </a:lnTo>
                  <a:cubicBezTo>
                    <a:pt x="0" y="36439"/>
                    <a:pt x="5225" y="23825"/>
                    <a:pt x="14525" y="14525"/>
                  </a:cubicBezTo>
                  <a:cubicBezTo>
                    <a:pt x="23825" y="5225"/>
                    <a:pt x="36439" y="0"/>
                    <a:pt x="49591" y="0"/>
                  </a:cubicBezTo>
                  <a:lnTo>
                    <a:pt x="367272" y="0"/>
                  </a:lnTo>
                  <a:cubicBezTo>
                    <a:pt x="380424" y="0"/>
                    <a:pt x="393038" y="5225"/>
                    <a:pt x="402338" y="14525"/>
                  </a:cubicBezTo>
                  <a:cubicBezTo>
                    <a:pt x="411638" y="23825"/>
                    <a:pt x="416863" y="36439"/>
                    <a:pt x="416863" y="49591"/>
                  </a:cubicBezTo>
                  <a:close/>
                </a:path>
              </a:pathLst>
            </a:custGeom>
            <a:ln w="57150" cap="sq">
              <a:solidFill>
                <a:srgbClr val="EC9B19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16863" cy="614384"/>
            </a:xfrm>
            <a:prstGeom prst="rect">
              <a:avLst/>
            </a:prstGeom>
          </p:spPr>
          <p:txBody>
            <a:bodyPr anchor="ctr" rtlCol="false" tIns="57570" lIns="57570" bIns="57570" rIns="5757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67690" y="2391076"/>
            <a:ext cx="5693523" cy="4274191"/>
            <a:chOff x="0" y="0"/>
            <a:chExt cx="7591363" cy="56989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65540"/>
              <a:ext cx="5432746" cy="5633381"/>
            </a:xfrm>
            <a:custGeom>
              <a:avLst/>
              <a:gdLst/>
              <a:ahLst/>
              <a:cxnLst/>
              <a:rect r="r" b="b" t="t" l="l"/>
              <a:pathLst>
                <a:path h="5633381" w="5432746">
                  <a:moveTo>
                    <a:pt x="0" y="0"/>
                  </a:moveTo>
                  <a:lnTo>
                    <a:pt x="5432746" y="0"/>
                  </a:lnTo>
                  <a:lnTo>
                    <a:pt x="5432746" y="5633381"/>
                  </a:lnTo>
                  <a:lnTo>
                    <a:pt x="0" y="5633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01" t="-99052" r="-169193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916170" y="0"/>
              <a:ext cx="4675194" cy="5698921"/>
            </a:xfrm>
            <a:custGeom>
              <a:avLst/>
              <a:gdLst/>
              <a:ahLst/>
              <a:cxnLst/>
              <a:rect r="r" b="b" t="t" l="l"/>
              <a:pathLst>
                <a:path h="5698921" w="4675194">
                  <a:moveTo>
                    <a:pt x="0" y="0"/>
                  </a:moveTo>
                  <a:lnTo>
                    <a:pt x="4675193" y="0"/>
                  </a:lnTo>
                  <a:lnTo>
                    <a:pt x="4675193" y="5698921"/>
                  </a:lnTo>
                  <a:lnTo>
                    <a:pt x="0" y="5698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1742" t="-96762" r="-102924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455228" y="2391076"/>
            <a:ext cx="5624107" cy="4274191"/>
            <a:chOff x="0" y="0"/>
            <a:chExt cx="7498809" cy="56989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45066" cy="5698921"/>
            </a:xfrm>
            <a:custGeom>
              <a:avLst/>
              <a:gdLst/>
              <a:ahLst/>
              <a:cxnLst/>
              <a:rect r="r" b="b" t="t" l="l"/>
              <a:pathLst>
                <a:path h="5698921" w="5145066">
                  <a:moveTo>
                    <a:pt x="0" y="0"/>
                  </a:moveTo>
                  <a:lnTo>
                    <a:pt x="5145066" y="0"/>
                  </a:lnTo>
                  <a:lnTo>
                    <a:pt x="5145066" y="5698921"/>
                  </a:lnTo>
                  <a:lnTo>
                    <a:pt x="0" y="5698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570" t="-3468" r="-188498" b="-99998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791324" y="0"/>
              <a:ext cx="4707485" cy="5593616"/>
            </a:xfrm>
            <a:custGeom>
              <a:avLst/>
              <a:gdLst/>
              <a:ahLst/>
              <a:cxnLst/>
              <a:rect r="r" b="b" t="t" l="l"/>
              <a:pathLst>
                <a:path h="5593616" w="4707485">
                  <a:moveTo>
                    <a:pt x="0" y="0"/>
                  </a:moveTo>
                  <a:lnTo>
                    <a:pt x="4707485" y="0"/>
                  </a:lnTo>
                  <a:lnTo>
                    <a:pt x="4707485" y="5593616"/>
                  </a:lnTo>
                  <a:lnTo>
                    <a:pt x="0" y="5593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6952" t="-3533" r="-106473" b="-103763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517855" y="2391076"/>
            <a:ext cx="3561479" cy="4274191"/>
            <a:chOff x="0" y="0"/>
            <a:chExt cx="475500" cy="570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5500" cy="570425"/>
            </a:xfrm>
            <a:custGeom>
              <a:avLst/>
              <a:gdLst/>
              <a:ahLst/>
              <a:cxnLst/>
              <a:rect r="r" b="b" t="t" l="l"/>
              <a:pathLst>
                <a:path h="570425" w="475500">
                  <a:moveTo>
                    <a:pt x="475500" y="43476"/>
                  </a:moveTo>
                  <a:lnTo>
                    <a:pt x="475500" y="526949"/>
                  </a:lnTo>
                  <a:cubicBezTo>
                    <a:pt x="475500" y="538479"/>
                    <a:pt x="470920" y="549538"/>
                    <a:pt x="462766" y="557691"/>
                  </a:cubicBezTo>
                  <a:cubicBezTo>
                    <a:pt x="454613" y="565844"/>
                    <a:pt x="443555" y="570425"/>
                    <a:pt x="432024" y="570425"/>
                  </a:cubicBezTo>
                  <a:lnTo>
                    <a:pt x="43476" y="570425"/>
                  </a:lnTo>
                  <a:cubicBezTo>
                    <a:pt x="19465" y="570425"/>
                    <a:pt x="0" y="550960"/>
                    <a:pt x="0" y="526949"/>
                  </a:cubicBezTo>
                  <a:lnTo>
                    <a:pt x="0" y="43476"/>
                  </a:lnTo>
                  <a:cubicBezTo>
                    <a:pt x="0" y="31945"/>
                    <a:pt x="4580" y="20887"/>
                    <a:pt x="12734" y="12734"/>
                  </a:cubicBezTo>
                  <a:cubicBezTo>
                    <a:pt x="20887" y="4580"/>
                    <a:pt x="31945" y="0"/>
                    <a:pt x="43476" y="0"/>
                  </a:cubicBezTo>
                  <a:lnTo>
                    <a:pt x="432024" y="0"/>
                  </a:lnTo>
                  <a:cubicBezTo>
                    <a:pt x="456035" y="0"/>
                    <a:pt x="475500" y="19465"/>
                    <a:pt x="475500" y="43476"/>
                  </a:cubicBezTo>
                  <a:close/>
                </a:path>
              </a:pathLst>
            </a:custGeom>
            <a:ln w="57150" cap="sq">
              <a:solidFill>
                <a:srgbClr val="EC9B19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75500" cy="618050"/>
            </a:xfrm>
            <a:prstGeom prst="rect">
              <a:avLst/>
            </a:prstGeom>
          </p:spPr>
          <p:txBody>
            <a:bodyPr anchor="ctr" rtlCol="false" tIns="57570" lIns="57570" bIns="57570" rIns="5757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501572" y="2418543"/>
            <a:ext cx="3459640" cy="4246725"/>
            <a:chOff x="0" y="0"/>
            <a:chExt cx="1222798" cy="15003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22798" cy="1500383"/>
            </a:xfrm>
            <a:custGeom>
              <a:avLst/>
              <a:gdLst/>
              <a:ahLst/>
              <a:cxnLst/>
              <a:rect r="r" b="b" t="t" l="l"/>
              <a:pathLst>
                <a:path h="1500383" w="1222798">
                  <a:moveTo>
                    <a:pt x="1222798" y="44756"/>
                  </a:moveTo>
                  <a:lnTo>
                    <a:pt x="1222798" y="1455627"/>
                  </a:lnTo>
                  <a:cubicBezTo>
                    <a:pt x="1222798" y="1467497"/>
                    <a:pt x="1218083" y="1478881"/>
                    <a:pt x="1209689" y="1487274"/>
                  </a:cubicBezTo>
                  <a:cubicBezTo>
                    <a:pt x="1201296" y="1495667"/>
                    <a:pt x="1189912" y="1500383"/>
                    <a:pt x="1178042" y="1500383"/>
                  </a:cubicBezTo>
                  <a:lnTo>
                    <a:pt x="44756" y="1500383"/>
                  </a:lnTo>
                  <a:cubicBezTo>
                    <a:pt x="32886" y="1500383"/>
                    <a:pt x="21502" y="1495667"/>
                    <a:pt x="13109" y="1487274"/>
                  </a:cubicBezTo>
                  <a:cubicBezTo>
                    <a:pt x="4715" y="1478881"/>
                    <a:pt x="0" y="1467497"/>
                    <a:pt x="0" y="1455627"/>
                  </a:cubicBezTo>
                  <a:lnTo>
                    <a:pt x="0" y="44756"/>
                  </a:lnTo>
                  <a:cubicBezTo>
                    <a:pt x="0" y="32886"/>
                    <a:pt x="4715" y="21502"/>
                    <a:pt x="13109" y="13109"/>
                  </a:cubicBezTo>
                  <a:cubicBezTo>
                    <a:pt x="21502" y="4715"/>
                    <a:pt x="32886" y="0"/>
                    <a:pt x="44756" y="0"/>
                  </a:cubicBezTo>
                  <a:lnTo>
                    <a:pt x="1178042" y="0"/>
                  </a:lnTo>
                  <a:cubicBezTo>
                    <a:pt x="1189912" y="0"/>
                    <a:pt x="1201296" y="4715"/>
                    <a:pt x="1209689" y="13109"/>
                  </a:cubicBezTo>
                  <a:cubicBezTo>
                    <a:pt x="1218083" y="21502"/>
                    <a:pt x="1222798" y="32886"/>
                    <a:pt x="1222798" y="44756"/>
                  </a:cubicBezTo>
                  <a:close/>
                </a:path>
              </a:pathLst>
            </a:custGeom>
            <a:ln w="57150" cap="sq">
              <a:solidFill>
                <a:srgbClr val="EC9B19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222798" cy="1548008"/>
            </a:xfrm>
            <a:prstGeom prst="rect">
              <a:avLst/>
            </a:prstGeom>
          </p:spPr>
          <p:txBody>
            <a:bodyPr anchor="ctr" rtlCol="false" tIns="57570" lIns="57570" bIns="57570" rIns="5757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28700" y="7099805"/>
            <a:ext cx="13489155" cy="922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1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LONG-TAIL ITEM:</a:t>
            </a:r>
          </a:p>
          <a:p>
            <a:pPr algn="l">
              <a:lnSpc>
                <a:spcPts val="2457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LLM-ESR logra el mejor resultado tanto en ítems de cola como en ítems populares, lo que destaca el valor de combinar señales semánticas (ayuda a ítems de cola) y colaborativas (ayuda a ítems populares)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824717"/>
            <a:ext cx="8115300" cy="98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7500" b="true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RESULTADOS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1665518"/>
            <a:ext cx="15157289" cy="53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spc="-24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CABEZA Y COLA ÍTEMS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8084764"/>
            <a:ext cx="8671873" cy="31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100">
                <a:solidFill>
                  <a:srgbClr val="C22829"/>
                </a:solidFill>
                <a:latin typeface="Inter"/>
                <a:ea typeface="Inter"/>
                <a:cs typeface="Inter"/>
                <a:sym typeface="Inter"/>
              </a:rPr>
              <a:t>LLM-ESR mejor en un 65,8% en comparación a SASRec en Tail Item 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846" y="662792"/>
            <a:ext cx="2426113" cy="722776"/>
            <a:chOff x="0" y="0"/>
            <a:chExt cx="3234818" cy="96370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481851" y="326340"/>
              <a:ext cx="2752967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EVALUACIÓN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77682" y="77682"/>
              <a:ext cx="808337" cy="808337"/>
            </a:xfrm>
            <a:custGeom>
              <a:avLst/>
              <a:gdLst/>
              <a:ahLst/>
              <a:cxnLst/>
              <a:rect r="r" b="b" t="t" l="l"/>
              <a:pathLst>
                <a:path h="808337" w="808337">
                  <a:moveTo>
                    <a:pt x="0" y="0"/>
                  </a:moveTo>
                  <a:lnTo>
                    <a:pt x="808337" y="0"/>
                  </a:lnTo>
                  <a:lnTo>
                    <a:pt x="808337" y="808337"/>
                  </a:lnTo>
                  <a:lnTo>
                    <a:pt x="0" y="808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5311" y="2418543"/>
            <a:ext cx="5258362" cy="4246725"/>
            <a:chOff x="0" y="0"/>
            <a:chExt cx="7011150" cy="5662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28065" cy="5662300"/>
            </a:xfrm>
            <a:custGeom>
              <a:avLst/>
              <a:gdLst/>
              <a:ahLst/>
              <a:cxnLst/>
              <a:rect r="r" b="b" t="t" l="l"/>
              <a:pathLst>
                <a:path h="5662300" w="5128065">
                  <a:moveTo>
                    <a:pt x="0" y="0"/>
                  </a:moveTo>
                  <a:lnTo>
                    <a:pt x="5128065" y="0"/>
                  </a:lnTo>
                  <a:lnTo>
                    <a:pt x="5128065" y="5662300"/>
                  </a:lnTo>
                  <a:lnTo>
                    <a:pt x="0" y="566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094" r="-164103" b="-157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916478" y="33404"/>
              <a:ext cx="4094672" cy="5595492"/>
            </a:xfrm>
            <a:custGeom>
              <a:avLst/>
              <a:gdLst/>
              <a:ahLst/>
              <a:cxnLst/>
              <a:rect r="r" b="b" t="t" l="l"/>
              <a:pathLst>
                <a:path h="5595492" w="4094672">
                  <a:moveTo>
                    <a:pt x="0" y="0"/>
                  </a:moveTo>
                  <a:lnTo>
                    <a:pt x="4094672" y="0"/>
                  </a:lnTo>
                  <a:lnTo>
                    <a:pt x="4094672" y="5595492"/>
                  </a:lnTo>
                  <a:lnTo>
                    <a:pt x="0" y="559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9483" t="-2276" r="-10237" b="-87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650099" y="2418543"/>
            <a:ext cx="3122291" cy="4246725"/>
            <a:chOff x="0" y="0"/>
            <a:chExt cx="416863" cy="5667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6863" cy="566759"/>
            </a:xfrm>
            <a:custGeom>
              <a:avLst/>
              <a:gdLst/>
              <a:ahLst/>
              <a:cxnLst/>
              <a:rect r="r" b="b" t="t" l="l"/>
              <a:pathLst>
                <a:path h="566759" w="416863">
                  <a:moveTo>
                    <a:pt x="416863" y="49591"/>
                  </a:moveTo>
                  <a:lnTo>
                    <a:pt x="416863" y="517168"/>
                  </a:lnTo>
                  <a:cubicBezTo>
                    <a:pt x="416863" y="530320"/>
                    <a:pt x="411638" y="542934"/>
                    <a:pt x="402338" y="552234"/>
                  </a:cubicBezTo>
                  <a:cubicBezTo>
                    <a:pt x="393038" y="561534"/>
                    <a:pt x="380424" y="566759"/>
                    <a:pt x="367272" y="566759"/>
                  </a:cubicBezTo>
                  <a:lnTo>
                    <a:pt x="49591" y="566759"/>
                  </a:lnTo>
                  <a:cubicBezTo>
                    <a:pt x="36439" y="566759"/>
                    <a:pt x="23825" y="561534"/>
                    <a:pt x="14525" y="552234"/>
                  </a:cubicBezTo>
                  <a:cubicBezTo>
                    <a:pt x="5225" y="542934"/>
                    <a:pt x="0" y="530320"/>
                    <a:pt x="0" y="517168"/>
                  </a:cubicBezTo>
                  <a:lnTo>
                    <a:pt x="0" y="49591"/>
                  </a:lnTo>
                  <a:cubicBezTo>
                    <a:pt x="0" y="36439"/>
                    <a:pt x="5225" y="23825"/>
                    <a:pt x="14525" y="14525"/>
                  </a:cubicBezTo>
                  <a:cubicBezTo>
                    <a:pt x="23825" y="5225"/>
                    <a:pt x="36439" y="0"/>
                    <a:pt x="49591" y="0"/>
                  </a:cubicBezTo>
                  <a:lnTo>
                    <a:pt x="367272" y="0"/>
                  </a:lnTo>
                  <a:cubicBezTo>
                    <a:pt x="380424" y="0"/>
                    <a:pt x="393038" y="5225"/>
                    <a:pt x="402338" y="14525"/>
                  </a:cubicBezTo>
                  <a:cubicBezTo>
                    <a:pt x="411638" y="23825"/>
                    <a:pt x="416863" y="36439"/>
                    <a:pt x="416863" y="49591"/>
                  </a:cubicBezTo>
                  <a:close/>
                </a:path>
              </a:pathLst>
            </a:custGeom>
            <a:ln w="57150" cap="sq">
              <a:solidFill>
                <a:srgbClr val="EC9B19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16863" cy="614384"/>
            </a:xfrm>
            <a:prstGeom prst="rect">
              <a:avLst/>
            </a:prstGeom>
          </p:spPr>
          <p:txBody>
            <a:bodyPr anchor="ctr" rtlCol="false" tIns="57570" lIns="57570" bIns="57570" rIns="5757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267690" y="2440232"/>
            <a:ext cx="4074559" cy="4225036"/>
          </a:xfrm>
          <a:custGeom>
            <a:avLst/>
            <a:gdLst/>
            <a:ahLst/>
            <a:cxnLst/>
            <a:rect r="r" b="b" t="t" l="l"/>
            <a:pathLst>
              <a:path h="4225036" w="4074559">
                <a:moveTo>
                  <a:pt x="0" y="0"/>
                </a:moveTo>
                <a:lnTo>
                  <a:pt x="4074559" y="0"/>
                </a:lnTo>
                <a:lnTo>
                  <a:pt x="4074559" y="4225035"/>
                </a:lnTo>
                <a:lnTo>
                  <a:pt x="0" y="42250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01" t="-99052" r="-169193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454817" y="2391076"/>
            <a:ext cx="3506395" cy="4274191"/>
          </a:xfrm>
          <a:custGeom>
            <a:avLst/>
            <a:gdLst/>
            <a:ahLst/>
            <a:cxnLst/>
            <a:rect r="r" b="b" t="t" l="l"/>
            <a:pathLst>
              <a:path h="4274191" w="3506395">
                <a:moveTo>
                  <a:pt x="0" y="0"/>
                </a:moveTo>
                <a:lnTo>
                  <a:pt x="3506395" y="0"/>
                </a:lnTo>
                <a:lnTo>
                  <a:pt x="3506395" y="4274191"/>
                </a:lnTo>
                <a:lnTo>
                  <a:pt x="0" y="42741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17307" t="-96762" r="-7359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2456512" y="2418543"/>
            <a:ext cx="5624107" cy="4274191"/>
            <a:chOff x="0" y="0"/>
            <a:chExt cx="7498809" cy="56989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45066" cy="5698921"/>
            </a:xfrm>
            <a:custGeom>
              <a:avLst/>
              <a:gdLst/>
              <a:ahLst/>
              <a:cxnLst/>
              <a:rect r="r" b="b" t="t" l="l"/>
              <a:pathLst>
                <a:path h="5698921" w="5145066">
                  <a:moveTo>
                    <a:pt x="0" y="0"/>
                  </a:moveTo>
                  <a:lnTo>
                    <a:pt x="5145066" y="0"/>
                  </a:lnTo>
                  <a:lnTo>
                    <a:pt x="5145066" y="5698921"/>
                  </a:lnTo>
                  <a:lnTo>
                    <a:pt x="0" y="5698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570" t="-3468" r="-188498" b="-99998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791324" y="52653"/>
              <a:ext cx="4707485" cy="5593616"/>
            </a:xfrm>
            <a:custGeom>
              <a:avLst/>
              <a:gdLst/>
              <a:ahLst/>
              <a:cxnLst/>
              <a:rect r="r" b="b" t="t" l="l"/>
              <a:pathLst>
                <a:path h="5593616" w="4707485">
                  <a:moveTo>
                    <a:pt x="0" y="0"/>
                  </a:moveTo>
                  <a:lnTo>
                    <a:pt x="4707485" y="0"/>
                  </a:lnTo>
                  <a:lnTo>
                    <a:pt x="4707485" y="5593616"/>
                  </a:lnTo>
                  <a:lnTo>
                    <a:pt x="0" y="5593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25492" t="-4406" r="-7932" b="-10289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517855" y="2440232"/>
            <a:ext cx="3543407" cy="4252502"/>
            <a:chOff x="0" y="0"/>
            <a:chExt cx="475500" cy="5704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75500" cy="570425"/>
            </a:xfrm>
            <a:custGeom>
              <a:avLst/>
              <a:gdLst/>
              <a:ahLst/>
              <a:cxnLst/>
              <a:rect r="r" b="b" t="t" l="l"/>
              <a:pathLst>
                <a:path h="570425" w="475500">
                  <a:moveTo>
                    <a:pt x="475500" y="43698"/>
                  </a:moveTo>
                  <a:lnTo>
                    <a:pt x="475500" y="526727"/>
                  </a:lnTo>
                  <a:cubicBezTo>
                    <a:pt x="475500" y="550861"/>
                    <a:pt x="455936" y="570425"/>
                    <a:pt x="431803" y="570425"/>
                  </a:cubicBezTo>
                  <a:lnTo>
                    <a:pt x="43698" y="570425"/>
                  </a:lnTo>
                  <a:cubicBezTo>
                    <a:pt x="19564" y="570425"/>
                    <a:pt x="0" y="550861"/>
                    <a:pt x="0" y="526727"/>
                  </a:cubicBezTo>
                  <a:lnTo>
                    <a:pt x="0" y="43698"/>
                  </a:lnTo>
                  <a:cubicBezTo>
                    <a:pt x="0" y="19564"/>
                    <a:pt x="19564" y="0"/>
                    <a:pt x="43698" y="0"/>
                  </a:cubicBezTo>
                  <a:lnTo>
                    <a:pt x="431803" y="0"/>
                  </a:lnTo>
                  <a:cubicBezTo>
                    <a:pt x="455936" y="0"/>
                    <a:pt x="475500" y="19564"/>
                    <a:pt x="475500" y="43698"/>
                  </a:cubicBezTo>
                  <a:close/>
                </a:path>
              </a:pathLst>
            </a:custGeom>
            <a:ln w="57150" cap="sq">
              <a:solidFill>
                <a:srgbClr val="EC9B19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75500" cy="618050"/>
            </a:xfrm>
            <a:prstGeom prst="rect">
              <a:avLst/>
            </a:prstGeom>
          </p:spPr>
          <p:txBody>
            <a:bodyPr anchor="ctr" rtlCol="false" tIns="57570" lIns="57570" bIns="57570" rIns="5757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501572" y="2418543"/>
            <a:ext cx="3459640" cy="4246725"/>
            <a:chOff x="0" y="0"/>
            <a:chExt cx="1222798" cy="15003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22798" cy="1500383"/>
            </a:xfrm>
            <a:custGeom>
              <a:avLst/>
              <a:gdLst/>
              <a:ahLst/>
              <a:cxnLst/>
              <a:rect r="r" b="b" t="t" l="l"/>
              <a:pathLst>
                <a:path h="1500383" w="1222798">
                  <a:moveTo>
                    <a:pt x="1222798" y="44756"/>
                  </a:moveTo>
                  <a:lnTo>
                    <a:pt x="1222798" y="1455627"/>
                  </a:lnTo>
                  <a:cubicBezTo>
                    <a:pt x="1222798" y="1467497"/>
                    <a:pt x="1218083" y="1478881"/>
                    <a:pt x="1209689" y="1487274"/>
                  </a:cubicBezTo>
                  <a:cubicBezTo>
                    <a:pt x="1201296" y="1495667"/>
                    <a:pt x="1189912" y="1500383"/>
                    <a:pt x="1178042" y="1500383"/>
                  </a:cubicBezTo>
                  <a:lnTo>
                    <a:pt x="44756" y="1500383"/>
                  </a:lnTo>
                  <a:cubicBezTo>
                    <a:pt x="32886" y="1500383"/>
                    <a:pt x="21502" y="1495667"/>
                    <a:pt x="13109" y="1487274"/>
                  </a:cubicBezTo>
                  <a:cubicBezTo>
                    <a:pt x="4715" y="1478881"/>
                    <a:pt x="0" y="1467497"/>
                    <a:pt x="0" y="1455627"/>
                  </a:cubicBezTo>
                  <a:lnTo>
                    <a:pt x="0" y="44756"/>
                  </a:lnTo>
                  <a:cubicBezTo>
                    <a:pt x="0" y="32886"/>
                    <a:pt x="4715" y="21502"/>
                    <a:pt x="13109" y="13109"/>
                  </a:cubicBezTo>
                  <a:cubicBezTo>
                    <a:pt x="21502" y="4715"/>
                    <a:pt x="32886" y="0"/>
                    <a:pt x="44756" y="0"/>
                  </a:cubicBezTo>
                  <a:lnTo>
                    <a:pt x="1178042" y="0"/>
                  </a:lnTo>
                  <a:cubicBezTo>
                    <a:pt x="1189912" y="0"/>
                    <a:pt x="1201296" y="4715"/>
                    <a:pt x="1209689" y="13109"/>
                  </a:cubicBezTo>
                  <a:cubicBezTo>
                    <a:pt x="1218083" y="21502"/>
                    <a:pt x="1222798" y="32886"/>
                    <a:pt x="1222798" y="44756"/>
                  </a:cubicBezTo>
                  <a:close/>
                </a:path>
              </a:pathLst>
            </a:custGeom>
            <a:ln w="57150" cap="sq">
              <a:solidFill>
                <a:srgbClr val="EC9B19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222798" cy="1548008"/>
            </a:xfrm>
            <a:prstGeom prst="rect">
              <a:avLst/>
            </a:prstGeom>
          </p:spPr>
          <p:txBody>
            <a:bodyPr anchor="ctr" rtlCol="false" tIns="57570" lIns="57570" bIns="57570" rIns="5757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28700" y="7118116"/>
            <a:ext cx="13489155" cy="922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1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LONG-TAIL ITEM:</a:t>
            </a:r>
          </a:p>
          <a:p>
            <a:pPr algn="l">
              <a:lnSpc>
                <a:spcPts val="2457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LLM-ESR logra el mejor resultado tanto en ítems de cola como en ítems populares, lo que destaca el valor de combinar señales semánticas (ayuda a ítems de cola) y colaborativas (ayuda a ítems populares)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824717"/>
            <a:ext cx="8115300" cy="98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7500" b="true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RESULTADOS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1665518"/>
            <a:ext cx="15157289" cy="53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spc="-24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CABEZA Y COLA USUARIOS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8650117"/>
            <a:ext cx="13489155" cy="922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1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LONG-TAIL USUARIOS:</a:t>
            </a:r>
          </a:p>
          <a:p>
            <a:pPr algn="l">
              <a:lnSpc>
                <a:spcPts val="2457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LLM-ESR puede mejorar el grupo de usuarios de cola mejor que los demás modelos, porque utiliza explícitamente los LLMs desde el lado del usuario.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8103075"/>
            <a:ext cx="8671873" cy="31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100">
                <a:solidFill>
                  <a:srgbClr val="C22829"/>
                </a:solidFill>
                <a:latin typeface="Inter"/>
                <a:ea typeface="Inter"/>
                <a:cs typeface="Inter"/>
                <a:sym typeface="Inter"/>
              </a:rPr>
              <a:t>LLM-ESR mejor en un 65,8% en comparación a SASRec en Tail Item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9639193"/>
            <a:ext cx="8671873" cy="31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100">
                <a:solidFill>
                  <a:srgbClr val="C22829"/>
                </a:solidFill>
                <a:latin typeface="Inter"/>
                <a:ea typeface="Inter"/>
                <a:cs typeface="Inter"/>
                <a:sym typeface="Inter"/>
              </a:rPr>
              <a:t>LLM-ESR mejor en un 13,4% en comparación a SASRec en Tail User 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846" y="662792"/>
            <a:ext cx="2426113" cy="722776"/>
            <a:chOff x="0" y="0"/>
            <a:chExt cx="3234818" cy="96370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481851" y="326340"/>
              <a:ext cx="2752967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EVALUACIÓN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77682" y="77682"/>
              <a:ext cx="808337" cy="808337"/>
            </a:xfrm>
            <a:custGeom>
              <a:avLst/>
              <a:gdLst/>
              <a:ahLst/>
              <a:cxnLst/>
              <a:rect r="r" b="b" t="t" l="l"/>
              <a:pathLst>
                <a:path h="808337" w="808337">
                  <a:moveTo>
                    <a:pt x="0" y="0"/>
                  </a:moveTo>
                  <a:lnTo>
                    <a:pt x="808337" y="0"/>
                  </a:lnTo>
                  <a:lnTo>
                    <a:pt x="808337" y="808337"/>
                  </a:lnTo>
                  <a:lnTo>
                    <a:pt x="0" y="808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824717"/>
            <a:ext cx="8115300" cy="98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7500" b="true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RESULTADOS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665518"/>
            <a:ext cx="15157289" cy="53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spc="-24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ESTUDIO DE ABLACIÓN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605953"/>
            <a:ext cx="16230600" cy="61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 estudio de ablación consiste en quitar componentes del sistema uno a uno para verificar que cada componente realmente contribuye.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3819367"/>
            <a:ext cx="15297055" cy="2648265"/>
            <a:chOff x="0" y="0"/>
            <a:chExt cx="20396074" cy="35310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576526" y="0"/>
              <a:ext cx="15819548" cy="3531020"/>
            </a:xfrm>
            <a:custGeom>
              <a:avLst/>
              <a:gdLst/>
              <a:ahLst/>
              <a:cxnLst/>
              <a:rect r="r" b="b" t="t" l="l"/>
              <a:pathLst>
                <a:path h="3531020" w="15819548">
                  <a:moveTo>
                    <a:pt x="0" y="0"/>
                  </a:moveTo>
                  <a:lnTo>
                    <a:pt x="15819548" y="0"/>
                  </a:lnTo>
                  <a:lnTo>
                    <a:pt x="15819548" y="3531020"/>
                  </a:lnTo>
                  <a:lnTo>
                    <a:pt x="0" y="35310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493" t="-8607" r="-5828" b="-3769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68462" y="1567932"/>
              <a:ext cx="4945904" cy="3908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73"/>
                </a:lnSpc>
              </a:pPr>
              <a:r>
                <a:rPr lang="en-US" sz="1943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Sin vista colaborativa → 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68462" y="1921158"/>
              <a:ext cx="4945904" cy="3908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73"/>
                </a:lnSpc>
              </a:pPr>
              <a:r>
                <a:rPr lang="en-US" sz="1943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Sin vista semántica → 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3022499"/>
              <a:ext cx="5114367" cy="3908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73"/>
                </a:lnSpc>
              </a:pPr>
              <a:r>
                <a:rPr lang="en-US" sz="1943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Sin cross-attention →  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68462" y="2295215"/>
              <a:ext cx="4945904" cy="3908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73"/>
                </a:lnSpc>
              </a:pPr>
              <a:r>
                <a:rPr lang="en-US" sz="1943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Sin self-distillation →  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12472590" y="1517047"/>
              <a:ext cx="2562308" cy="474702"/>
              <a:chOff x="0" y="0"/>
              <a:chExt cx="1196634" cy="22160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96634" cy="221603"/>
              </a:xfrm>
              <a:custGeom>
                <a:avLst/>
                <a:gdLst/>
                <a:ahLst/>
                <a:cxnLst/>
                <a:rect r="r" b="b" t="t" l="l"/>
                <a:pathLst>
                  <a:path h="221603" w="1196634">
                    <a:moveTo>
                      <a:pt x="1196634" y="82318"/>
                    </a:moveTo>
                    <a:lnTo>
                      <a:pt x="1196634" y="139285"/>
                    </a:lnTo>
                    <a:cubicBezTo>
                      <a:pt x="1196634" y="161117"/>
                      <a:pt x="1187961" y="182055"/>
                      <a:pt x="1172523" y="197492"/>
                    </a:cubicBezTo>
                    <a:cubicBezTo>
                      <a:pt x="1157086" y="212930"/>
                      <a:pt x="1136148" y="221603"/>
                      <a:pt x="1114316" y="221603"/>
                    </a:cubicBezTo>
                    <a:lnTo>
                      <a:pt x="82318" y="221603"/>
                    </a:lnTo>
                    <a:cubicBezTo>
                      <a:pt x="60486" y="221603"/>
                      <a:pt x="39548" y="212930"/>
                      <a:pt x="24110" y="197492"/>
                    </a:cubicBezTo>
                    <a:cubicBezTo>
                      <a:pt x="8673" y="182055"/>
                      <a:pt x="0" y="161117"/>
                      <a:pt x="0" y="139285"/>
                    </a:cubicBezTo>
                    <a:lnTo>
                      <a:pt x="0" y="82318"/>
                    </a:lnTo>
                    <a:cubicBezTo>
                      <a:pt x="0" y="60486"/>
                      <a:pt x="8673" y="39548"/>
                      <a:pt x="24110" y="24110"/>
                    </a:cubicBezTo>
                    <a:cubicBezTo>
                      <a:pt x="39548" y="8673"/>
                      <a:pt x="60486" y="0"/>
                      <a:pt x="82318" y="0"/>
                    </a:cubicBezTo>
                    <a:lnTo>
                      <a:pt x="1114316" y="0"/>
                    </a:lnTo>
                    <a:cubicBezTo>
                      <a:pt x="1159779" y="0"/>
                      <a:pt x="1196634" y="36855"/>
                      <a:pt x="1196634" y="82318"/>
                    </a:cubicBezTo>
                    <a:close/>
                  </a:path>
                </a:pathLst>
              </a:custGeom>
              <a:solidFill>
                <a:srgbClr val="EC9B19">
                  <a:alpha val="25882"/>
                </a:srgbClr>
              </a:solidFill>
              <a:ln w="57150" cap="sq">
                <a:solidFill>
                  <a:srgbClr val="EC9B19">
                    <a:alpha val="25882"/>
                  </a:srgbClr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1196634" cy="269228"/>
              </a:xfrm>
              <a:prstGeom prst="rect">
                <a:avLst/>
              </a:prstGeom>
            </p:spPr>
            <p:txBody>
              <a:bodyPr anchor="ctr" rtlCol="false" tIns="56350" lIns="56350" bIns="56350" rIns="5635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868392" y="1883901"/>
              <a:ext cx="2526329" cy="474702"/>
              <a:chOff x="0" y="0"/>
              <a:chExt cx="1179831" cy="22160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79831" cy="221603"/>
              </a:xfrm>
              <a:custGeom>
                <a:avLst/>
                <a:gdLst/>
                <a:ahLst/>
                <a:cxnLst/>
                <a:rect r="r" b="b" t="t" l="l"/>
                <a:pathLst>
                  <a:path h="221603" w="1179831">
                    <a:moveTo>
                      <a:pt x="1179831" y="83490"/>
                    </a:moveTo>
                    <a:lnTo>
                      <a:pt x="1179831" y="138113"/>
                    </a:lnTo>
                    <a:cubicBezTo>
                      <a:pt x="1179831" y="184223"/>
                      <a:pt x="1142451" y="221603"/>
                      <a:pt x="1096341" y="221603"/>
                    </a:cubicBezTo>
                    <a:lnTo>
                      <a:pt x="83490" y="221603"/>
                    </a:lnTo>
                    <a:cubicBezTo>
                      <a:pt x="37380" y="221603"/>
                      <a:pt x="0" y="184223"/>
                      <a:pt x="0" y="138113"/>
                    </a:cubicBezTo>
                    <a:lnTo>
                      <a:pt x="0" y="83490"/>
                    </a:lnTo>
                    <a:cubicBezTo>
                      <a:pt x="0" y="37380"/>
                      <a:pt x="37380" y="0"/>
                      <a:pt x="83490" y="0"/>
                    </a:cubicBezTo>
                    <a:lnTo>
                      <a:pt x="1096341" y="0"/>
                    </a:lnTo>
                    <a:cubicBezTo>
                      <a:pt x="1142451" y="0"/>
                      <a:pt x="1179831" y="37380"/>
                      <a:pt x="1179831" y="83490"/>
                    </a:cubicBezTo>
                    <a:close/>
                  </a:path>
                </a:pathLst>
              </a:custGeom>
              <a:solidFill>
                <a:srgbClr val="EC9B19">
                  <a:alpha val="25882"/>
                </a:srgbClr>
              </a:solidFill>
              <a:ln w="57150" cap="sq">
                <a:solidFill>
                  <a:srgbClr val="EC9B19">
                    <a:alpha val="25882"/>
                  </a:srgbClr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1179831" cy="269228"/>
              </a:xfrm>
              <a:prstGeom prst="rect">
                <a:avLst/>
              </a:prstGeom>
            </p:spPr>
            <p:txBody>
              <a:bodyPr anchor="ctr" rtlCol="false" tIns="56350" lIns="56350" bIns="56350" rIns="5635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7262712" y="2927109"/>
              <a:ext cx="2526329" cy="474702"/>
              <a:chOff x="0" y="0"/>
              <a:chExt cx="1179831" cy="221603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179831" cy="221603"/>
              </a:xfrm>
              <a:custGeom>
                <a:avLst/>
                <a:gdLst/>
                <a:ahLst/>
                <a:cxnLst/>
                <a:rect r="r" b="b" t="t" l="l"/>
                <a:pathLst>
                  <a:path h="221603" w="1179831">
                    <a:moveTo>
                      <a:pt x="1179831" y="83490"/>
                    </a:moveTo>
                    <a:lnTo>
                      <a:pt x="1179831" y="138113"/>
                    </a:lnTo>
                    <a:cubicBezTo>
                      <a:pt x="1179831" y="184223"/>
                      <a:pt x="1142451" y="221603"/>
                      <a:pt x="1096341" y="221603"/>
                    </a:cubicBezTo>
                    <a:lnTo>
                      <a:pt x="83490" y="221603"/>
                    </a:lnTo>
                    <a:cubicBezTo>
                      <a:pt x="37380" y="221603"/>
                      <a:pt x="0" y="184223"/>
                      <a:pt x="0" y="138113"/>
                    </a:cubicBezTo>
                    <a:lnTo>
                      <a:pt x="0" y="83490"/>
                    </a:lnTo>
                    <a:cubicBezTo>
                      <a:pt x="0" y="37380"/>
                      <a:pt x="37380" y="0"/>
                      <a:pt x="83490" y="0"/>
                    </a:cubicBezTo>
                    <a:lnTo>
                      <a:pt x="1096341" y="0"/>
                    </a:lnTo>
                    <a:cubicBezTo>
                      <a:pt x="1142451" y="0"/>
                      <a:pt x="1179831" y="37380"/>
                      <a:pt x="1179831" y="83490"/>
                    </a:cubicBezTo>
                    <a:close/>
                  </a:path>
                </a:pathLst>
              </a:custGeom>
              <a:solidFill>
                <a:srgbClr val="EC9B19">
                  <a:alpha val="25882"/>
                </a:srgbClr>
              </a:solidFill>
              <a:ln w="57150" cap="sq">
                <a:solidFill>
                  <a:srgbClr val="EC9B19">
                    <a:alpha val="25882"/>
                  </a:srgbClr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1179831" cy="269228"/>
              </a:xfrm>
              <a:prstGeom prst="rect">
                <a:avLst/>
              </a:prstGeom>
            </p:spPr>
            <p:txBody>
              <a:bodyPr anchor="ctr" rtlCol="false" tIns="56350" lIns="56350" bIns="56350" rIns="5635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5034898" y="2237700"/>
              <a:ext cx="2526329" cy="474702"/>
              <a:chOff x="0" y="0"/>
              <a:chExt cx="1179831" cy="22160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179831" cy="221603"/>
              </a:xfrm>
              <a:custGeom>
                <a:avLst/>
                <a:gdLst/>
                <a:ahLst/>
                <a:cxnLst/>
                <a:rect r="r" b="b" t="t" l="l"/>
                <a:pathLst>
                  <a:path h="221603" w="1179831">
                    <a:moveTo>
                      <a:pt x="1179831" y="83490"/>
                    </a:moveTo>
                    <a:lnTo>
                      <a:pt x="1179831" y="138113"/>
                    </a:lnTo>
                    <a:cubicBezTo>
                      <a:pt x="1179831" y="184223"/>
                      <a:pt x="1142451" y="221603"/>
                      <a:pt x="1096341" y="221603"/>
                    </a:cubicBezTo>
                    <a:lnTo>
                      <a:pt x="83490" y="221603"/>
                    </a:lnTo>
                    <a:cubicBezTo>
                      <a:pt x="37380" y="221603"/>
                      <a:pt x="0" y="184223"/>
                      <a:pt x="0" y="138113"/>
                    </a:cubicBezTo>
                    <a:lnTo>
                      <a:pt x="0" y="83490"/>
                    </a:lnTo>
                    <a:cubicBezTo>
                      <a:pt x="0" y="37380"/>
                      <a:pt x="37380" y="0"/>
                      <a:pt x="83490" y="0"/>
                    </a:cubicBezTo>
                    <a:lnTo>
                      <a:pt x="1096341" y="0"/>
                    </a:lnTo>
                    <a:cubicBezTo>
                      <a:pt x="1142451" y="0"/>
                      <a:pt x="1179831" y="37380"/>
                      <a:pt x="1179831" y="83490"/>
                    </a:cubicBezTo>
                    <a:close/>
                  </a:path>
                </a:pathLst>
              </a:custGeom>
              <a:solidFill>
                <a:srgbClr val="EC9B19">
                  <a:alpha val="25882"/>
                </a:srgbClr>
              </a:solidFill>
              <a:ln w="57150" cap="sq">
                <a:solidFill>
                  <a:srgbClr val="EC9B19">
                    <a:alpha val="25882"/>
                  </a:srgbClr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1179831" cy="269228"/>
              </a:xfrm>
              <a:prstGeom prst="rect">
                <a:avLst/>
              </a:prstGeom>
            </p:spPr>
            <p:txBody>
              <a:bodyPr anchor="ctr" rtlCol="false" tIns="56350" lIns="56350" bIns="56350" rIns="5635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29" id="29"/>
          <p:cNvSpPr txBox="true"/>
          <p:nvPr/>
        </p:nvSpPr>
        <p:spPr>
          <a:xfrm rot="0">
            <a:off x="2417457" y="7420026"/>
            <a:ext cx="13453086" cy="1893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595" b="true">
                <a:solidFill>
                  <a:srgbClr val="3F8B4E"/>
                </a:solidFill>
                <a:latin typeface="Inter Bold"/>
                <a:ea typeface="Inter Bold"/>
                <a:cs typeface="Inter Bold"/>
                <a:sym typeface="Inter Bold"/>
              </a:rPr>
              <a:t>CONCLUSIONES:</a:t>
            </a:r>
          </a:p>
          <a:p>
            <a:pPr algn="l" marL="560469" indent="-280234" lvl="1">
              <a:lnSpc>
                <a:spcPts val="3037"/>
              </a:lnSpc>
              <a:buFont typeface="Arial"/>
              <a:buChar char="•"/>
            </a:pPr>
            <a:r>
              <a:rPr lang="en-US" sz="259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vista colaborativa es crucial para los ítems populares</a:t>
            </a:r>
          </a:p>
          <a:p>
            <a:pPr algn="l" marL="560469" indent="-280234" lvl="1">
              <a:lnSpc>
                <a:spcPts val="3037"/>
              </a:lnSpc>
              <a:buFont typeface="Arial"/>
              <a:buChar char="•"/>
            </a:pPr>
            <a:r>
              <a:rPr lang="en-US" sz="259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vista semántica sostiene el rendimiento en ítems de cola</a:t>
            </a:r>
          </a:p>
          <a:p>
            <a:pPr algn="l" marL="560469" indent="-280234" lvl="1">
              <a:lnSpc>
                <a:spcPts val="3037"/>
              </a:lnSpc>
              <a:buFont typeface="Arial"/>
              <a:buChar char="•"/>
            </a:pPr>
            <a:r>
              <a:rPr lang="en-US" sz="259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auto-destilación es la que mejora los usuarios de cola</a:t>
            </a:r>
          </a:p>
          <a:p>
            <a:pPr algn="l" marL="560469" indent="-280234" lvl="1">
              <a:lnSpc>
                <a:spcPts val="3037"/>
              </a:lnSpc>
              <a:buFont typeface="Arial"/>
              <a:buChar char="•"/>
            </a:pPr>
            <a:r>
              <a:rPr lang="en-US" sz="259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fusión a nivel de sencuencia entre las dos vistas (cross-attention) añade valor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846" y="662792"/>
            <a:ext cx="2426113" cy="722776"/>
            <a:chOff x="0" y="0"/>
            <a:chExt cx="3234818" cy="96370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481851" y="326340"/>
              <a:ext cx="2752967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EVALUACIÓN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77682" y="77682"/>
              <a:ext cx="808337" cy="808337"/>
            </a:xfrm>
            <a:custGeom>
              <a:avLst/>
              <a:gdLst/>
              <a:ahLst/>
              <a:cxnLst/>
              <a:rect r="r" b="b" t="t" l="l"/>
              <a:pathLst>
                <a:path h="808337" w="808337">
                  <a:moveTo>
                    <a:pt x="0" y="0"/>
                  </a:moveTo>
                  <a:lnTo>
                    <a:pt x="808337" y="0"/>
                  </a:lnTo>
                  <a:lnTo>
                    <a:pt x="808337" y="808337"/>
                  </a:lnTo>
                  <a:lnTo>
                    <a:pt x="0" y="808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088124" y="2603773"/>
            <a:ext cx="11404852" cy="371475"/>
            <a:chOff x="0" y="0"/>
            <a:chExt cx="15206469" cy="4953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93148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24"/>
                </a:lnSpc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GRUPOS DE USUARIOS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4918127" y="208534"/>
              <a:ext cx="984146" cy="0"/>
            </a:xfrm>
            <a:prstGeom prst="line">
              <a:avLst/>
            </a:prstGeom>
            <a:ln cap="flat" w="76200">
              <a:solidFill>
                <a:srgbClr val="331B0D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11" id="11"/>
            <p:cNvSpPr txBox="true"/>
            <p:nvPr/>
          </p:nvSpPr>
          <p:spPr>
            <a:xfrm rot="0">
              <a:off x="6434331" y="0"/>
              <a:ext cx="8772139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24"/>
                </a:lnSpc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1-4 interacciones, 5-9, 10-14, 15-19, 20+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088124" y="3280048"/>
            <a:ext cx="12111752" cy="371475"/>
            <a:chOff x="0" y="0"/>
            <a:chExt cx="16149003" cy="495300"/>
          </a:xfrm>
        </p:grpSpPr>
        <p:sp>
          <p:nvSpPr>
            <p:cNvPr name="AutoShape 13" id="13"/>
            <p:cNvSpPr/>
            <p:nvPr/>
          </p:nvSpPr>
          <p:spPr>
            <a:xfrm>
              <a:off x="4281368" y="208534"/>
              <a:ext cx="1620905" cy="0"/>
            </a:xfrm>
            <a:prstGeom prst="line">
              <a:avLst/>
            </a:prstGeom>
            <a:ln cap="flat" w="76200">
              <a:solidFill>
                <a:srgbClr val="331B0D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0"/>
              <a:ext cx="593148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24"/>
                </a:lnSpc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GRUPOS DE ÍTEMS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434331" y="0"/>
              <a:ext cx="9714672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24"/>
                </a:lnSpc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1-9 interacciones, 10-29, 30-59, 60-99, 100+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824717"/>
            <a:ext cx="8115300" cy="98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7500" b="true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RESULTADOS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1759223"/>
            <a:ext cx="15157289" cy="53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4000" spc="-24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ANÁLISIS DE GRUPOS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17457" y="8138432"/>
            <a:ext cx="13453086" cy="1893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595" b="true">
                <a:solidFill>
                  <a:srgbClr val="3F8B4E"/>
                </a:solidFill>
                <a:latin typeface="Inter Bold"/>
                <a:ea typeface="Inter Bold"/>
                <a:cs typeface="Inter Bold"/>
                <a:sym typeface="Inter Bold"/>
              </a:rPr>
              <a:t>CONCLUSIONES:</a:t>
            </a:r>
          </a:p>
          <a:p>
            <a:pPr algn="l" marL="560469" indent="-280234" lvl="1">
              <a:lnSpc>
                <a:spcPts val="3037"/>
              </a:lnSpc>
              <a:buFont typeface="Arial"/>
              <a:buChar char="•"/>
            </a:pPr>
            <a:r>
              <a:rPr lang="en-US" sz="259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Los métodos LLM mejoran todos los grupos de usuarios e ítems</a:t>
            </a:r>
          </a:p>
          <a:p>
            <a:pPr algn="l" marL="560469" indent="-280234" lvl="1">
              <a:lnSpc>
                <a:spcPts val="3037"/>
              </a:lnSpc>
              <a:buFont typeface="Arial"/>
              <a:buChar char="•"/>
            </a:pPr>
            <a:r>
              <a:rPr lang="en-US" sz="259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MELT tiene mejoras desiguales (efecto seesaw: mejora algunos grupos, pero perjudica a otros)</a:t>
            </a:r>
          </a:p>
          <a:p>
            <a:pPr algn="l" marL="560469" indent="-280234" lvl="1">
              <a:lnSpc>
                <a:spcPts val="3037"/>
              </a:lnSpc>
              <a:buFont typeface="Arial"/>
              <a:buChar char="•"/>
            </a:pPr>
            <a:r>
              <a:rPr lang="en-US" sz="259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LLM-ESR supera a LLMInit especialemente en los grupos de cola.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931467" y="3956323"/>
            <a:ext cx="9718166" cy="4009285"/>
            <a:chOff x="0" y="0"/>
            <a:chExt cx="12957555" cy="534571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957555" cy="4949730"/>
            </a:xfrm>
            <a:custGeom>
              <a:avLst/>
              <a:gdLst/>
              <a:ahLst/>
              <a:cxnLst/>
              <a:rect r="r" b="b" t="t" l="l"/>
              <a:pathLst>
                <a:path h="4949730" w="12957555">
                  <a:moveTo>
                    <a:pt x="0" y="0"/>
                  </a:moveTo>
                  <a:lnTo>
                    <a:pt x="12957555" y="0"/>
                  </a:lnTo>
                  <a:lnTo>
                    <a:pt x="12957555" y="4949730"/>
                  </a:lnTo>
                  <a:lnTo>
                    <a:pt x="0" y="4949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729" r="-4546" b="-13329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4821026"/>
              <a:ext cx="12957555" cy="524687"/>
            </a:xfrm>
            <a:custGeom>
              <a:avLst/>
              <a:gdLst/>
              <a:ahLst/>
              <a:cxnLst/>
              <a:rect r="r" b="b" t="t" l="l"/>
              <a:pathLst>
                <a:path h="524687" w="12957555">
                  <a:moveTo>
                    <a:pt x="0" y="0"/>
                  </a:moveTo>
                  <a:lnTo>
                    <a:pt x="12957555" y="0"/>
                  </a:lnTo>
                  <a:lnTo>
                    <a:pt x="12957555" y="524687"/>
                  </a:lnTo>
                  <a:lnTo>
                    <a:pt x="0" y="524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07" t="-1008155" r="-5208" b="0"/>
              </a:stretch>
            </a:blipFill>
          </p:spPr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846" y="662792"/>
            <a:ext cx="2426113" cy="722776"/>
            <a:chOff x="0" y="0"/>
            <a:chExt cx="3234818" cy="96370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481851" y="326340"/>
              <a:ext cx="2752967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EVALUACIÓN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77682" y="77682"/>
              <a:ext cx="808337" cy="808337"/>
            </a:xfrm>
            <a:custGeom>
              <a:avLst/>
              <a:gdLst/>
              <a:ahLst/>
              <a:cxnLst/>
              <a:rect r="r" b="b" t="t" l="l"/>
              <a:pathLst>
                <a:path h="808337" w="808337">
                  <a:moveTo>
                    <a:pt x="0" y="0"/>
                  </a:moveTo>
                  <a:lnTo>
                    <a:pt x="808337" y="0"/>
                  </a:lnTo>
                  <a:lnTo>
                    <a:pt x="808337" y="808337"/>
                  </a:lnTo>
                  <a:lnTo>
                    <a:pt x="0" y="808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3019689" y="4157639"/>
            <a:ext cx="3577449" cy="643067"/>
          </a:xfrm>
          <a:custGeom>
            <a:avLst/>
            <a:gdLst/>
            <a:ahLst/>
            <a:cxnLst/>
            <a:rect r="r" b="b" t="t" l="l"/>
            <a:pathLst>
              <a:path h="643067" w="3577449">
                <a:moveTo>
                  <a:pt x="0" y="0"/>
                </a:moveTo>
                <a:lnTo>
                  <a:pt x="3577449" y="0"/>
                </a:lnTo>
                <a:lnTo>
                  <a:pt x="3577449" y="643067"/>
                </a:lnTo>
                <a:lnTo>
                  <a:pt x="0" y="64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>
            <a:off x="4702629" y="4710200"/>
            <a:ext cx="787582" cy="1556394"/>
          </a:xfrm>
          <a:custGeom>
            <a:avLst/>
            <a:gdLst/>
            <a:ahLst/>
            <a:cxnLst/>
            <a:rect r="r" b="b" t="t" l="l"/>
            <a:pathLst>
              <a:path h="1556394" w="787582">
                <a:moveTo>
                  <a:pt x="787582" y="0"/>
                </a:moveTo>
                <a:lnTo>
                  <a:pt x="787582" y="159553"/>
                </a:lnTo>
                <a:cubicBezTo>
                  <a:pt x="787582" y="201869"/>
                  <a:pt x="770772" y="242452"/>
                  <a:pt x="740850" y="272374"/>
                </a:cubicBezTo>
                <a:cubicBezTo>
                  <a:pt x="710928" y="302296"/>
                  <a:pt x="670345" y="319106"/>
                  <a:pt x="628029" y="319106"/>
                </a:cubicBezTo>
                <a:lnTo>
                  <a:pt x="228600" y="319106"/>
                </a:lnTo>
                <a:cubicBezTo>
                  <a:pt x="167971" y="319106"/>
                  <a:pt x="109826" y="343191"/>
                  <a:pt x="66955" y="386061"/>
                </a:cubicBezTo>
                <a:cubicBezTo>
                  <a:pt x="24084" y="428932"/>
                  <a:pt x="0" y="487078"/>
                  <a:pt x="0" y="547706"/>
                </a:cubicBezTo>
                <a:lnTo>
                  <a:pt x="0" y="1556394"/>
                </a:lnTo>
              </a:path>
            </a:pathLst>
          </a:custGeom>
          <a:ln cap="flat" w="57150">
            <a:solidFill>
              <a:srgbClr val="331B0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5276435" y="4297804"/>
            <a:ext cx="427551" cy="383408"/>
            <a:chOff x="0" y="0"/>
            <a:chExt cx="112606" cy="1009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606" cy="100980"/>
            </a:xfrm>
            <a:custGeom>
              <a:avLst/>
              <a:gdLst/>
              <a:ahLst/>
              <a:cxnLst/>
              <a:rect r="r" b="b" t="t" l="l"/>
              <a:pathLst>
                <a:path h="100980" w="112606">
                  <a:moveTo>
                    <a:pt x="0" y="0"/>
                  </a:moveTo>
                  <a:lnTo>
                    <a:pt x="112606" y="0"/>
                  </a:lnTo>
                  <a:lnTo>
                    <a:pt x="112606" y="100980"/>
                  </a:lnTo>
                  <a:lnTo>
                    <a:pt x="0" y="100980"/>
                  </a:lnTo>
                  <a:close/>
                </a:path>
              </a:pathLst>
            </a:custGeom>
            <a:ln w="28575" cap="sq">
              <a:solidFill>
                <a:srgbClr val="331B0D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12606" cy="148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584109" y="3528860"/>
            <a:ext cx="444861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4"/>
              </a:lnSpc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Función pérdida total: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24717"/>
            <a:ext cx="8115300" cy="98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7500" b="true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LIMITACIONES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482443"/>
            <a:ext cx="11233636" cy="53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604" indent="-431802" lvl="1">
              <a:lnSpc>
                <a:spcPts val="4000"/>
              </a:lnSpc>
              <a:buAutoNum type="arabicPeriod" startAt="1"/>
            </a:pPr>
            <a:r>
              <a:rPr lang="en-US" sz="4000" spc="-24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BÚSQUEDA DE HIPERPARÁMETROS COSTOSA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49415" y="6523769"/>
            <a:ext cx="5106429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4"/>
              </a:lnSpc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controla cuánto peso se la da a la auto-destilación versus el ranking normal.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04062" y="3805085"/>
            <a:ext cx="4904039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9"/>
              </a:lnSpc>
              <a:spcBef>
                <a:spcPct val="0"/>
              </a:spcBef>
            </a:pPr>
            <a:r>
              <a:rPr lang="en-US" sz="2499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Usuarios similares - Profesor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04062" y="4327631"/>
            <a:ext cx="4904039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9"/>
              </a:lnSpc>
              <a:spcBef>
                <a:spcPct val="0"/>
              </a:spcBef>
            </a:pPr>
            <a:r>
              <a:rPr lang="en-US" sz="2499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Usuario objetivo - Estudiante</a:t>
            </a:r>
          </a:p>
        </p:txBody>
      </p:sp>
      <p:sp>
        <p:nvSpPr>
          <p:cNvPr name="Freeform 19" id="19"/>
          <p:cNvSpPr/>
          <p:nvPr/>
        </p:nvSpPr>
        <p:spPr>
          <a:xfrm>
            <a:off x="14531594" y="4082262"/>
            <a:ext cx="568553" cy="1443844"/>
          </a:xfrm>
          <a:custGeom>
            <a:avLst/>
            <a:gdLst/>
            <a:ahLst/>
            <a:cxnLst/>
            <a:rect r="r" b="b" t="t" l="l"/>
            <a:pathLst>
              <a:path h="1443844" w="568553">
                <a:moveTo>
                  <a:pt x="0" y="0"/>
                </a:moveTo>
                <a:lnTo>
                  <a:pt x="339953" y="0"/>
                </a:lnTo>
                <a:cubicBezTo>
                  <a:pt x="466205" y="0"/>
                  <a:pt x="568553" y="102348"/>
                  <a:pt x="568553" y="228600"/>
                </a:cubicBezTo>
                <a:lnTo>
                  <a:pt x="568553" y="1443844"/>
                </a:lnTo>
              </a:path>
            </a:pathLst>
          </a:custGeom>
          <a:ln cap="flat" w="57150">
            <a:solidFill>
              <a:srgbClr val="331B0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12657826" y="5730019"/>
            <a:ext cx="4904039" cy="9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¿Cuántos usuarios similares se deben recuperar?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846" y="662792"/>
            <a:ext cx="2426113" cy="722776"/>
            <a:chOff x="0" y="0"/>
            <a:chExt cx="3234818" cy="96370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481851" y="326340"/>
              <a:ext cx="2752967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EVALUACIÓN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77682" y="77682"/>
              <a:ext cx="808337" cy="808337"/>
            </a:xfrm>
            <a:custGeom>
              <a:avLst/>
              <a:gdLst/>
              <a:ahLst/>
              <a:cxnLst/>
              <a:rect r="r" b="b" t="t" l="l"/>
              <a:pathLst>
                <a:path h="808337" w="808337">
                  <a:moveTo>
                    <a:pt x="0" y="0"/>
                  </a:moveTo>
                  <a:lnTo>
                    <a:pt x="808337" y="0"/>
                  </a:lnTo>
                  <a:lnTo>
                    <a:pt x="808337" y="808337"/>
                  </a:lnTo>
                  <a:lnTo>
                    <a:pt x="0" y="808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824717"/>
            <a:ext cx="8115300" cy="98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7500" b="true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LIMITACIONES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482443"/>
            <a:ext cx="14608277" cy="53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604" indent="-431802" lvl="1">
              <a:lnSpc>
                <a:spcPts val="4000"/>
              </a:lnSpc>
              <a:buAutoNum type="arabicPeriod" startAt="1"/>
            </a:pPr>
            <a:r>
              <a:rPr lang="en-US" sz="4000" spc="-24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SOLO SE VALIDA CON UN MODELO DE EMBEDDINGS DE LLM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97587" y="3949806"/>
            <a:ext cx="4904039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9"/>
              </a:lnSpc>
              <a:spcBef>
                <a:spcPct val="0"/>
              </a:spcBef>
            </a:pPr>
            <a:r>
              <a:rPr lang="en-US" b="true" sz="2499">
                <a:solidFill>
                  <a:srgbClr val="331B0D"/>
                </a:solidFill>
                <a:latin typeface="Inter Bold"/>
                <a:ea typeface="Inter Bold"/>
                <a:cs typeface="Inter Bold"/>
                <a:sym typeface="Inter Bold"/>
              </a:rPr>
              <a:t>text-embedding-ada-002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97587" y="4327631"/>
            <a:ext cx="4904039" cy="148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9"/>
              </a:lnSpc>
              <a:spcBef>
                <a:spcPct val="0"/>
              </a:spcBef>
            </a:pPr>
            <a:r>
              <a:rPr lang="en-US" sz="2499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Modelo de OpenAI que se usó para generar todos los embeddings semánticos </a:t>
            </a:r>
          </a:p>
        </p:txBody>
      </p:sp>
      <p:sp>
        <p:nvSpPr>
          <p:cNvPr name="Freeform 12" id="12"/>
          <p:cNvSpPr/>
          <p:nvPr/>
        </p:nvSpPr>
        <p:spPr>
          <a:xfrm>
            <a:off x="7735710" y="4262544"/>
            <a:ext cx="4163280" cy="1443844"/>
          </a:xfrm>
          <a:custGeom>
            <a:avLst/>
            <a:gdLst/>
            <a:ahLst/>
            <a:cxnLst/>
            <a:rect r="r" b="b" t="t" l="l"/>
            <a:pathLst>
              <a:path h="1443844" w="4163280">
                <a:moveTo>
                  <a:pt x="0" y="0"/>
                </a:moveTo>
                <a:lnTo>
                  <a:pt x="3934680" y="0"/>
                </a:lnTo>
                <a:cubicBezTo>
                  <a:pt x="3995309" y="0"/>
                  <a:pt x="4053454" y="24084"/>
                  <a:pt x="4096324" y="66955"/>
                </a:cubicBezTo>
                <a:cubicBezTo>
                  <a:pt x="4139195" y="109826"/>
                  <a:pt x="4163280" y="167971"/>
                  <a:pt x="4163280" y="228600"/>
                </a:cubicBezTo>
                <a:lnTo>
                  <a:pt x="4163280" y="1443843"/>
                </a:lnTo>
              </a:path>
            </a:pathLst>
          </a:custGeom>
          <a:ln cap="flat" w="57150">
            <a:solidFill>
              <a:srgbClr val="331B0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3" id="13"/>
          <p:cNvSpPr txBox="true"/>
          <p:nvPr/>
        </p:nvSpPr>
        <p:spPr>
          <a:xfrm rot="0">
            <a:off x="8328204" y="5916851"/>
            <a:ext cx="7141573" cy="9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99"/>
              </a:lnSpc>
              <a:spcBef>
                <a:spcPct val="0"/>
              </a:spcBef>
            </a:pPr>
            <a:r>
              <a:rPr lang="en-US" sz="2499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Como solo utilizaron un modelo, desconocen si estas conclusiones se mantienen para otros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846" y="662792"/>
            <a:ext cx="2426113" cy="722776"/>
            <a:chOff x="0" y="0"/>
            <a:chExt cx="3234818" cy="96370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63701" cy="96370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717">
                  <a:alpha val="9804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anchor="ctr" rtlCol="false" tIns="45265" lIns="45265" bIns="45265" rIns="45265"/>
              <a:lstStyle/>
              <a:p>
                <a:pPr algn="ctr">
                  <a:lnSpc>
                    <a:spcPts val="3696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481851" y="326340"/>
              <a:ext cx="2752967" cy="339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871"/>
                </a:lnSpc>
                <a:spcBef>
                  <a:spcPct val="0"/>
                </a:spcBef>
              </a:pPr>
              <a:r>
                <a:rPr lang="en-US" b="true" sz="187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REFERENCIAS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183420" y="737823"/>
            <a:ext cx="572714" cy="572714"/>
          </a:xfrm>
          <a:custGeom>
            <a:avLst/>
            <a:gdLst/>
            <a:ahLst/>
            <a:cxnLst/>
            <a:rect r="r" b="b" t="t" l="l"/>
            <a:pathLst>
              <a:path h="572714" w="572714">
                <a:moveTo>
                  <a:pt x="0" y="0"/>
                </a:moveTo>
                <a:lnTo>
                  <a:pt x="572714" y="0"/>
                </a:lnTo>
                <a:lnTo>
                  <a:pt x="572714" y="572714"/>
                </a:lnTo>
                <a:lnTo>
                  <a:pt x="0" y="572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>
            <a:off x="12210477" y="3110773"/>
            <a:ext cx="423378" cy="0"/>
          </a:xfrm>
          <a:custGeom>
            <a:avLst/>
            <a:gdLst/>
            <a:ahLst/>
            <a:cxnLst/>
            <a:rect r="r" b="b" t="t" l="l"/>
            <a:pathLst>
              <a:path h="0" w="423378">
                <a:moveTo>
                  <a:pt x="0" y="0"/>
                </a:moveTo>
                <a:lnTo>
                  <a:pt x="423378" y="0"/>
                </a:lnTo>
              </a:path>
            </a:pathLst>
          </a:custGeom>
          <a:ln cap="flat" w="57150">
            <a:solidFill>
              <a:srgbClr val="331B0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9" id="9"/>
          <p:cNvSpPr/>
          <p:nvPr/>
        </p:nvSpPr>
        <p:spPr>
          <a:xfrm>
            <a:off x="11588262" y="4024869"/>
            <a:ext cx="1045594" cy="28575"/>
          </a:xfrm>
          <a:custGeom>
            <a:avLst/>
            <a:gdLst/>
            <a:ahLst/>
            <a:cxnLst/>
            <a:rect r="r" b="b" t="t" l="l"/>
            <a:pathLst>
              <a:path h="28575" w="1045594">
                <a:moveTo>
                  <a:pt x="0" y="28575"/>
                </a:moveTo>
                <a:lnTo>
                  <a:pt x="508509" y="28575"/>
                </a:lnTo>
                <a:cubicBezTo>
                  <a:pt x="512298" y="28575"/>
                  <a:pt x="515933" y="27070"/>
                  <a:pt x="518611" y="24390"/>
                </a:cubicBezTo>
                <a:cubicBezTo>
                  <a:pt x="521291" y="21711"/>
                  <a:pt x="522796" y="18077"/>
                  <a:pt x="522796" y="14288"/>
                </a:cubicBezTo>
                <a:lnTo>
                  <a:pt x="522796" y="14288"/>
                </a:lnTo>
                <a:cubicBezTo>
                  <a:pt x="522796" y="10498"/>
                  <a:pt x="524302" y="6864"/>
                  <a:pt x="526981" y="4185"/>
                </a:cubicBezTo>
                <a:cubicBezTo>
                  <a:pt x="529660" y="1505"/>
                  <a:pt x="533295" y="0"/>
                  <a:pt x="537084" y="0"/>
                </a:cubicBezTo>
                <a:lnTo>
                  <a:pt x="1045593" y="0"/>
                </a:lnTo>
              </a:path>
            </a:pathLst>
          </a:custGeom>
          <a:ln cap="flat" w="57150">
            <a:solidFill>
              <a:srgbClr val="331B0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0" id="10"/>
          <p:cNvSpPr/>
          <p:nvPr/>
        </p:nvSpPr>
        <p:spPr>
          <a:xfrm>
            <a:off x="12210477" y="5124054"/>
            <a:ext cx="423378" cy="0"/>
          </a:xfrm>
          <a:custGeom>
            <a:avLst/>
            <a:gdLst/>
            <a:ahLst/>
            <a:cxnLst/>
            <a:rect r="r" b="b" t="t" l="l"/>
            <a:pathLst>
              <a:path h="0" w="423378">
                <a:moveTo>
                  <a:pt x="0" y="0"/>
                </a:moveTo>
                <a:lnTo>
                  <a:pt x="423378" y="0"/>
                </a:lnTo>
              </a:path>
            </a:pathLst>
          </a:custGeom>
          <a:ln cap="flat" w="57150">
            <a:solidFill>
              <a:srgbClr val="331B0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1" id="11"/>
          <p:cNvSpPr/>
          <p:nvPr/>
        </p:nvSpPr>
        <p:spPr>
          <a:xfrm>
            <a:off x="12210477" y="6404213"/>
            <a:ext cx="423378" cy="0"/>
          </a:xfrm>
          <a:custGeom>
            <a:avLst/>
            <a:gdLst/>
            <a:ahLst/>
            <a:cxnLst/>
            <a:rect r="r" b="b" t="t" l="l"/>
            <a:pathLst>
              <a:path h="0" w="423378">
                <a:moveTo>
                  <a:pt x="0" y="0"/>
                </a:moveTo>
                <a:lnTo>
                  <a:pt x="423378" y="0"/>
                </a:lnTo>
              </a:path>
            </a:pathLst>
          </a:custGeom>
          <a:ln cap="flat" w="57150">
            <a:solidFill>
              <a:srgbClr val="331B0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2" id="12"/>
          <p:cNvSpPr/>
          <p:nvPr/>
        </p:nvSpPr>
        <p:spPr>
          <a:xfrm>
            <a:off x="12210477" y="7684372"/>
            <a:ext cx="423378" cy="0"/>
          </a:xfrm>
          <a:custGeom>
            <a:avLst/>
            <a:gdLst/>
            <a:ahLst/>
            <a:cxnLst/>
            <a:rect r="r" b="b" t="t" l="l"/>
            <a:pathLst>
              <a:path h="0" w="423378">
                <a:moveTo>
                  <a:pt x="0" y="0"/>
                </a:moveTo>
                <a:lnTo>
                  <a:pt x="423378" y="0"/>
                </a:lnTo>
              </a:path>
            </a:pathLst>
          </a:custGeom>
          <a:ln cap="flat" w="57150">
            <a:solidFill>
              <a:srgbClr val="331B0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824717"/>
            <a:ext cx="8115300" cy="98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7500" b="true">
                <a:solidFill>
                  <a:srgbClr val="331B0D"/>
                </a:solidFill>
                <a:latin typeface="TT Hoves Bold"/>
                <a:ea typeface="TT Hoves Bold"/>
                <a:cs typeface="TT Hoves Bold"/>
                <a:sym typeface="TT Hoves Bold"/>
              </a:rPr>
              <a:t>REFERENCIAS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727868"/>
            <a:ext cx="10758399" cy="6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18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A. Vaswani, N. Shazeer, N. Parmar, J. Uszkoreit, L. Jones, A. N. Gomez, Ł. Kaiser, and </a:t>
            </a:r>
            <a:r>
              <a:rPr lang="en-US" sz="18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I. Polosukhin. Attention is all you need. Advances in neural information processing systems.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641964"/>
            <a:ext cx="10758399" cy="6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B. Hidasi, A. Karatzoglou, L. Baltrunas, and D. Tikk. Session-based recommendations with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18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recurrent neural networks. </a:t>
            </a:r>
            <a:r>
              <a:rPr lang="en-US" sz="18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In The International Conference on Learning Representations, 2016.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4560174"/>
            <a:ext cx="10758399" cy="106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F. Sun, J. Liu, J. Wu, C. Pei, X. Lin, W. Ou, and P. Jiang. Bert4rec: Sequential recommendation</a:t>
            </a:r>
          </a:p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with bidirectional encoder representations from transformer. </a:t>
            </a:r>
            <a:r>
              <a:rPr lang="en-US" sz="18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In Proceedings of the 28th ACM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18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international conference on information and knowledge management, pages 1441–1450, 2019.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5840333"/>
            <a:ext cx="10758399" cy="106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K. Kim, D. Hyun, S. Yun, and C. Park. Melt: Mutual enhancement of long-tailed user and</a:t>
            </a:r>
          </a:p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item for sequential recommendation. </a:t>
            </a:r>
            <a:r>
              <a:rPr lang="en-US" sz="18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In Proceedings of the 46th international ACM SIGIR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18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conference on Research and development in information retrieval, pages 68–77, 2023.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120492"/>
            <a:ext cx="10758399" cy="106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Z. Zhao, W. Fan, J. Li, Y. Liu, X. Mei, Y. Wang, Z. Wen, F. Wang, X. Zhao, J. Tang, et al.</a:t>
            </a:r>
          </a:p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Recommender systems in the</a:t>
            </a:r>
            <a:r>
              <a:rPr lang="en-US" sz="18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 era of large language models (llms). IEEE Transactions on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18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Knowledge and Data Engineering, 2024.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04998" y="2908843"/>
            <a:ext cx="5129557" cy="33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18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Base teórica de todo lo que ocurre en el paper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04998" y="3822939"/>
            <a:ext cx="5129557" cy="33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18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Backbone GRU4Rec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04998" y="4922124"/>
            <a:ext cx="5129557" cy="33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18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Backbone Bert4Rec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04998" y="6202283"/>
            <a:ext cx="5129557" cy="33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18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Baseline de cola de ítems - Melt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04998" y="7482442"/>
            <a:ext cx="5129557" cy="33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1800">
                <a:solidFill>
                  <a:srgbClr val="331B0D"/>
                </a:solidFill>
                <a:latin typeface="Inter"/>
                <a:ea typeface="Inter"/>
                <a:cs typeface="Inter"/>
                <a:sym typeface="Inter"/>
              </a:rPr>
              <a:t>Propone la idea de usar embeddings de LLMs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4990" y="6069143"/>
            <a:ext cx="8484608" cy="1399214"/>
            <a:chOff x="0" y="0"/>
            <a:chExt cx="2234629" cy="3685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4629" cy="368517"/>
            </a:xfrm>
            <a:custGeom>
              <a:avLst/>
              <a:gdLst/>
              <a:ahLst/>
              <a:cxnLst/>
              <a:rect r="r" b="b" t="t" l="l"/>
              <a:pathLst>
                <a:path h="368517" w="2234629">
                  <a:moveTo>
                    <a:pt x="9125" y="0"/>
                  </a:moveTo>
                  <a:lnTo>
                    <a:pt x="2225504" y="0"/>
                  </a:lnTo>
                  <a:cubicBezTo>
                    <a:pt x="2230544" y="0"/>
                    <a:pt x="2234629" y="4085"/>
                    <a:pt x="2234629" y="9125"/>
                  </a:cubicBezTo>
                  <a:lnTo>
                    <a:pt x="2234629" y="359393"/>
                  </a:lnTo>
                  <a:cubicBezTo>
                    <a:pt x="2234629" y="364432"/>
                    <a:pt x="2230544" y="368517"/>
                    <a:pt x="2225504" y="368517"/>
                  </a:cubicBezTo>
                  <a:lnTo>
                    <a:pt x="9125" y="368517"/>
                  </a:lnTo>
                  <a:cubicBezTo>
                    <a:pt x="4085" y="368517"/>
                    <a:pt x="0" y="364432"/>
                    <a:pt x="0" y="359393"/>
                  </a:cubicBezTo>
                  <a:lnTo>
                    <a:pt x="0" y="9125"/>
                  </a:lnTo>
                  <a:cubicBezTo>
                    <a:pt x="0" y="4085"/>
                    <a:pt x="4085" y="0"/>
                    <a:pt x="9125" y="0"/>
                  </a:cubicBezTo>
                  <a:close/>
                </a:path>
              </a:pathLst>
            </a:custGeom>
            <a:solidFill>
              <a:srgbClr val="004717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234629" cy="482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572580" cy="57258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717">
                <a:alpha val="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2700000">
            <a:off x="14504013" y="6425313"/>
            <a:ext cx="3222004" cy="3380162"/>
          </a:xfrm>
          <a:custGeom>
            <a:avLst/>
            <a:gdLst/>
            <a:ahLst/>
            <a:cxnLst/>
            <a:rect r="r" b="b" t="t" l="l"/>
            <a:pathLst>
              <a:path h="3380162" w="3222004">
                <a:moveTo>
                  <a:pt x="0" y="0"/>
                </a:moveTo>
                <a:lnTo>
                  <a:pt x="3222004" y="0"/>
                </a:lnTo>
                <a:lnTo>
                  <a:pt x="3222004" y="3380162"/>
                </a:lnTo>
                <a:lnTo>
                  <a:pt x="0" y="3380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1753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74501" y="4408320"/>
            <a:ext cx="8625096" cy="198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44"/>
              </a:lnSpc>
            </a:pPr>
            <a:r>
              <a:rPr lang="en-US" sz="15147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LLM-ESR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41371" y="6206775"/>
            <a:ext cx="7250977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3000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L</a:t>
            </a:r>
            <a:r>
              <a:rPr lang="en-US" sz="3000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arge Language Models Enhancement for Long-tailed Sequential Recommendation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77134" y="1074519"/>
            <a:ext cx="3682166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31"/>
              </a:lnSpc>
            </a:pPr>
            <a:r>
              <a:rPr lang="en-US" b="true" sz="2100" spc="21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2100" spc="21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</a:t>
            </a:r>
            <a:r>
              <a:rPr lang="en-US" b="true" sz="2100" spc="21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MÁS CAILLAB</a:t>
            </a:r>
            <a:r>
              <a:rPr lang="en-US" b="true" sz="2100" spc="21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100" spc="21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</a:p>
          <a:p>
            <a:pPr algn="r" marL="0" indent="0" lvl="0">
              <a:lnSpc>
                <a:spcPts val="2331"/>
              </a:lnSpc>
            </a:pPr>
            <a:r>
              <a:rPr lang="en-US" b="true" sz="2100" spc="21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JOAQUÍN RIVAS</a:t>
            </a:r>
          </a:p>
          <a:p>
            <a:pPr algn="r" marL="0" indent="0" lvl="0">
              <a:lnSpc>
                <a:spcPts val="2331"/>
              </a:lnSpc>
            </a:pPr>
            <a:r>
              <a:rPr lang="en-US" b="true" sz="2100" spc="21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BLAN</a:t>
            </a:r>
            <a:r>
              <a:rPr lang="en-US" b="true" sz="2100" spc="21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2100" spc="21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100" spc="21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100" spc="21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ORTÚZAR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DAHMwC4rpQ4</dc:identifier>
  <dcterms:modified xsi:type="dcterms:W3CDTF">2011-08-01T06:04:30Z</dcterms:modified>
  <cp:revision>1</cp:revision>
  <dc:title>White Beige and Brown Simple Minimalist Clean Final Project Presentation</dc:title>
</cp:coreProperties>
</file>